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4"/>
    <p:sldId id="277" r:id="rId5"/>
    <p:sldId id="353" r:id="rId6"/>
    <p:sldId id="352" r:id="rId7"/>
    <p:sldId id="354" r:id="rId8"/>
    <p:sldId id="278" r:id="rId9"/>
    <p:sldId id="279" r:id="rId10"/>
    <p:sldId id="355" r:id="rId11"/>
    <p:sldId id="356" r:id="rId12"/>
    <p:sldId id="280" r:id="rId13"/>
    <p:sldId id="281" r:id="rId14"/>
    <p:sldId id="359" r:id="rId15"/>
    <p:sldId id="360" r:id="rId16"/>
    <p:sldId id="361" r:id="rId17"/>
    <p:sldId id="282" r:id="rId18"/>
    <p:sldId id="283" r:id="rId19"/>
    <p:sldId id="362" r:id="rId20"/>
    <p:sldId id="364" r:id="rId21"/>
    <p:sldId id="363" r:id="rId22"/>
    <p:sldId id="284" r:id="rId23"/>
    <p:sldId id="285" r:id="rId24"/>
    <p:sldId id="365" r:id="rId25"/>
    <p:sldId id="366" r:id="rId26"/>
    <p:sldId id="367" r:id="rId27"/>
    <p:sldId id="258" r:id="rId28"/>
    <p:sldId id="289" r:id="rId29"/>
    <p:sldId id="290" r:id="rId30"/>
    <p:sldId id="368" r:id="rId31"/>
    <p:sldId id="369" r:id="rId32"/>
    <p:sldId id="370" r:id="rId33"/>
    <p:sldId id="275" r:id="rId34"/>
    <p:sldId id="286" r:id="rId35"/>
    <p:sldId id="371" r:id="rId36"/>
    <p:sldId id="372" r:id="rId37"/>
    <p:sldId id="373" r:id="rId38"/>
    <p:sldId id="287" r:id="rId39"/>
    <p:sldId id="288" r:id="rId40"/>
    <p:sldId id="374" r:id="rId41"/>
    <p:sldId id="375" r:id="rId42"/>
    <p:sldId id="376" r:id="rId43"/>
    <p:sldId id="291" r:id="rId44"/>
    <p:sldId id="292" r:id="rId45"/>
    <p:sldId id="377" r:id="rId46"/>
    <p:sldId id="378" r:id="rId47"/>
    <p:sldId id="383" r:id="rId48"/>
    <p:sldId id="293" r:id="rId49"/>
    <p:sldId id="294" r:id="rId50"/>
    <p:sldId id="379" r:id="rId51"/>
    <p:sldId id="380" r:id="rId52"/>
    <p:sldId id="295" r:id="rId53"/>
    <p:sldId id="296" r:id="rId54"/>
    <p:sldId id="381" r:id="rId55"/>
    <p:sldId id="382" r:id="rId56"/>
    <p:sldId id="384" r:id="rId57"/>
    <p:sldId id="298" r:id="rId58"/>
    <p:sldId id="297" r:id="rId59"/>
    <p:sldId id="385" r:id="rId60"/>
    <p:sldId id="299" r:id="rId61"/>
    <p:sldId id="300" r:id="rId62"/>
    <p:sldId id="386" r:id="rId63"/>
    <p:sldId id="387" r:id="rId64"/>
    <p:sldId id="388" r:id="rId65"/>
    <p:sldId id="259" r:id="rId66"/>
    <p:sldId id="260" r:id="rId67"/>
    <p:sldId id="301" r:id="rId68"/>
    <p:sldId id="389" r:id="rId69"/>
    <p:sldId id="392" r:id="rId70"/>
    <p:sldId id="302" r:id="rId71"/>
    <p:sldId id="303" r:id="rId72"/>
    <p:sldId id="390" r:id="rId73"/>
    <p:sldId id="393" r:id="rId74"/>
    <p:sldId id="304" r:id="rId75"/>
    <p:sldId id="305" r:id="rId76"/>
    <p:sldId id="394" r:id="rId77"/>
    <p:sldId id="395" r:id="rId78"/>
    <p:sldId id="261" r:id="rId79"/>
    <p:sldId id="306" r:id="rId80"/>
    <p:sldId id="307" r:id="rId81"/>
    <p:sldId id="396" r:id="rId82"/>
    <p:sldId id="400" r:id="rId83"/>
    <p:sldId id="308" r:id="rId84"/>
    <p:sldId id="309" r:id="rId85"/>
    <p:sldId id="397" r:id="rId86"/>
    <p:sldId id="401" r:id="rId87"/>
    <p:sldId id="310" r:id="rId88"/>
    <p:sldId id="311" r:id="rId89"/>
    <p:sldId id="399" r:id="rId90"/>
    <p:sldId id="402" r:id="rId91"/>
    <p:sldId id="312" r:id="rId92"/>
    <p:sldId id="313" r:id="rId93"/>
    <p:sldId id="398" r:id="rId94"/>
    <p:sldId id="403" r:id="rId95"/>
    <p:sldId id="262" r:id="rId96"/>
    <p:sldId id="314" r:id="rId97"/>
    <p:sldId id="407" r:id="rId98"/>
    <p:sldId id="411" r:id="rId99"/>
    <p:sldId id="413" r:id="rId100"/>
    <p:sldId id="316" r:id="rId101"/>
    <p:sldId id="408" r:id="rId102"/>
    <p:sldId id="412" r:id="rId103"/>
    <p:sldId id="414" r:id="rId104"/>
    <p:sldId id="404" r:id="rId105"/>
    <p:sldId id="405" r:id="rId106"/>
    <p:sldId id="409" r:id="rId107"/>
    <p:sldId id="415" r:id="rId108"/>
    <p:sldId id="416" r:id="rId109"/>
    <p:sldId id="406" r:id="rId110"/>
    <p:sldId id="410" r:id="rId111"/>
    <p:sldId id="417" r:id="rId112"/>
    <p:sldId id="418" r:id="rId113"/>
    <p:sldId id="263" r:id="rId114"/>
    <p:sldId id="318" r:id="rId115"/>
    <p:sldId id="330" r:id="rId116"/>
    <p:sldId id="342" r:id="rId117"/>
    <p:sldId id="343" r:id="rId118"/>
    <p:sldId id="264" r:id="rId119"/>
    <p:sldId id="319" r:id="rId120"/>
    <p:sldId id="331" r:id="rId121"/>
    <p:sldId id="344" r:id="rId122"/>
    <p:sldId id="345" r:id="rId123"/>
    <p:sldId id="265" r:id="rId124"/>
    <p:sldId id="320" r:id="rId125"/>
    <p:sldId id="332" r:id="rId126"/>
    <p:sldId id="266" r:id="rId127"/>
    <p:sldId id="321" r:id="rId128"/>
    <p:sldId id="333" r:id="rId129"/>
    <p:sldId id="346" r:id="rId130"/>
    <p:sldId id="347" r:id="rId131"/>
    <p:sldId id="267" r:id="rId132"/>
    <p:sldId id="322" r:id="rId133"/>
    <p:sldId id="334" r:id="rId134"/>
    <p:sldId id="268" r:id="rId135"/>
    <p:sldId id="323" r:id="rId136"/>
    <p:sldId id="335" r:id="rId137"/>
    <p:sldId id="348" r:id="rId138"/>
    <p:sldId id="349" r:id="rId139"/>
    <p:sldId id="269" r:id="rId140"/>
    <p:sldId id="324" r:id="rId141"/>
    <p:sldId id="336" r:id="rId142"/>
    <p:sldId id="270" r:id="rId143"/>
    <p:sldId id="325" r:id="rId144"/>
    <p:sldId id="337" r:id="rId145"/>
    <p:sldId id="350" r:id="rId146"/>
    <p:sldId id="351" r:id="rId147"/>
    <p:sldId id="271" r:id="rId148"/>
    <p:sldId id="326" r:id="rId149"/>
    <p:sldId id="338" r:id="rId150"/>
    <p:sldId id="272" r:id="rId151"/>
    <p:sldId id="273" r:id="rId152"/>
    <p:sldId id="274" r:id="rId1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BEB"/>
    <a:srgbClr val="FFFD78"/>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1"/>
    <p:restoredTop sz="94606"/>
  </p:normalViewPr>
  <p:slideViewPr>
    <p:cSldViewPr snapToGrid="0">
      <p:cViewPr varScale="1">
        <p:scale>
          <a:sx n="119" d="100"/>
          <a:sy n="119" d="100"/>
        </p:scale>
        <p:origin x="9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67D7D-B323-AF7A-3FAC-1D1B48AAD5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60CC13-38AE-FB6E-8FF5-4DB1134AB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700C0E-D596-B0BD-7A56-03A96ED916BB}"/>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5" name="Footer Placeholder 4">
            <a:extLst>
              <a:ext uri="{FF2B5EF4-FFF2-40B4-BE49-F238E27FC236}">
                <a16:creationId xmlns:a16="http://schemas.microsoft.com/office/drawing/2014/main" id="{934FB9DB-7546-CCF1-4068-C6AC8C000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EFF57-F72C-E312-AB12-860D61D61AEA}"/>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620791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2CAD6-E315-0F04-DA05-BF1F12E898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1C74DC-E585-B175-E3E6-F22F6421DD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C416A-5FB9-7395-5DF2-272260B567D4}"/>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5" name="Footer Placeholder 4">
            <a:extLst>
              <a:ext uri="{FF2B5EF4-FFF2-40B4-BE49-F238E27FC236}">
                <a16:creationId xmlns:a16="http://schemas.microsoft.com/office/drawing/2014/main" id="{CE6E2DF6-5DAB-9F30-FFF4-A5D05684C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9B1316-C137-D921-BD97-9F156A23B0E3}"/>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2134198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43AC6-7CBF-F257-1C3F-DDFD52920F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996FA6-C3BB-7299-F85C-5099AD3535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3F4929-BE2D-E02A-3474-A02D35B262BA}"/>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5" name="Footer Placeholder 4">
            <a:extLst>
              <a:ext uri="{FF2B5EF4-FFF2-40B4-BE49-F238E27FC236}">
                <a16:creationId xmlns:a16="http://schemas.microsoft.com/office/drawing/2014/main" id="{85DA58F4-A547-CB54-A9F0-576AB8BEE0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B1824-1583-8162-DA11-B4B11C88D808}"/>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3685989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9F31-6E19-7BCC-F045-3187BBD09C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8B3AC6-99C6-B131-5F9E-26DD30C878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8966AE-2D2A-2EDF-FEA4-EB5151F4A6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A008AA-2544-C1AF-BF62-07B6BD228D73}"/>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6" name="Footer Placeholder 5">
            <a:extLst>
              <a:ext uri="{FF2B5EF4-FFF2-40B4-BE49-F238E27FC236}">
                <a16:creationId xmlns:a16="http://schemas.microsoft.com/office/drawing/2014/main" id="{745B9CC5-B5B0-7607-0A54-8326234129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BE2AD6-7361-ABD6-531D-BBC984F63275}"/>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376460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C707D-2EB7-C130-9478-0541F8B36E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F26091-C19E-6C9F-96DA-8DE5492FF3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0F5433-1DBE-54A5-FC1E-7F0082B128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D914F2-E245-E184-963F-E845B9F643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E26F75-D5D5-BF57-DFCE-BCEFCFDEC3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66A1DC-44B5-621C-147F-58EDE37F17C1}"/>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8" name="Footer Placeholder 7">
            <a:extLst>
              <a:ext uri="{FF2B5EF4-FFF2-40B4-BE49-F238E27FC236}">
                <a16:creationId xmlns:a16="http://schemas.microsoft.com/office/drawing/2014/main" id="{F23DA3F5-C618-5C3D-5BB3-3830577E1A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38BA56-1902-F757-617C-5BDFF6952797}"/>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644665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A6813-90E8-CE99-FB2F-187057F92F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1BED43-AC22-0EE2-0803-F94A170D5288}"/>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4" name="Footer Placeholder 3">
            <a:extLst>
              <a:ext uri="{FF2B5EF4-FFF2-40B4-BE49-F238E27FC236}">
                <a16:creationId xmlns:a16="http://schemas.microsoft.com/office/drawing/2014/main" id="{0B94BFC2-76E1-09CA-F221-DE39D4B479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703F44-F4A0-FB23-11BA-8CD826227DD5}"/>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2504356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E50EBD-F4BC-C3FB-975A-6FDD262F9919}"/>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3" name="Footer Placeholder 2">
            <a:extLst>
              <a:ext uri="{FF2B5EF4-FFF2-40B4-BE49-F238E27FC236}">
                <a16:creationId xmlns:a16="http://schemas.microsoft.com/office/drawing/2014/main" id="{AC3A3B75-7C1F-AD33-BA29-9D7BC11C42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5CC73B-8F0C-AF68-97E2-95A3D4E4AEB2}"/>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284929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43258-9128-92CC-6E87-15D28C656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374ABA-DD60-4B93-9548-8B35FE289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EDFD32-99A9-E057-D4D3-BD77E72BC3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6D249-3A70-685E-8227-2EB33C8C4F62}"/>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6" name="Footer Placeholder 5">
            <a:extLst>
              <a:ext uri="{FF2B5EF4-FFF2-40B4-BE49-F238E27FC236}">
                <a16:creationId xmlns:a16="http://schemas.microsoft.com/office/drawing/2014/main" id="{0E4AB829-C5E8-DED2-24A6-E7C4E859D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A0D026-59B1-219E-2DD7-2DCDE6D8B781}"/>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72741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A25CC-31C5-CEEE-9005-D2C8EA55E7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4FD51C-A79F-1888-87C9-43E3718C34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23594A-4FE4-24F2-AE25-5C78D52272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3690B-BAD1-A410-CABC-ADF0CC7AE6D0}"/>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6" name="Footer Placeholder 5">
            <a:extLst>
              <a:ext uri="{FF2B5EF4-FFF2-40B4-BE49-F238E27FC236}">
                <a16:creationId xmlns:a16="http://schemas.microsoft.com/office/drawing/2014/main" id="{94C6DC12-1EDB-1A24-F35F-631C6C2A11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2B474C-B370-FABC-70EE-87D8D0B20C60}"/>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777768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EA85-C6BC-E1AC-1D6C-3CAAD46BF3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FA19E2-2CE6-8020-5B22-9211F54C85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F9B27D-E902-6D8B-C25D-94428EB42C4C}"/>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5" name="Footer Placeholder 4">
            <a:extLst>
              <a:ext uri="{FF2B5EF4-FFF2-40B4-BE49-F238E27FC236}">
                <a16:creationId xmlns:a16="http://schemas.microsoft.com/office/drawing/2014/main" id="{C66209D3-7A9D-482A-E550-6CA8ED23C0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6A65C3-B9C0-43EF-772C-2E83EF1EAB12}"/>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321247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5C3211-1133-ECC9-AD56-2C3F94E5FF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F8F5FC-F5A3-9AA5-DC48-FC66CF6A28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B4FDA-9B7D-0903-6CCE-40B2DEFAE8BB}"/>
              </a:ext>
            </a:extLst>
          </p:cNvPr>
          <p:cNvSpPr>
            <a:spLocks noGrp="1"/>
          </p:cNvSpPr>
          <p:nvPr>
            <p:ph type="dt" sz="half" idx="10"/>
          </p:nvPr>
        </p:nvSpPr>
        <p:spPr/>
        <p:txBody>
          <a:bodyPr/>
          <a:lstStyle/>
          <a:p>
            <a:fld id="{3F10614C-E570-B440-B986-8532FC75E6E7}" type="datetimeFigureOut">
              <a:rPr lang="en-US" smtClean="0"/>
              <a:t>9/22/26</a:t>
            </a:fld>
            <a:endParaRPr lang="en-US"/>
          </a:p>
        </p:txBody>
      </p:sp>
      <p:sp>
        <p:nvSpPr>
          <p:cNvPr id="5" name="Footer Placeholder 4">
            <a:extLst>
              <a:ext uri="{FF2B5EF4-FFF2-40B4-BE49-F238E27FC236}">
                <a16:creationId xmlns:a16="http://schemas.microsoft.com/office/drawing/2014/main" id="{B846F90B-14BE-5443-92F3-F98C71DC85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989A1-37D3-E44A-F10C-46FDD510C462}"/>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729274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8FDDB9-7D01-9312-DF76-49FE5D6409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8758BB-603F-BA5A-CEFF-A27F1CD518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35994-2F77-264A-BB40-C3ADE7210D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10614C-E570-B440-B986-8532FC75E6E7}" type="datetimeFigureOut">
              <a:rPr lang="en-US" smtClean="0"/>
              <a:t>9/22/26</a:t>
            </a:fld>
            <a:endParaRPr lang="en-US"/>
          </a:p>
        </p:txBody>
      </p:sp>
      <p:sp>
        <p:nvSpPr>
          <p:cNvPr id="5" name="Footer Placeholder 4">
            <a:extLst>
              <a:ext uri="{FF2B5EF4-FFF2-40B4-BE49-F238E27FC236}">
                <a16:creationId xmlns:a16="http://schemas.microsoft.com/office/drawing/2014/main" id="{F7580363-9D1E-C89F-3443-813444C0A3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0BAD79-F348-9596-A133-8E710E7761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4F60CB-3587-3745-9641-BA4093BF587D}" type="slidenum">
              <a:rPr lang="en-US" smtClean="0"/>
              <a:t>‹#›</a:t>
            </a:fld>
            <a:endParaRPr lang="en-US"/>
          </a:p>
        </p:txBody>
      </p:sp>
    </p:spTree>
    <p:extLst>
      <p:ext uri="{BB962C8B-B14F-4D97-AF65-F5344CB8AC3E}">
        <p14:creationId xmlns:p14="http://schemas.microsoft.com/office/powerpoint/2010/main" val="2455074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9.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9.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5.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5.xml"/></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6.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7CF124-6500-4969-1F48-988B8F689079}"/>
              </a:ext>
            </a:extLst>
          </p:cNvPr>
          <p:cNvSpPr>
            <a:spLocks noGrp="1"/>
          </p:cNvSpPr>
          <p:nvPr>
            <p:ph type="title"/>
          </p:nvPr>
        </p:nvSpPr>
        <p:spPr/>
        <p:txBody>
          <a:bodyPr/>
          <a:lstStyle/>
          <a:p>
            <a:r>
              <a:rPr lang="en-US" dirty="0"/>
              <a:t>Predictive Maintenance + </a:t>
            </a:r>
            <a:r>
              <a:rPr lang="en-US" dirty="0" err="1"/>
              <a:t>MLOps</a:t>
            </a:r>
            <a:endParaRPr lang="en-US" dirty="0"/>
          </a:p>
        </p:txBody>
      </p:sp>
      <p:sp>
        <p:nvSpPr>
          <p:cNvPr id="5" name="Content Placeholder 4">
            <a:extLst>
              <a:ext uri="{FF2B5EF4-FFF2-40B4-BE49-F238E27FC236}">
                <a16:creationId xmlns:a16="http://schemas.microsoft.com/office/drawing/2014/main" id="{D953C9C2-FDBA-01EF-4FFB-4A0A7A33EF9E}"/>
              </a:ext>
            </a:extLst>
          </p:cNvPr>
          <p:cNvSpPr>
            <a:spLocks noGrp="1"/>
          </p:cNvSpPr>
          <p:nvPr>
            <p:ph idx="1"/>
          </p:nvPr>
        </p:nvSpPr>
        <p:spPr/>
        <p:txBody>
          <a:bodyPr/>
          <a:lstStyle/>
          <a:p>
            <a:r>
              <a:rPr lang="en-US" dirty="0"/>
              <a:t>Part 1: ML Foundations and Baseline System</a:t>
            </a:r>
          </a:p>
          <a:p>
            <a:r>
              <a:rPr lang="en-US" dirty="0"/>
              <a:t>Part 2: Shippable MVP</a:t>
            </a:r>
          </a:p>
          <a:p>
            <a:r>
              <a:rPr lang="en-US" dirty="0"/>
              <a:t>Part 3: Model Improvement and Production Thinking</a:t>
            </a:r>
          </a:p>
          <a:p>
            <a:r>
              <a:rPr lang="en-US" dirty="0"/>
              <a:t>Part 4: Portfolio Presentation and Final Polish</a:t>
            </a:r>
          </a:p>
        </p:txBody>
      </p:sp>
    </p:spTree>
    <p:extLst>
      <p:ext uri="{BB962C8B-B14F-4D97-AF65-F5344CB8AC3E}">
        <p14:creationId xmlns:p14="http://schemas.microsoft.com/office/powerpoint/2010/main" val="174841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182CF-7967-7958-7992-78FAE63C6436}"/>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A5979F1E-7E0A-77DE-B158-64B33EF1EC95}"/>
              </a:ext>
            </a:extLst>
          </p:cNvPr>
          <p:cNvSpPr>
            <a:spLocks noGrp="1"/>
          </p:cNvSpPr>
          <p:nvPr>
            <p:ph idx="1"/>
          </p:nvPr>
        </p:nvSpPr>
        <p:spPr/>
        <p:txBody>
          <a:bodyPr/>
          <a:lstStyle/>
          <a:p>
            <a:r>
              <a:rPr lang="en-US" dirty="0"/>
              <a:t>Phase 1.1: Project Framing and Problem Definition</a:t>
            </a:r>
          </a:p>
          <a:p>
            <a:pPr lvl="1"/>
            <a:r>
              <a:rPr lang="en-US" dirty="0"/>
              <a:t>Define the prediction problem</a:t>
            </a:r>
          </a:p>
          <a:p>
            <a:pPr lvl="1"/>
            <a:r>
              <a:rPr lang="en-US" dirty="0"/>
              <a:t>Define the prediction unit</a:t>
            </a:r>
          </a:p>
          <a:p>
            <a:pPr lvl="1"/>
            <a:r>
              <a:rPr lang="en-US" dirty="0"/>
              <a:t>Define the target</a:t>
            </a:r>
          </a:p>
          <a:p>
            <a:pPr lvl="1"/>
            <a:r>
              <a:rPr lang="en-US" dirty="0"/>
              <a:t>Define success metrics</a:t>
            </a:r>
          </a:p>
          <a:p>
            <a:pPr lvl="1"/>
            <a:r>
              <a:rPr lang="en-US" dirty="0"/>
              <a:t>Identify practical constraints and leakage risks</a:t>
            </a:r>
          </a:p>
        </p:txBody>
      </p:sp>
    </p:spTree>
    <p:extLst>
      <p:ext uri="{BB962C8B-B14F-4D97-AF65-F5344CB8AC3E}">
        <p14:creationId xmlns:p14="http://schemas.microsoft.com/office/powerpoint/2010/main" val="3061319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7E1D0-B81B-9964-625B-5DC3C4CF5EFD}"/>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390A8860-FD28-5320-90A2-92574C382F2D}"/>
              </a:ext>
            </a:extLst>
          </p:cNvPr>
          <p:cNvSpPr>
            <a:spLocks noGrp="1"/>
          </p:cNvSpPr>
          <p:nvPr>
            <p:ph idx="1"/>
          </p:nvPr>
        </p:nvSpPr>
        <p:spPr/>
        <p:txBody>
          <a:bodyPr/>
          <a:lstStyle/>
          <a:p>
            <a:pPr marL="0" indent="0">
              <a:buNone/>
            </a:pPr>
            <a:r>
              <a:rPr lang="en-US" b="1" dirty="0"/>
              <a:t>Question #1:</a:t>
            </a:r>
            <a:r>
              <a:rPr lang="en-US" dirty="0"/>
              <a:t> What problem is this project solving, and why did you frame it as remaining-useful-life regression rather than failure classification? </a:t>
            </a:r>
          </a:p>
        </p:txBody>
      </p:sp>
    </p:spTree>
    <p:extLst>
      <p:ext uri="{BB962C8B-B14F-4D97-AF65-F5344CB8AC3E}">
        <p14:creationId xmlns:p14="http://schemas.microsoft.com/office/powerpoint/2010/main" val="4253726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358E-78FF-A961-D5F7-9C879AF696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0AE3DD-D5E8-695F-6491-7BF2FD0AAF2A}"/>
              </a:ext>
            </a:extLst>
          </p:cNvPr>
          <p:cNvPicPr>
            <a:picLocks noChangeAspect="1"/>
          </p:cNvPicPr>
          <p:nvPr/>
        </p:nvPicPr>
        <p:blipFill>
          <a:blip r:embed="rId2"/>
          <a:stretch>
            <a:fillRect/>
          </a:stretch>
        </p:blipFill>
        <p:spPr>
          <a:xfrm>
            <a:off x="531628" y="925031"/>
            <a:ext cx="11030338" cy="4157331"/>
          </a:xfrm>
          <a:prstGeom prst="rect">
            <a:avLst/>
          </a:prstGeom>
        </p:spPr>
      </p:pic>
    </p:spTree>
    <p:extLst>
      <p:ext uri="{BB962C8B-B14F-4D97-AF65-F5344CB8AC3E}">
        <p14:creationId xmlns:p14="http://schemas.microsoft.com/office/powerpoint/2010/main" val="3859538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7F8404B-39CD-0433-BCD2-F274FE3D0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0A1B7-8AAB-3E8E-EE0E-6C56ED0AF4DB}"/>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A5C2C4E8-15CB-2006-9F97-A27745BB5F56}"/>
              </a:ext>
            </a:extLst>
          </p:cNvPr>
          <p:cNvSpPr>
            <a:spLocks noGrp="1"/>
          </p:cNvSpPr>
          <p:nvPr>
            <p:ph idx="1"/>
          </p:nvPr>
        </p:nvSpPr>
        <p:spPr/>
        <p:txBody>
          <a:bodyPr>
            <a:normAutofit/>
          </a:bodyPr>
          <a:lstStyle/>
          <a:p>
            <a:pPr marL="0" indent="0">
              <a:buNone/>
            </a:pPr>
            <a:r>
              <a:rPr lang="en-US" sz="2400" b="1" dirty="0"/>
              <a:t>Answer #1:</a:t>
            </a:r>
            <a:r>
              <a:rPr lang="en-US" sz="2400" dirty="0"/>
              <a:t> This project is solving the problem of predicting RUL given an engine’s current cycle and historical sensor data. I chose to frame it as predicting RUL instead of failure classification because the goal could be described as “time remaining until failure.” Time is a continuous rather than discreet variable, so this problem lends itself to regression rather than classification. Framing this as a regression problem allows for precise predictions about how far away failure is, rather than just saying “healthy” or “kind of healthy” or “close to failure.” It’s worth noting that classification could still be useful in this situation, such as discerning that there are less than 30 cycles until failure and classifying an engine as “in need of preventative maintenance.” </a:t>
            </a:r>
          </a:p>
        </p:txBody>
      </p:sp>
    </p:spTree>
    <p:extLst>
      <p:ext uri="{BB962C8B-B14F-4D97-AF65-F5344CB8AC3E}">
        <p14:creationId xmlns:p14="http://schemas.microsoft.com/office/powerpoint/2010/main" val="283036840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B467C7F-A7C8-604C-4ED5-FD731C235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49469-1532-EFB2-1C54-9F1523088B46}"/>
              </a:ext>
            </a:extLst>
          </p:cNvPr>
          <p:cNvSpPr>
            <a:spLocks noGrp="1"/>
          </p:cNvSpPr>
          <p:nvPr>
            <p:ph type="title"/>
          </p:nvPr>
        </p:nvSpPr>
        <p:spPr/>
        <p:txBody>
          <a:bodyPr>
            <a:normAutofit/>
          </a:bodyPr>
          <a:lstStyle/>
          <a:p>
            <a:r>
              <a:rPr lang="en-US" sz="2800" dirty="0"/>
              <a:t>What problem is this project solving, and why did you frame it as remaining-useful-life regression rather than failure classification?</a:t>
            </a:r>
          </a:p>
        </p:txBody>
      </p:sp>
      <p:sp>
        <p:nvSpPr>
          <p:cNvPr id="3" name="Content Placeholder 2">
            <a:extLst>
              <a:ext uri="{FF2B5EF4-FFF2-40B4-BE49-F238E27FC236}">
                <a16:creationId xmlns:a16="http://schemas.microsoft.com/office/drawing/2014/main" id="{6EBAB54E-4E6F-5F6F-8CAF-8D6AF3691D40}"/>
              </a:ext>
            </a:extLst>
          </p:cNvPr>
          <p:cNvSpPr>
            <a:spLocks noGrp="1"/>
          </p:cNvSpPr>
          <p:nvPr>
            <p:ph idx="1"/>
          </p:nvPr>
        </p:nvSpPr>
        <p:spPr/>
        <p:txBody>
          <a:bodyPr>
            <a:normAutofit/>
          </a:bodyPr>
          <a:lstStyle/>
          <a:p>
            <a:pPr marL="0" indent="0">
              <a:buNone/>
            </a:pPr>
            <a:r>
              <a:rPr lang="en-US" sz="1800" dirty="0"/>
              <a:t>This project predicts an engine’s remaining useful life from its current cycle and available sensor history. The purpose is to support predictive maintenance by estimating how much operating life remains before failure, which can help avoid both unexpected breakdowns and unnecessarily early maintenance. </a:t>
            </a:r>
          </a:p>
          <a:p>
            <a:pPr marL="0" indent="0">
              <a:buNone/>
            </a:pPr>
            <a:endParaRPr lang="en-US" sz="1800" dirty="0"/>
          </a:p>
          <a:p>
            <a:pPr marL="0" indent="0">
              <a:buNone/>
            </a:pPr>
            <a:r>
              <a:rPr lang="en-US" sz="1800" dirty="0"/>
              <a:t>I formulated it as a regression problem because RUL is a numeric, ordered quantity. Although the C-MAPPS target is measured in whole cycles, the distance between predictions matters: predicting 10 remaining cycles is meaningfully different from predicting 80. Regression preserves that information and provide a more granular estimate than assigning the engine to broad categories such as healthy, warning, or critical. </a:t>
            </a:r>
          </a:p>
          <a:p>
            <a:pPr marL="0" indent="0">
              <a:buNone/>
            </a:pPr>
            <a:endParaRPr lang="en-US" sz="1800" dirty="0"/>
          </a:p>
          <a:p>
            <a:pPr marL="0" indent="0">
              <a:buNone/>
            </a:pPr>
            <a:r>
              <a:rPr lang="en-US" sz="1800" dirty="0"/>
              <a:t>Classification could still be useful as a downstream decision layer. For example, the predicted RUL could be converted into a maintenance alert when it falls below 30 cycles. But regression gives the system more flexibility because different users can apply different maintenance thresholds to the same prediction. </a:t>
            </a:r>
          </a:p>
        </p:txBody>
      </p:sp>
    </p:spTree>
    <p:extLst>
      <p:ext uri="{BB962C8B-B14F-4D97-AF65-F5344CB8AC3E}">
        <p14:creationId xmlns:p14="http://schemas.microsoft.com/office/powerpoint/2010/main" val="903357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839CF08-9803-9049-42D3-5B51C9ED6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D0BBF-96F3-B3C8-7576-0D63F1FD14F2}"/>
              </a:ext>
            </a:extLst>
          </p:cNvPr>
          <p:cNvSpPr>
            <a:spLocks noGrp="1"/>
          </p:cNvSpPr>
          <p:nvPr>
            <p:ph type="title"/>
          </p:nvPr>
        </p:nvSpPr>
        <p:spPr/>
        <p:txBody>
          <a:bodyPr>
            <a:noAutofit/>
          </a:bodyPr>
          <a:lstStyle/>
          <a:p>
            <a:r>
              <a:rPr lang="en-US" sz="2800" dirty="0"/>
              <a:t>What problem is this project solving, and why did you frame it as remaining-useful-life regression rather than failure classification?</a:t>
            </a:r>
          </a:p>
        </p:txBody>
      </p:sp>
      <p:pic>
        <p:nvPicPr>
          <p:cNvPr id="4" name="Picture 3">
            <a:extLst>
              <a:ext uri="{FF2B5EF4-FFF2-40B4-BE49-F238E27FC236}">
                <a16:creationId xmlns:a16="http://schemas.microsoft.com/office/drawing/2014/main" id="{6F493F2A-1ED5-A5FB-E163-7189E831D8BE}"/>
              </a:ext>
            </a:extLst>
          </p:cNvPr>
          <p:cNvPicPr>
            <a:picLocks noChangeAspect="1"/>
          </p:cNvPicPr>
          <p:nvPr/>
        </p:nvPicPr>
        <p:blipFill>
          <a:blip r:embed="rId2"/>
          <a:stretch>
            <a:fillRect/>
          </a:stretch>
        </p:blipFill>
        <p:spPr>
          <a:xfrm>
            <a:off x="2201825" y="2109677"/>
            <a:ext cx="7086600" cy="2362200"/>
          </a:xfrm>
          <a:prstGeom prst="rect">
            <a:avLst/>
          </a:prstGeom>
        </p:spPr>
      </p:pic>
    </p:spTree>
    <p:extLst>
      <p:ext uri="{BB962C8B-B14F-4D97-AF65-F5344CB8AC3E}">
        <p14:creationId xmlns:p14="http://schemas.microsoft.com/office/powerpoint/2010/main" val="846682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C9097-CB39-E358-98C6-8DE441F91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C03F6-2172-EB9D-1A8F-9FC24D47A876}"/>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BE9ED61F-EF68-827F-CB33-04AC54F0CE71}"/>
              </a:ext>
            </a:extLst>
          </p:cNvPr>
          <p:cNvSpPr>
            <a:spLocks noGrp="1"/>
          </p:cNvSpPr>
          <p:nvPr>
            <p:ph idx="1"/>
          </p:nvPr>
        </p:nvSpPr>
        <p:spPr/>
        <p:txBody>
          <a:bodyPr/>
          <a:lstStyle/>
          <a:p>
            <a:pPr marL="0" indent="0">
              <a:buNone/>
            </a:pPr>
            <a:r>
              <a:rPr lang="en-US" b="1" dirty="0"/>
              <a:t>Question #2: </a:t>
            </a:r>
            <a:r>
              <a:rPr lang="en-US" dirty="0"/>
              <a:t>What does one row in the training data represent, and what information should the model be allowed to use when making a prediction? </a:t>
            </a:r>
          </a:p>
        </p:txBody>
      </p:sp>
    </p:spTree>
    <p:extLst>
      <p:ext uri="{BB962C8B-B14F-4D97-AF65-F5344CB8AC3E}">
        <p14:creationId xmlns:p14="http://schemas.microsoft.com/office/powerpoint/2010/main" val="588922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B90F1-E0F3-9847-D4C8-0DDAAA4CC25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C4ED781-F151-D003-9495-56985E447D51}"/>
              </a:ext>
            </a:extLst>
          </p:cNvPr>
          <p:cNvPicPr>
            <a:picLocks noChangeAspect="1"/>
          </p:cNvPicPr>
          <p:nvPr/>
        </p:nvPicPr>
        <p:blipFill>
          <a:blip r:embed="rId2"/>
          <a:stretch>
            <a:fillRect/>
          </a:stretch>
        </p:blipFill>
        <p:spPr>
          <a:xfrm>
            <a:off x="318976" y="802101"/>
            <a:ext cx="11095098" cy="3408391"/>
          </a:xfrm>
          <a:prstGeom prst="rect">
            <a:avLst/>
          </a:prstGeom>
        </p:spPr>
      </p:pic>
    </p:spTree>
    <p:extLst>
      <p:ext uri="{BB962C8B-B14F-4D97-AF65-F5344CB8AC3E}">
        <p14:creationId xmlns:p14="http://schemas.microsoft.com/office/powerpoint/2010/main" val="367728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21052-2A89-6637-3AEC-DC705979C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79861-D355-9AA8-58C6-C0DB0C1BAB5A}"/>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D53FBA8B-1D48-A8B8-8294-B0EABB69ED39}"/>
              </a:ext>
            </a:extLst>
          </p:cNvPr>
          <p:cNvSpPr>
            <a:spLocks noGrp="1"/>
          </p:cNvSpPr>
          <p:nvPr>
            <p:ph idx="1"/>
          </p:nvPr>
        </p:nvSpPr>
        <p:spPr/>
        <p:txBody>
          <a:bodyPr/>
          <a:lstStyle/>
          <a:p>
            <a:pPr marL="0" indent="0">
              <a:buNone/>
            </a:pPr>
            <a:r>
              <a:rPr lang="en-US" b="1" dirty="0"/>
              <a:t>Answer #2:</a:t>
            </a:r>
            <a:r>
              <a:rPr lang="en-US" dirty="0"/>
              <a:t> One row in the training data represents all of an engine’s available information at one operating cycle. This includes cycle number, sensor readings, and other bits of data. Rows associated with the same engine form a time-ordered sequence. This leads to being able map inputs in the form of information available at the current cycle or earlier cycles to an output in the form of RUL at that particular cycle. Future measurements and eventual engine lifetime are assumed to be unavailable at inference time. </a:t>
            </a:r>
          </a:p>
        </p:txBody>
      </p:sp>
    </p:spTree>
    <p:extLst>
      <p:ext uri="{BB962C8B-B14F-4D97-AF65-F5344CB8AC3E}">
        <p14:creationId xmlns:p14="http://schemas.microsoft.com/office/powerpoint/2010/main" val="355610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797493D-2019-9E48-3BC2-EC0C08285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30D2-EFF3-40BE-2D1F-633034B37E30}"/>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What does one row in the training data represent, and what information should the model be allowed to use when making a prediction?</a:t>
            </a:r>
            <a:endParaRPr lang="en-US" dirty="0"/>
          </a:p>
        </p:txBody>
      </p:sp>
      <p:sp>
        <p:nvSpPr>
          <p:cNvPr id="3" name="Content Placeholder 2">
            <a:extLst>
              <a:ext uri="{FF2B5EF4-FFF2-40B4-BE49-F238E27FC236}">
                <a16:creationId xmlns:a16="http://schemas.microsoft.com/office/drawing/2014/main" id="{5BE7025D-70C2-951F-C778-0D65A1845D5A}"/>
              </a:ext>
            </a:extLst>
          </p:cNvPr>
          <p:cNvSpPr>
            <a:spLocks noGrp="1"/>
          </p:cNvSpPr>
          <p:nvPr>
            <p:ph idx="1"/>
          </p:nvPr>
        </p:nvSpPr>
        <p:spPr/>
        <p:txBody>
          <a:bodyPr>
            <a:normAutofit fontScale="92500" lnSpcReduction="20000"/>
          </a:bodyPr>
          <a:lstStyle/>
          <a:p>
            <a:pPr marL="0" indent="0">
              <a:buNone/>
            </a:pPr>
            <a:r>
              <a:rPr lang="en-US" sz="2000" dirty="0"/>
              <a:t>One prediction is associated with one engine at one operating cycle. The raw row contains that engine’s cycle number, operating settings, and sensor measurements at that moment. Rows belonging to the same engine form a time-ordered sequence. </a:t>
            </a:r>
          </a:p>
          <a:p>
            <a:pPr marL="0" indent="0">
              <a:buNone/>
            </a:pPr>
            <a:endParaRPr lang="en-US" sz="2000" dirty="0"/>
          </a:p>
          <a:p>
            <a:pPr marL="0" indent="0">
              <a:buNone/>
            </a:pPr>
            <a:r>
              <a:rPr lang="en-US" sz="2000" dirty="0"/>
              <a:t>The model is allowed to use information available at the current cycle and, when temporal features are included, measurements from earlier cycles for that same engine. For example, it could use lagged sensor values, trailing rolling statistics, or trends calculated only from cycles up through the prediction point. </a:t>
            </a:r>
          </a:p>
          <a:p>
            <a:pPr marL="0" indent="0">
              <a:buNone/>
            </a:pPr>
            <a:endParaRPr lang="en-US" sz="2000" dirty="0"/>
          </a:p>
          <a:p>
            <a:pPr marL="0" indent="0">
              <a:buNone/>
            </a:pPr>
            <a:r>
              <a:rPr lang="en-US" sz="2000" dirty="0"/>
              <a:t>The target is the RUL at that engine-cycle. Future sensor measurements, the engine’s eventual final cycle, and the true RUL cannot be used as input features because none would be available during real inference. The engine identifier may be use for grouping and sequence management, but not as a meaningful predictive feature. </a:t>
            </a:r>
          </a:p>
          <a:p>
            <a:pPr marL="0" indent="0">
              <a:buNone/>
            </a:pPr>
            <a:endParaRPr lang="en-US" sz="2000" dirty="0"/>
          </a:p>
          <a:p>
            <a:pPr marL="0" indent="0">
              <a:buNone/>
            </a:pPr>
            <a:r>
              <a:rPr lang="en-US" sz="2000" dirty="0"/>
              <a:t>The prediction unit is an engine at cycle t. The model may use current measurements and casual summaries of that engine’s history through cycle t, but nothing from later cycles or the engine’s eventual lifetime. </a:t>
            </a:r>
          </a:p>
          <a:p>
            <a:pPr marL="0" indent="0">
              <a:buNone/>
            </a:pPr>
            <a:endParaRPr lang="en-US" sz="2000" dirty="0"/>
          </a:p>
        </p:txBody>
      </p:sp>
    </p:spTree>
    <p:extLst>
      <p:ext uri="{BB962C8B-B14F-4D97-AF65-F5344CB8AC3E}">
        <p14:creationId xmlns:p14="http://schemas.microsoft.com/office/powerpoint/2010/main" val="44497402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B8C5-82B5-6262-0AB7-BD0ED71EB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98D61-2414-F61D-69A1-50B605EA9D61}"/>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5D867079-B0BB-DAD2-AD2F-983F54418E38}"/>
              </a:ext>
            </a:extLst>
          </p:cNvPr>
          <p:cNvSpPr>
            <a:spLocks noGrp="1"/>
          </p:cNvSpPr>
          <p:nvPr>
            <p:ph idx="1"/>
          </p:nvPr>
        </p:nvSpPr>
        <p:spPr/>
        <p:txBody>
          <a:bodyPr/>
          <a:lstStyle/>
          <a:p>
            <a:pPr marL="0" indent="0">
              <a:buNone/>
            </a:pPr>
            <a:r>
              <a:rPr lang="en-US" b="1" dirty="0"/>
              <a:t>Question #3: </a:t>
            </a:r>
            <a:r>
              <a:rPr lang="en-US" dirty="0"/>
              <a:t>How could an RUL prediction support a real maintenance decision, and what are the consequences of overestimating versus underestimating RUL?</a:t>
            </a:r>
          </a:p>
        </p:txBody>
      </p:sp>
    </p:spTree>
    <p:extLst>
      <p:ext uri="{BB962C8B-B14F-4D97-AF65-F5344CB8AC3E}">
        <p14:creationId xmlns:p14="http://schemas.microsoft.com/office/powerpoint/2010/main" val="3472489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C7921-DABF-651E-7C6D-EE3155843E5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CE41830-1FEE-B169-0CC1-79E73D67BCA0}"/>
              </a:ext>
            </a:extLst>
          </p:cNvPr>
          <p:cNvPicPr>
            <a:picLocks noChangeAspect="1"/>
          </p:cNvPicPr>
          <p:nvPr/>
        </p:nvPicPr>
        <p:blipFill>
          <a:blip r:embed="rId2"/>
          <a:stretch>
            <a:fillRect/>
          </a:stretch>
        </p:blipFill>
        <p:spPr>
          <a:xfrm>
            <a:off x="627017" y="663041"/>
            <a:ext cx="9083040" cy="5016985"/>
          </a:xfrm>
          <a:prstGeom prst="rect">
            <a:avLst/>
          </a:prstGeom>
        </p:spPr>
      </p:pic>
    </p:spTree>
    <p:extLst>
      <p:ext uri="{BB962C8B-B14F-4D97-AF65-F5344CB8AC3E}">
        <p14:creationId xmlns:p14="http://schemas.microsoft.com/office/powerpoint/2010/main" val="3161702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E3731-811A-6528-2C37-76CBC134C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9BBAA-6FD1-082B-B63D-8F420D4B9A57}"/>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EDD81AE6-30AF-F1BE-9622-488CC440B271}"/>
              </a:ext>
            </a:extLst>
          </p:cNvPr>
          <p:cNvSpPr>
            <a:spLocks noGrp="1"/>
          </p:cNvSpPr>
          <p:nvPr>
            <p:ph idx="1"/>
          </p:nvPr>
        </p:nvSpPr>
        <p:spPr/>
        <p:txBody>
          <a:bodyPr>
            <a:normAutofit/>
          </a:bodyPr>
          <a:lstStyle/>
          <a:p>
            <a:pPr marL="0" indent="0">
              <a:buNone/>
            </a:pPr>
            <a:r>
              <a:rPr lang="en-US" sz="2400" b="1" dirty="0"/>
              <a:t>Answer #3: </a:t>
            </a:r>
            <a:r>
              <a:rPr lang="en-US" sz="2400" dirty="0"/>
              <a:t>Upon obtaining an RUL estimate, various decisions relating to maintenance decisions can be made. If RUL is found to be very high, then maintenance can be delayed. If RUL is found to be very low, then maintenance must happen soon. When a group of RUL predictions is made, then maintenance scheduling can be done, inspection priorities can be decided, and spare parts planning can be done. All this aids in the process of reducing costs and decreasing the amount of unexpected downtime. </a:t>
            </a:r>
          </a:p>
          <a:p>
            <a:pPr marL="0" indent="0">
              <a:buNone/>
            </a:pPr>
            <a:endParaRPr lang="en-US" sz="2400" dirty="0"/>
          </a:p>
          <a:p>
            <a:pPr marL="0" indent="0">
              <a:buNone/>
            </a:pPr>
            <a:r>
              <a:rPr lang="en-US" sz="2400" dirty="0"/>
              <a:t>As for the consequences of bad predictions, overestimating RUL can result in unexpected failures, and thereby more costly repairs. Meanwhile, underestimating RUL can result in unnecessary maintenance activities. From this we can infer than overestimating RUL would be more costly. </a:t>
            </a:r>
            <a:endParaRPr lang="en-US" sz="2400" b="1" dirty="0"/>
          </a:p>
        </p:txBody>
      </p:sp>
    </p:spTree>
    <p:extLst>
      <p:ext uri="{BB962C8B-B14F-4D97-AF65-F5344CB8AC3E}">
        <p14:creationId xmlns:p14="http://schemas.microsoft.com/office/powerpoint/2010/main" val="658581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5583AC67-D776-610A-7433-27227AF80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D8CE3-7B5A-A663-0E9D-44D48CB49F46}"/>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could an RUL prediction support a real maintenance decision, and what are the consequences of overestimating versus underestimating RUL?</a:t>
            </a:r>
            <a:endParaRPr lang="en-US" dirty="0"/>
          </a:p>
        </p:txBody>
      </p:sp>
      <p:sp>
        <p:nvSpPr>
          <p:cNvPr id="3" name="Content Placeholder 2">
            <a:extLst>
              <a:ext uri="{FF2B5EF4-FFF2-40B4-BE49-F238E27FC236}">
                <a16:creationId xmlns:a16="http://schemas.microsoft.com/office/drawing/2014/main" id="{D96C7049-81CE-5C54-EC11-98E16AD9B004}"/>
              </a:ext>
            </a:extLst>
          </p:cNvPr>
          <p:cNvSpPr>
            <a:spLocks noGrp="1"/>
          </p:cNvSpPr>
          <p:nvPr>
            <p:ph idx="1"/>
          </p:nvPr>
        </p:nvSpPr>
        <p:spPr/>
        <p:txBody>
          <a:bodyPr>
            <a:normAutofit lnSpcReduction="10000"/>
          </a:bodyPr>
          <a:lstStyle/>
          <a:p>
            <a:pPr marL="0" indent="0">
              <a:buNone/>
            </a:pPr>
            <a:r>
              <a:rPr lang="en-US" sz="2000" dirty="0"/>
              <a:t>An RUL estimate can support several maintenance decisions. At the individual engine level, a low predicted RUL could trigger inspection, increased monitoring, or scheduled maintenance. Meanwhile, a high predicted RUL may justify continuing operation. Across a fleet, predictions can help prioritize inspections, schedule maintenance windows, allocate technicians, and plan spare parts inventory. The overall value is reducing unexpected downtime while avoiding unnecessarily early component replacement. </a:t>
            </a:r>
          </a:p>
          <a:p>
            <a:pPr marL="0" indent="0">
              <a:buNone/>
            </a:pPr>
            <a:endParaRPr lang="en-US" sz="2000" dirty="0"/>
          </a:p>
          <a:p>
            <a:pPr marL="0" indent="0">
              <a:buNone/>
            </a:pPr>
            <a:r>
              <a:rPr lang="en-US" sz="2000" dirty="0"/>
              <a:t>The prediction errors are symmetric. If the model overestimates RUL, the organization may delay maintenance too long, potentially causing an unexpected failure, emergency repair, secondary damage, or safety risk. If it underestimates RUL, maintenance may happen prematurely, wasting useful component life and creating unnecessary labor and downtime. </a:t>
            </a:r>
          </a:p>
          <a:p>
            <a:pPr marL="0" indent="0">
              <a:buNone/>
            </a:pPr>
            <a:endParaRPr lang="en-US" sz="2000" dirty="0"/>
          </a:p>
          <a:p>
            <a:pPr marL="0" indent="0">
              <a:buNone/>
            </a:pPr>
            <a:r>
              <a:rPr lang="en-US" sz="2000" dirty="0"/>
              <a:t>In a safety-critical application, overestimation would often be treated as the more serious error, although the exact cost balance should be defined with domain stakeholders. The asymmetry could also influence the evaluation metric and maintenance threshold. </a:t>
            </a:r>
          </a:p>
        </p:txBody>
      </p:sp>
    </p:spTree>
    <p:extLst>
      <p:ext uri="{BB962C8B-B14F-4D97-AF65-F5344CB8AC3E}">
        <p14:creationId xmlns:p14="http://schemas.microsoft.com/office/powerpoint/2010/main" val="2952923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FFE89EF8-5135-21F6-6908-0BB630A41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00395-8502-07C6-098F-6276114B1F36}"/>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could an RUL prediction support a real maintenance decision, and what are the consequences of overestimating versus underestimating RUL?</a:t>
            </a:r>
            <a:endParaRPr lang="en-US" dirty="0"/>
          </a:p>
        </p:txBody>
      </p:sp>
      <p:pic>
        <p:nvPicPr>
          <p:cNvPr id="4" name="Picture 3">
            <a:extLst>
              <a:ext uri="{FF2B5EF4-FFF2-40B4-BE49-F238E27FC236}">
                <a16:creationId xmlns:a16="http://schemas.microsoft.com/office/drawing/2014/main" id="{FBF0DF50-0309-68DC-A0E0-EFCEB0187182}"/>
              </a:ext>
            </a:extLst>
          </p:cNvPr>
          <p:cNvPicPr>
            <a:picLocks noChangeAspect="1"/>
          </p:cNvPicPr>
          <p:nvPr/>
        </p:nvPicPr>
        <p:blipFill>
          <a:blip r:embed="rId2"/>
          <a:stretch>
            <a:fillRect/>
          </a:stretch>
        </p:blipFill>
        <p:spPr>
          <a:xfrm>
            <a:off x="2209800" y="1962978"/>
            <a:ext cx="7772400" cy="2932043"/>
          </a:xfrm>
          <a:prstGeom prst="rect">
            <a:avLst/>
          </a:prstGeom>
        </p:spPr>
      </p:pic>
    </p:spTree>
    <p:extLst>
      <p:ext uri="{BB962C8B-B14F-4D97-AF65-F5344CB8AC3E}">
        <p14:creationId xmlns:p14="http://schemas.microsoft.com/office/powerpoint/2010/main" val="1098547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41D55-847E-5468-F15F-161C206A1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85E04-E592-0B37-FF7C-A8E128958071}"/>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F98FE3BC-11E6-96D1-D9C0-C14134E5F8D5}"/>
              </a:ext>
            </a:extLst>
          </p:cNvPr>
          <p:cNvSpPr>
            <a:spLocks noGrp="1"/>
          </p:cNvSpPr>
          <p:nvPr>
            <p:ph idx="1"/>
          </p:nvPr>
        </p:nvSpPr>
        <p:spPr/>
        <p:txBody>
          <a:bodyPr/>
          <a:lstStyle/>
          <a:p>
            <a:pPr marL="0" indent="0">
              <a:buNone/>
            </a:pPr>
            <a:r>
              <a:rPr lang="en-US" b="1" dirty="0"/>
              <a:t>Question #4: </a:t>
            </a:r>
            <a:r>
              <a:rPr lang="en-US" dirty="0"/>
              <a:t>How did you define success for this project, both as a machine-learning system and as a portfolio project? </a:t>
            </a:r>
          </a:p>
        </p:txBody>
      </p:sp>
    </p:spTree>
    <p:extLst>
      <p:ext uri="{BB962C8B-B14F-4D97-AF65-F5344CB8AC3E}">
        <p14:creationId xmlns:p14="http://schemas.microsoft.com/office/powerpoint/2010/main" val="2954656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3874-F98C-4FF3-462C-BBA08E210BE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58B5312-AA51-D588-1625-38C280F36B51}"/>
              </a:ext>
            </a:extLst>
          </p:cNvPr>
          <p:cNvPicPr>
            <a:picLocks noChangeAspect="1"/>
          </p:cNvPicPr>
          <p:nvPr/>
        </p:nvPicPr>
        <p:blipFill>
          <a:blip r:embed="rId2"/>
          <a:stretch>
            <a:fillRect/>
          </a:stretch>
        </p:blipFill>
        <p:spPr>
          <a:xfrm>
            <a:off x="967562" y="300631"/>
            <a:ext cx="7304567" cy="5717632"/>
          </a:xfrm>
          <a:prstGeom prst="rect">
            <a:avLst/>
          </a:prstGeom>
        </p:spPr>
      </p:pic>
    </p:spTree>
    <p:extLst>
      <p:ext uri="{BB962C8B-B14F-4D97-AF65-F5344CB8AC3E}">
        <p14:creationId xmlns:p14="http://schemas.microsoft.com/office/powerpoint/2010/main" val="3217353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D2682-F260-4C7E-338E-B495AB899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12290-BA4F-5188-E5AD-A6288F3E995D}"/>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48382F62-66AB-F3CD-EA9D-E8347643ED5A}"/>
              </a:ext>
            </a:extLst>
          </p:cNvPr>
          <p:cNvSpPr>
            <a:spLocks noGrp="1"/>
          </p:cNvSpPr>
          <p:nvPr>
            <p:ph idx="1"/>
          </p:nvPr>
        </p:nvSpPr>
        <p:spPr/>
        <p:txBody>
          <a:bodyPr>
            <a:normAutofit/>
          </a:bodyPr>
          <a:lstStyle/>
          <a:p>
            <a:pPr marL="0" indent="0">
              <a:buNone/>
            </a:pPr>
            <a:r>
              <a:rPr lang="en-US" sz="2000" b="1" dirty="0"/>
              <a:t>Answer #4: </a:t>
            </a:r>
            <a:r>
              <a:rPr lang="en-US" sz="2000" dirty="0"/>
              <a:t>In matters of machine learning, the biggest indicator of success is the model being able to make accurate predictions on engines not encountered during the training process. It should be able to produce accurate endpoint RUL predictions and beat simple baselines. It should also avoid leakage and misleading validation. It should also be possible to discern when and where errors occur. </a:t>
            </a:r>
          </a:p>
          <a:p>
            <a:pPr marL="0" indent="0">
              <a:buNone/>
            </a:pPr>
            <a:endParaRPr lang="en-US" sz="2000" dirty="0"/>
          </a:p>
          <a:p>
            <a:pPr marL="0" indent="0">
              <a:buNone/>
            </a:pPr>
            <a:r>
              <a:rPr lang="en-US" sz="2000" dirty="0"/>
              <a:t>From an engineering perspective, this project should create a reproducible training pipeline. Any decisions that the model makes should be defensible. The model should serve prediction endpoints in a containerized environment. Testing and experiment tracking should be able to take place, and it should be possible to provide clear explanations of the model’s limitations. </a:t>
            </a:r>
          </a:p>
        </p:txBody>
      </p:sp>
    </p:spTree>
    <p:extLst>
      <p:ext uri="{BB962C8B-B14F-4D97-AF65-F5344CB8AC3E}">
        <p14:creationId xmlns:p14="http://schemas.microsoft.com/office/powerpoint/2010/main" val="1349589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8CFD6C82-B2C5-5FA1-2810-9596861F3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9EA17-622E-1D7A-5D48-726C57D882AA}"/>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did you define success for this project, both as a machine-learning system and as a portfolio project?</a:t>
            </a:r>
            <a:endParaRPr lang="en-US" dirty="0"/>
          </a:p>
        </p:txBody>
      </p:sp>
      <p:sp>
        <p:nvSpPr>
          <p:cNvPr id="3" name="Content Placeholder 2">
            <a:extLst>
              <a:ext uri="{FF2B5EF4-FFF2-40B4-BE49-F238E27FC236}">
                <a16:creationId xmlns:a16="http://schemas.microsoft.com/office/drawing/2014/main" id="{AA634C6A-D18E-DDCD-AA4A-99F2A66CA7B3}"/>
              </a:ext>
            </a:extLst>
          </p:cNvPr>
          <p:cNvSpPr>
            <a:spLocks noGrp="1"/>
          </p:cNvSpPr>
          <p:nvPr>
            <p:ph idx="1"/>
          </p:nvPr>
        </p:nvSpPr>
        <p:spPr/>
        <p:txBody>
          <a:bodyPr>
            <a:normAutofit fontScale="92500" lnSpcReduction="10000"/>
          </a:bodyPr>
          <a:lstStyle/>
          <a:p>
            <a:pPr marL="0" indent="0">
              <a:buNone/>
            </a:pPr>
            <a:r>
              <a:rPr lang="en-US" sz="2000" dirty="0"/>
              <a:t>From a machine learning perspective, success means generalizing to engine units that were not encountered during training. The model should outperform simple baselines on grouped validation using metrics such as MAE and RMSE. It should also perform reasonably well on endpoint RUL prediction and avoid data leakage or misleading validation. I also want enough error analysis to understand when and where the model performs poorly rather than relying on one aggregate score. </a:t>
            </a:r>
          </a:p>
          <a:p>
            <a:pPr marL="0" indent="0">
              <a:buNone/>
            </a:pPr>
            <a:endParaRPr lang="en-US" sz="2000" dirty="0"/>
          </a:p>
          <a:p>
            <a:pPr marL="0" indent="0">
              <a:buNone/>
            </a:pPr>
            <a:r>
              <a:rPr lang="en-US" sz="2000" dirty="0"/>
              <a:t>From an engineering perspective, success means turning that model into a reproducible and usable system. The training process should be reproducible, experiments should be tracked, important assumptions should be protected by automated tests, and the trained pipeline should be served through a containerized prediction API. The model version and preprocessing should be traceable, and its predictions, design choices, and limitations should be explainable. </a:t>
            </a:r>
          </a:p>
          <a:p>
            <a:pPr marL="0" indent="0">
              <a:buNone/>
            </a:pPr>
            <a:endParaRPr lang="en-US" sz="2000" dirty="0"/>
          </a:p>
          <a:p>
            <a:pPr marL="0" indent="0">
              <a:buNone/>
            </a:pPr>
            <a:r>
              <a:rPr lang="en-US" sz="2000" dirty="0"/>
              <a:t>From a portfolio perspective, the finished project should demonstrate that I can take an ML problem from raw data through experimentation, deployment, testing, and production-oriented monitoring rather than stopping at a notebook. </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63055442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4982BFE-783D-BF3A-BCA8-0C0547BDA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42D0C-8BDF-7A17-584D-A4F9B713B19B}"/>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did you define success for this project, both as a machine-learning system and as a portfolio project?</a:t>
            </a:r>
            <a:endParaRPr lang="en-US" dirty="0"/>
          </a:p>
        </p:txBody>
      </p:sp>
      <p:pic>
        <p:nvPicPr>
          <p:cNvPr id="5" name="Content Placeholder 4">
            <a:extLst>
              <a:ext uri="{FF2B5EF4-FFF2-40B4-BE49-F238E27FC236}">
                <a16:creationId xmlns:a16="http://schemas.microsoft.com/office/drawing/2014/main" id="{A0AFA56D-B1C8-CC9B-D9EB-23ABF70665EF}"/>
              </a:ext>
            </a:extLst>
          </p:cNvPr>
          <p:cNvPicPr>
            <a:picLocks noGrp="1" noChangeAspect="1"/>
          </p:cNvPicPr>
          <p:nvPr>
            <p:ph idx="1"/>
          </p:nvPr>
        </p:nvPicPr>
        <p:blipFill>
          <a:blip r:embed="rId3"/>
          <a:stretch>
            <a:fillRect/>
          </a:stretch>
        </p:blipFill>
        <p:spPr>
          <a:xfrm>
            <a:off x="1489167" y="1825624"/>
            <a:ext cx="8327950" cy="4869201"/>
          </a:xfrm>
          <a:prstGeom prst="rect">
            <a:avLst/>
          </a:prstGeom>
        </p:spPr>
      </p:pic>
    </p:spTree>
    <p:extLst>
      <p:ext uri="{BB962C8B-B14F-4D97-AF65-F5344CB8AC3E}">
        <p14:creationId xmlns:p14="http://schemas.microsoft.com/office/powerpoint/2010/main" val="119536336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47C03-E770-AC00-CB73-D1F2A96F7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8CD74-10F7-F361-4CA2-C3B2E153224C}"/>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DF3DA3ED-6605-23CF-845F-73832DD795FF}"/>
              </a:ext>
            </a:extLst>
          </p:cNvPr>
          <p:cNvSpPr>
            <a:spLocks noGrp="1"/>
          </p:cNvSpPr>
          <p:nvPr>
            <p:ph idx="1"/>
          </p:nvPr>
        </p:nvSpPr>
        <p:spPr/>
        <p:txBody>
          <a:bodyPr/>
          <a:lstStyle/>
          <a:p>
            <a:pPr marL="0" indent="0">
              <a:buNone/>
            </a:pPr>
            <a:r>
              <a:rPr lang="en-US" b="1" dirty="0"/>
              <a:t>Question #5: </a:t>
            </a:r>
            <a:r>
              <a:rPr lang="en-US" dirty="0"/>
              <a:t>What assumptions does the FD001 project make, and why should the resulting model be treated as a prototype rather than a production-ready maintenance system? </a:t>
            </a:r>
          </a:p>
        </p:txBody>
      </p:sp>
    </p:spTree>
    <p:extLst>
      <p:ext uri="{BB962C8B-B14F-4D97-AF65-F5344CB8AC3E}">
        <p14:creationId xmlns:p14="http://schemas.microsoft.com/office/powerpoint/2010/main" val="3111298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9F38-C9CE-0EAF-FE87-180AA4CC822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375333-4432-4C3D-8A99-467BD9C8ED1F}"/>
              </a:ext>
            </a:extLst>
          </p:cNvPr>
          <p:cNvPicPr>
            <a:picLocks noChangeAspect="1"/>
          </p:cNvPicPr>
          <p:nvPr/>
        </p:nvPicPr>
        <p:blipFill>
          <a:blip r:embed="rId2"/>
          <a:stretch>
            <a:fillRect/>
          </a:stretch>
        </p:blipFill>
        <p:spPr>
          <a:xfrm>
            <a:off x="531222" y="501233"/>
            <a:ext cx="9183267" cy="4392984"/>
          </a:xfrm>
          <a:prstGeom prst="rect">
            <a:avLst/>
          </a:prstGeom>
        </p:spPr>
      </p:pic>
    </p:spTree>
    <p:extLst>
      <p:ext uri="{BB962C8B-B14F-4D97-AF65-F5344CB8AC3E}">
        <p14:creationId xmlns:p14="http://schemas.microsoft.com/office/powerpoint/2010/main" val="910055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C138-B33A-B686-0CAE-319402E04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9A48A-5E90-9868-D597-C268598FC817}"/>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18BE1B87-289E-D914-186D-28A3C015CDFC}"/>
              </a:ext>
            </a:extLst>
          </p:cNvPr>
          <p:cNvSpPr>
            <a:spLocks noGrp="1"/>
          </p:cNvSpPr>
          <p:nvPr>
            <p:ph idx="1"/>
          </p:nvPr>
        </p:nvSpPr>
        <p:spPr/>
        <p:txBody>
          <a:bodyPr>
            <a:normAutofit fontScale="70000" lnSpcReduction="20000"/>
          </a:bodyPr>
          <a:lstStyle/>
          <a:p>
            <a:pPr marL="0" indent="0">
              <a:buNone/>
            </a:pPr>
            <a:r>
              <a:rPr lang="en-US" b="1" dirty="0"/>
              <a:t>Answer #5:</a:t>
            </a:r>
            <a:r>
              <a:rPr lang="en-US" dirty="0"/>
              <a:t> The FD001 project makes at least two assumptions: </a:t>
            </a:r>
          </a:p>
          <a:p>
            <a:r>
              <a:rPr lang="en-US" dirty="0"/>
              <a:t>The predictions are associated with one fault mode and one practical operating condition. </a:t>
            </a:r>
          </a:p>
          <a:p>
            <a:r>
              <a:rPr lang="en-US" dirty="0"/>
              <a:t> Training engines run to failure, which might not be reflective of real-life scenarios. </a:t>
            </a:r>
          </a:p>
          <a:p>
            <a:endParaRPr lang="en-US" dirty="0"/>
          </a:p>
          <a:p>
            <a:pPr marL="0" indent="0">
              <a:buNone/>
            </a:pPr>
            <a:r>
              <a:rPr lang="en-US" dirty="0"/>
              <a:t>As for why the resulting model should be treated as a prototype rather and a production-ready prediction tool, there are the following reasons: </a:t>
            </a:r>
          </a:p>
          <a:p>
            <a:r>
              <a:rPr lang="en-US" dirty="0"/>
              <a:t>The meanings and units of sensors have been largely abstracted</a:t>
            </a:r>
          </a:p>
          <a:p>
            <a:r>
              <a:rPr lang="en-US" dirty="0"/>
              <a:t>Training engines run until failure, which likely won’t be reflective of actual maintenance records</a:t>
            </a:r>
          </a:p>
          <a:p>
            <a:r>
              <a:rPr lang="en-US" dirty="0"/>
              <a:t>The training data only contains one fault mode and one practical operating condition, whereas real world scenarios often contain multiple fault or failure modes</a:t>
            </a:r>
          </a:p>
          <a:p>
            <a:pPr marL="0" indent="0">
              <a:buNone/>
            </a:pPr>
            <a:r>
              <a:rPr lang="en-US" dirty="0"/>
              <a:t> </a:t>
            </a:r>
          </a:p>
        </p:txBody>
      </p:sp>
    </p:spTree>
    <p:extLst>
      <p:ext uri="{BB962C8B-B14F-4D97-AF65-F5344CB8AC3E}">
        <p14:creationId xmlns:p14="http://schemas.microsoft.com/office/powerpoint/2010/main" val="1589803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E424E96B-EE56-23D1-49B9-268D50FD4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5A0ED-49B2-0494-0F75-4974A87DE769}"/>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What assumptions does the FD001 project make, and why should the resulting model be treated as a prototype rather than a production-ready maintenance system?</a:t>
            </a:r>
            <a:endParaRPr lang="en-US" dirty="0"/>
          </a:p>
        </p:txBody>
      </p:sp>
      <p:sp>
        <p:nvSpPr>
          <p:cNvPr id="3" name="Content Placeholder 2">
            <a:extLst>
              <a:ext uri="{FF2B5EF4-FFF2-40B4-BE49-F238E27FC236}">
                <a16:creationId xmlns:a16="http://schemas.microsoft.com/office/drawing/2014/main" id="{871FEBF6-0B57-072E-C666-6C6E3AB28DCC}"/>
              </a:ext>
            </a:extLst>
          </p:cNvPr>
          <p:cNvSpPr>
            <a:spLocks noGrp="1"/>
          </p:cNvSpPr>
          <p:nvPr>
            <p:ph idx="1"/>
          </p:nvPr>
        </p:nvSpPr>
        <p:spPr/>
        <p:txBody>
          <a:bodyPr>
            <a:noAutofit/>
          </a:bodyPr>
          <a:lstStyle/>
          <a:p>
            <a:pPr marL="0" indent="0">
              <a:buNone/>
            </a:pPr>
            <a:r>
              <a:rPr lang="en-US" sz="1600" dirty="0"/>
              <a:t>The first assumption is that the FD001 represents a much narrower problem then real engine maintenance. It only contains one operating condition—sea level—and one fault mode in the form of high-pressure compressor degradation. So, the model is not being trained to handle multiple environments or different failure mechanisms. </a:t>
            </a:r>
          </a:p>
          <a:p>
            <a:pPr marL="0" indent="0">
              <a:buNone/>
            </a:pPr>
            <a:endParaRPr lang="en-US" sz="1600" dirty="0"/>
          </a:p>
          <a:p>
            <a:pPr marL="0" indent="0">
              <a:buNone/>
            </a:pPr>
            <a:r>
              <a:rPr lang="en-US" sz="1600" dirty="0"/>
              <a:t>Second, the training trajectories run all the way to failure. That’s useful because it gives us complete RUL labels, but real maintenance data may be censored because equipment is inspected, repaired, or replaced before failure. </a:t>
            </a:r>
          </a:p>
          <a:p>
            <a:pPr marL="0" indent="0">
              <a:buNone/>
            </a:pPr>
            <a:endParaRPr lang="en-US" sz="1600" dirty="0"/>
          </a:p>
          <a:p>
            <a:pPr marL="0" indent="0">
              <a:buNone/>
            </a:pPr>
            <a:r>
              <a:rPr lang="en-US" sz="1600" dirty="0"/>
              <a:t>Third, this is simulated C-MAPPS data rather than measurements collected from a real operational fleet. Performance on this benchmark there fore doesn’t demonstrate that the model will generalize to all of the noise, distribution shifts, sensor issues, and maintenance practices encountered in deployment. </a:t>
            </a:r>
          </a:p>
          <a:p>
            <a:pPr marL="0" indent="0">
              <a:buNone/>
            </a:pPr>
            <a:endParaRPr lang="en-US" sz="1600" dirty="0"/>
          </a:p>
          <a:p>
            <a:pPr marL="0" indent="0">
              <a:buNone/>
            </a:pPr>
            <a:r>
              <a:rPr lang="en-US" sz="1600" dirty="0"/>
              <a:t>Finally, the sensor channels are largely abstracted, which limits physical interpretation and domain validation. </a:t>
            </a:r>
          </a:p>
          <a:p>
            <a:pPr marL="0" indent="0">
              <a:buNone/>
            </a:pPr>
            <a:endParaRPr lang="en-US" sz="1600" dirty="0"/>
          </a:p>
          <a:p>
            <a:pPr marL="0" indent="0">
              <a:buNone/>
            </a:pPr>
            <a:r>
              <a:rPr lang="en-US" sz="1600" dirty="0"/>
              <a:t>For those reasons, I view the project as a production-oriented prototype. It demonstrates the ML pipeline, leakage-safe validation, serving, containerization, testing, tracking, and monitoring architecture. But the predictive model itself has not been validated under the data diversity and operational conditions necessary for a real maintenance system. </a:t>
            </a:r>
          </a:p>
        </p:txBody>
      </p:sp>
    </p:spTree>
    <p:extLst>
      <p:ext uri="{BB962C8B-B14F-4D97-AF65-F5344CB8AC3E}">
        <p14:creationId xmlns:p14="http://schemas.microsoft.com/office/powerpoint/2010/main" val="740258191"/>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3D8A079-CB2F-097F-20CC-22AC808AD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11647-9168-8D33-7520-FC465C58A508}"/>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What assumptions does the FD001 project make, and why should the resulting model be treated as a prototype rather than a production-ready maintenance system?</a:t>
            </a:r>
            <a:endParaRPr lang="en-US" dirty="0"/>
          </a:p>
        </p:txBody>
      </p:sp>
      <p:pic>
        <p:nvPicPr>
          <p:cNvPr id="4" name="Content Placeholder 3">
            <a:extLst>
              <a:ext uri="{FF2B5EF4-FFF2-40B4-BE49-F238E27FC236}">
                <a16:creationId xmlns:a16="http://schemas.microsoft.com/office/drawing/2014/main" id="{C11C047D-DA98-5D51-AAC5-DDB59167E919}"/>
              </a:ext>
            </a:extLst>
          </p:cNvPr>
          <p:cNvPicPr>
            <a:picLocks noGrp="1" noChangeAspect="1"/>
          </p:cNvPicPr>
          <p:nvPr>
            <p:ph idx="1"/>
          </p:nvPr>
        </p:nvPicPr>
        <p:blipFill>
          <a:blip r:embed="rId3"/>
          <a:stretch>
            <a:fillRect/>
          </a:stretch>
        </p:blipFill>
        <p:spPr>
          <a:xfrm>
            <a:off x="2797263" y="1825625"/>
            <a:ext cx="6597474" cy="4351338"/>
          </a:xfrm>
          <a:prstGeom prst="rect">
            <a:avLst/>
          </a:prstGeom>
        </p:spPr>
      </p:pic>
    </p:spTree>
    <p:extLst>
      <p:ext uri="{BB962C8B-B14F-4D97-AF65-F5344CB8AC3E}">
        <p14:creationId xmlns:p14="http://schemas.microsoft.com/office/powerpoint/2010/main" val="1836236745"/>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90B3629-0011-91BD-7D0C-6D3D30D5E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9E7C2-191C-C592-CA7A-970DF30242FD}"/>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ED6BCEB7-1CAA-1538-0CD8-8B40C1ABC257}"/>
              </a:ext>
            </a:extLst>
          </p:cNvPr>
          <p:cNvSpPr>
            <a:spLocks noGrp="1"/>
          </p:cNvSpPr>
          <p:nvPr>
            <p:ph idx="1"/>
          </p:nvPr>
        </p:nvSpPr>
        <p:spPr/>
        <p:txBody>
          <a:bodyPr/>
          <a:lstStyle/>
          <a:p>
            <a:r>
              <a:rPr lang="en-US" dirty="0"/>
              <a:t>Phase 1.2: Data Understanding and Exploratory Analysis</a:t>
            </a:r>
          </a:p>
          <a:p>
            <a:pPr lvl="1"/>
            <a:r>
              <a:rPr lang="en-US" dirty="0"/>
              <a:t>Understand the FD001 files</a:t>
            </a:r>
          </a:p>
          <a:p>
            <a:pPr lvl="1"/>
            <a:r>
              <a:rPr lang="en-US" dirty="0"/>
              <a:t>Validate engine sequences</a:t>
            </a:r>
          </a:p>
          <a:p>
            <a:pPr lvl="1"/>
            <a:r>
              <a:rPr lang="en-US" dirty="0"/>
              <a:t>Construct and validate training RUL</a:t>
            </a:r>
          </a:p>
          <a:p>
            <a:pPr lvl="1"/>
            <a:r>
              <a:rPr lang="en-US" dirty="0"/>
              <a:t>Interpret test endpoint RUL</a:t>
            </a:r>
          </a:p>
          <a:p>
            <a:pPr lvl="1"/>
            <a:r>
              <a:rPr lang="en-US" dirty="0"/>
              <a:t>Examine sensors, operating conditions, and target distribution</a:t>
            </a:r>
          </a:p>
          <a:p>
            <a:pPr lvl="1"/>
            <a:r>
              <a:rPr lang="en-US" dirty="0"/>
              <a:t>Identify initial modeling implications</a:t>
            </a:r>
          </a:p>
        </p:txBody>
      </p:sp>
    </p:spTree>
    <p:extLst>
      <p:ext uri="{BB962C8B-B14F-4D97-AF65-F5344CB8AC3E}">
        <p14:creationId xmlns:p14="http://schemas.microsoft.com/office/powerpoint/2010/main" val="3098386437"/>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DC9B4-B87E-138E-7F54-0F97A9DDE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7D0ED-18CA-973D-AB65-CCA0C1A62DDE}"/>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8BE67015-5B1A-7020-CE53-B0AF5E5F70F7}"/>
              </a:ext>
            </a:extLst>
          </p:cNvPr>
          <p:cNvSpPr>
            <a:spLocks noGrp="1"/>
          </p:cNvSpPr>
          <p:nvPr>
            <p:ph idx="1"/>
          </p:nvPr>
        </p:nvSpPr>
        <p:spPr/>
        <p:txBody>
          <a:bodyPr/>
          <a:lstStyle/>
          <a:p>
            <a:pPr marL="0" indent="0">
              <a:buNone/>
            </a:pPr>
            <a:r>
              <a:rPr lang="en-US" b="1" dirty="0"/>
              <a:t>Question #1:</a:t>
            </a:r>
            <a:r>
              <a:rPr lang="en-US" dirty="0"/>
              <a:t> How do the FD001 training data, test data, and test RUL labels differ, and how do they work together? </a:t>
            </a:r>
          </a:p>
        </p:txBody>
      </p:sp>
    </p:spTree>
    <p:extLst>
      <p:ext uri="{BB962C8B-B14F-4D97-AF65-F5344CB8AC3E}">
        <p14:creationId xmlns:p14="http://schemas.microsoft.com/office/powerpoint/2010/main" val="555127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65B81-7C19-125C-81B2-B41E516995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C3D1C65-4DD0-F8DC-32F6-84F8183D5C98}"/>
              </a:ext>
            </a:extLst>
          </p:cNvPr>
          <p:cNvPicPr>
            <a:picLocks noChangeAspect="1"/>
          </p:cNvPicPr>
          <p:nvPr/>
        </p:nvPicPr>
        <p:blipFill>
          <a:blip r:embed="rId2"/>
          <a:stretch>
            <a:fillRect/>
          </a:stretch>
        </p:blipFill>
        <p:spPr>
          <a:xfrm>
            <a:off x="498566" y="606425"/>
            <a:ext cx="9873806" cy="4348752"/>
          </a:xfrm>
          <a:prstGeom prst="rect">
            <a:avLst/>
          </a:prstGeom>
        </p:spPr>
      </p:pic>
    </p:spTree>
    <p:extLst>
      <p:ext uri="{BB962C8B-B14F-4D97-AF65-F5344CB8AC3E}">
        <p14:creationId xmlns:p14="http://schemas.microsoft.com/office/powerpoint/2010/main" val="31348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D3705-15E4-A29A-3A23-3ADC44CC3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1EFB2-57FA-9D53-1CF8-729F6E89AF78}"/>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6E98C0ED-DC24-A4C0-6BAF-36A23FA64C10}"/>
              </a:ext>
            </a:extLst>
          </p:cNvPr>
          <p:cNvSpPr>
            <a:spLocks noGrp="1"/>
          </p:cNvSpPr>
          <p:nvPr>
            <p:ph idx="1"/>
          </p:nvPr>
        </p:nvSpPr>
        <p:spPr/>
        <p:txBody>
          <a:bodyPr/>
          <a:lstStyle/>
          <a:p>
            <a:pPr marL="0" indent="0">
              <a:buNone/>
            </a:pPr>
            <a:r>
              <a:rPr lang="en-US" b="1" dirty="0"/>
              <a:t>Answer #1: </a:t>
            </a:r>
            <a:r>
              <a:rPr lang="en-US" dirty="0"/>
              <a:t>To begin, it’s worth noting that each </a:t>
            </a:r>
            <a:r>
              <a:rPr lang="en-US" dirty="0" err="1"/>
              <a:t>unit_no</a:t>
            </a:r>
            <a:r>
              <a:rPr lang="en-US" dirty="0"/>
              <a:t> represents a distinct simulated engine. Each row represents strictly one engine at one point in its operating cycle. As for differences between training and test data, the main distinction is that training data runs until failure for each engine while test data does not. The training data is contained in a single file where each engine has a complete lifecycle from start to failure. The test data is distributed across two files, one for a set of truncated lifecycles associated with various engines, and one for a set of labels representing when those engines reached failure (the label gives the remaining life left after the final observed operating cycle). </a:t>
            </a:r>
          </a:p>
        </p:txBody>
      </p:sp>
    </p:spTree>
    <p:extLst>
      <p:ext uri="{BB962C8B-B14F-4D97-AF65-F5344CB8AC3E}">
        <p14:creationId xmlns:p14="http://schemas.microsoft.com/office/powerpoint/2010/main" val="3472408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A61AC38-B262-9218-5833-6FF5F430C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73205-FC5B-4D13-3832-DF7CF8D461D7}"/>
              </a:ext>
            </a:extLst>
          </p:cNvPr>
          <p:cNvSpPr>
            <a:spLocks noGrp="1"/>
          </p:cNvSpPr>
          <p:nvPr>
            <p:ph type="title"/>
          </p:nvPr>
        </p:nvSpPr>
        <p:spPr/>
        <p:txBody>
          <a:bodyPr>
            <a:normAutofit fontScale="90000"/>
          </a:bodyPr>
          <a:lstStyle/>
          <a:p>
            <a:r>
              <a:rPr lang="en-US" dirty="0"/>
              <a:t>How do the FD001 training data, test data, and test RUL labels differ, and how do they work together?</a:t>
            </a:r>
          </a:p>
        </p:txBody>
      </p:sp>
      <p:sp>
        <p:nvSpPr>
          <p:cNvPr id="3" name="Content Placeholder 2">
            <a:extLst>
              <a:ext uri="{FF2B5EF4-FFF2-40B4-BE49-F238E27FC236}">
                <a16:creationId xmlns:a16="http://schemas.microsoft.com/office/drawing/2014/main" id="{A9743496-7828-1058-4094-E83F064F8ED0}"/>
              </a:ext>
            </a:extLst>
          </p:cNvPr>
          <p:cNvSpPr>
            <a:spLocks noGrp="1"/>
          </p:cNvSpPr>
          <p:nvPr>
            <p:ph idx="1"/>
          </p:nvPr>
        </p:nvSpPr>
        <p:spPr/>
        <p:txBody>
          <a:bodyPr/>
          <a:lstStyle/>
          <a:p>
            <a:pPr marL="0" indent="0">
              <a:buNone/>
            </a:pPr>
            <a:r>
              <a:rPr lang="en-US" sz="2400" dirty="0"/>
              <a:t>Each </a:t>
            </a:r>
            <a:r>
              <a:rPr lang="en-US" sz="2400" dirty="0" err="1"/>
              <a:t>unit_no</a:t>
            </a:r>
            <a:r>
              <a:rPr lang="en-US" sz="2400" dirty="0"/>
              <a:t> represents a distinct simulated engine, and each row represents that engine at one operating cycle with its operating settings and measurements. The training trajectories are complete run-to-failure histories, which allows us to retrospectively construct an RUL target for every training row. The test trajectories are truncated before failure, and a separate RUL file provides one ground truth value representing the remaining life for each test engine at its final observed cycle, which is used for final evaluation of a model. </a:t>
            </a:r>
          </a:p>
          <a:p>
            <a:pPr marL="0" indent="0">
              <a:buNone/>
            </a:pPr>
            <a:endParaRPr lang="en-US" sz="2400" dirty="0"/>
          </a:p>
          <a:p>
            <a:pPr marL="0" indent="0">
              <a:buNone/>
            </a:pPr>
            <a:r>
              <a:rPr lang="en-US" sz="2400" b="1" dirty="0"/>
              <a:t>Training gives complete run-to-failure trajectories for learning. Test gives truncated histories plus one hidden endpoint RUL target per engine for evaluation.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72446892"/>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B5504E7-629D-0B08-3B73-19B97454A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2D3F6-7C8C-7822-84F6-74DF1934AF6B}"/>
              </a:ext>
            </a:extLst>
          </p:cNvPr>
          <p:cNvSpPr>
            <a:spLocks noGrp="1"/>
          </p:cNvSpPr>
          <p:nvPr>
            <p:ph type="title"/>
          </p:nvPr>
        </p:nvSpPr>
        <p:spPr/>
        <p:txBody>
          <a:bodyPr>
            <a:normAutofit fontScale="90000"/>
          </a:bodyPr>
          <a:lstStyle/>
          <a:p>
            <a:r>
              <a:rPr lang="en-US" dirty="0"/>
              <a:t>How do the FD001 training data, test data, and test RUL labels differ, and how do they work together?</a:t>
            </a:r>
          </a:p>
        </p:txBody>
      </p:sp>
      <p:sp>
        <p:nvSpPr>
          <p:cNvPr id="3" name="Content Placeholder 2">
            <a:extLst>
              <a:ext uri="{FF2B5EF4-FFF2-40B4-BE49-F238E27FC236}">
                <a16:creationId xmlns:a16="http://schemas.microsoft.com/office/drawing/2014/main" id="{2F923FB9-E146-11B7-3983-CAAE07F5167A}"/>
              </a:ext>
            </a:extLst>
          </p:cNvPr>
          <p:cNvSpPr>
            <a:spLocks noGrp="1"/>
          </p:cNvSpPr>
          <p:nvPr>
            <p:ph idx="1"/>
          </p:nvPr>
        </p:nvSpPr>
        <p:spPr/>
        <p:txBody>
          <a:bodyPr/>
          <a:lstStyle/>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06C25B35-9C8A-F361-8269-BE49478B69F4}"/>
              </a:ext>
            </a:extLst>
          </p:cNvPr>
          <p:cNvPicPr>
            <a:picLocks noChangeAspect="1"/>
          </p:cNvPicPr>
          <p:nvPr/>
        </p:nvPicPr>
        <p:blipFill>
          <a:blip r:embed="rId3"/>
          <a:stretch>
            <a:fillRect/>
          </a:stretch>
        </p:blipFill>
        <p:spPr>
          <a:xfrm>
            <a:off x="2209800" y="2350533"/>
            <a:ext cx="7772400" cy="2156933"/>
          </a:xfrm>
          <a:prstGeom prst="rect">
            <a:avLst/>
          </a:prstGeom>
        </p:spPr>
      </p:pic>
    </p:spTree>
    <p:extLst>
      <p:ext uri="{BB962C8B-B14F-4D97-AF65-F5344CB8AC3E}">
        <p14:creationId xmlns:p14="http://schemas.microsoft.com/office/powerpoint/2010/main" val="1102530864"/>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3E4A1-2E0B-8D14-383A-F93B341D2EDB}"/>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E75F4ED8-C2DD-9603-44AD-F1CE6953D3B1}"/>
              </a:ext>
            </a:extLst>
          </p:cNvPr>
          <p:cNvSpPr>
            <a:spLocks noGrp="1"/>
          </p:cNvSpPr>
          <p:nvPr>
            <p:ph idx="1"/>
          </p:nvPr>
        </p:nvSpPr>
        <p:spPr/>
        <p:txBody>
          <a:bodyPr/>
          <a:lstStyle/>
          <a:p>
            <a:pPr marL="0" indent="0">
              <a:buNone/>
            </a:pPr>
            <a:r>
              <a:rPr lang="en-US" b="1" dirty="0"/>
              <a:t>Question #2:</a:t>
            </a:r>
            <a:r>
              <a:rPr lang="en-US" dirty="0"/>
              <a:t> How did you construct the training RUL target, and what checks confirmed that it was correct for every engine? </a:t>
            </a:r>
          </a:p>
        </p:txBody>
      </p:sp>
    </p:spTree>
    <p:extLst>
      <p:ext uri="{BB962C8B-B14F-4D97-AF65-F5344CB8AC3E}">
        <p14:creationId xmlns:p14="http://schemas.microsoft.com/office/powerpoint/2010/main" val="1329475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78D20-E439-3B63-598F-7AD3D147DA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05203C-C7BD-36CD-829A-ABED335EE759}"/>
              </a:ext>
            </a:extLst>
          </p:cNvPr>
          <p:cNvPicPr>
            <a:picLocks noChangeAspect="1"/>
          </p:cNvPicPr>
          <p:nvPr/>
        </p:nvPicPr>
        <p:blipFill>
          <a:blip r:embed="rId2"/>
          <a:stretch>
            <a:fillRect/>
          </a:stretch>
        </p:blipFill>
        <p:spPr>
          <a:xfrm>
            <a:off x="690155" y="362585"/>
            <a:ext cx="8192588" cy="5438610"/>
          </a:xfrm>
          <a:prstGeom prst="rect">
            <a:avLst/>
          </a:prstGeom>
        </p:spPr>
      </p:pic>
    </p:spTree>
    <p:extLst>
      <p:ext uri="{BB962C8B-B14F-4D97-AF65-F5344CB8AC3E}">
        <p14:creationId xmlns:p14="http://schemas.microsoft.com/office/powerpoint/2010/main" val="959277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99B47-84CA-8E71-DA6B-81988896A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8EAA3-CAE7-5BF5-705D-48E8F3DE959A}"/>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67B5D432-FB7A-3099-E2FC-4D02BC4148F3}"/>
              </a:ext>
            </a:extLst>
          </p:cNvPr>
          <p:cNvSpPr>
            <a:spLocks noGrp="1"/>
          </p:cNvSpPr>
          <p:nvPr>
            <p:ph idx="1"/>
          </p:nvPr>
        </p:nvSpPr>
        <p:spPr/>
        <p:txBody>
          <a:bodyPr>
            <a:normAutofit fontScale="92500" lnSpcReduction="20000"/>
          </a:bodyPr>
          <a:lstStyle/>
          <a:p>
            <a:pPr marL="0" indent="0">
              <a:buNone/>
            </a:pPr>
            <a:r>
              <a:rPr lang="en-US" b="1" dirty="0"/>
              <a:t>Answer #2: </a:t>
            </a:r>
            <a:r>
              <a:rPr lang="en-US" dirty="0"/>
              <a:t>For each engine, it was possible to find the final cycle of its life. From there, it was possible to make a simple calculation of: </a:t>
            </a:r>
          </a:p>
          <a:p>
            <a:pPr marL="0" indent="0">
              <a:buNone/>
            </a:pPr>
            <a:r>
              <a:rPr lang="en-US" b="1" dirty="0"/>
              <a:t>RUL = </a:t>
            </a:r>
            <a:r>
              <a:rPr lang="en-US" b="1" dirty="0" err="1"/>
              <a:t>final_cycle</a:t>
            </a:r>
            <a:r>
              <a:rPr lang="en-US" b="1" dirty="0"/>
              <a:t> – </a:t>
            </a:r>
            <a:r>
              <a:rPr lang="en-US" b="1" dirty="0" err="1"/>
              <a:t>current_cycle</a:t>
            </a:r>
            <a:endParaRPr lang="en-US" b="1" dirty="0"/>
          </a:p>
          <a:p>
            <a:pPr marL="0" indent="0">
              <a:buNone/>
            </a:pPr>
            <a:r>
              <a:rPr lang="en-US" dirty="0"/>
              <a:t>Then it was possible to make the following confirmations about the various rows associated with each engine:</a:t>
            </a:r>
          </a:p>
          <a:p>
            <a:r>
              <a:rPr lang="en-US" dirty="0"/>
              <a:t>The final observed cycle must have an RUL of 0</a:t>
            </a:r>
          </a:p>
          <a:p>
            <a:r>
              <a:rPr lang="en-US" dirty="0"/>
              <a:t>The first row’s should have an RUL of </a:t>
            </a:r>
            <a:r>
              <a:rPr lang="en-US" b="1" dirty="0" err="1"/>
              <a:t>final_cycle</a:t>
            </a:r>
            <a:r>
              <a:rPr lang="en-US" b="1" dirty="0"/>
              <a:t> – 1</a:t>
            </a:r>
          </a:p>
          <a:p>
            <a:r>
              <a:rPr lang="en-US" dirty="0"/>
              <a:t>RUL should decrease by exactly one after each cycle</a:t>
            </a:r>
          </a:p>
          <a:p>
            <a:r>
              <a:rPr lang="en-US" dirty="0"/>
              <a:t>Each engine should have the same number of unique RUL values as it has observed cycles</a:t>
            </a:r>
          </a:p>
          <a:p>
            <a:pPr marL="0" indent="0">
              <a:buNone/>
            </a:pPr>
            <a:r>
              <a:rPr lang="en-US" dirty="0"/>
              <a:t>Finally, it’s worth noting that </a:t>
            </a:r>
            <a:r>
              <a:rPr lang="en-US" dirty="0" err="1"/>
              <a:t>final_cycle</a:t>
            </a:r>
            <a:r>
              <a:rPr lang="en-US" dirty="0"/>
              <a:t> is useful for constructing a training target but cannot be used to make predictions.</a:t>
            </a:r>
          </a:p>
        </p:txBody>
      </p:sp>
    </p:spTree>
    <p:extLst>
      <p:ext uri="{BB962C8B-B14F-4D97-AF65-F5344CB8AC3E}">
        <p14:creationId xmlns:p14="http://schemas.microsoft.com/office/powerpoint/2010/main" val="1896609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E79B054-2798-B639-B19A-939EA0B2A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FB537-57DD-FA17-A9C9-01BD005B11D7}"/>
              </a:ext>
            </a:extLst>
          </p:cNvPr>
          <p:cNvSpPr>
            <a:spLocks noGrp="1"/>
          </p:cNvSpPr>
          <p:nvPr>
            <p:ph type="title"/>
          </p:nvPr>
        </p:nvSpPr>
        <p:spPr/>
        <p:txBody>
          <a:bodyPr>
            <a:normAutofit/>
          </a:bodyPr>
          <a:lstStyle/>
          <a:p>
            <a:r>
              <a:rPr lang="en-US" sz="3600" dirty="0"/>
              <a:t>How did you construct the training RUL target, and what checks confirmed that it was correct for every engine?</a:t>
            </a:r>
          </a:p>
        </p:txBody>
      </p:sp>
      <p:sp>
        <p:nvSpPr>
          <p:cNvPr id="3" name="Content Placeholder 2">
            <a:extLst>
              <a:ext uri="{FF2B5EF4-FFF2-40B4-BE49-F238E27FC236}">
                <a16:creationId xmlns:a16="http://schemas.microsoft.com/office/drawing/2014/main" id="{941A31B4-BCF7-DC3B-FA2B-E0BF622C34A6}"/>
              </a:ext>
            </a:extLst>
          </p:cNvPr>
          <p:cNvSpPr>
            <a:spLocks noGrp="1"/>
          </p:cNvSpPr>
          <p:nvPr>
            <p:ph idx="1"/>
          </p:nvPr>
        </p:nvSpPr>
        <p:spPr/>
        <p:txBody>
          <a:bodyPr>
            <a:normAutofit/>
          </a:bodyPr>
          <a:lstStyle/>
          <a:p>
            <a:pPr marL="0" indent="0">
              <a:buNone/>
            </a:pPr>
            <a:r>
              <a:rPr lang="en-US" dirty="0"/>
              <a:t>For each training engine, I computed its maximum observed cycle and used </a:t>
            </a:r>
            <a:r>
              <a:rPr lang="en-US" b="1" dirty="0"/>
              <a:t>RUL = </a:t>
            </a:r>
            <a:r>
              <a:rPr lang="en-US" b="1" dirty="0" err="1"/>
              <a:t>final_cycle</a:t>
            </a:r>
            <a:r>
              <a:rPr lang="en-US" b="1" dirty="0"/>
              <a:t> – </a:t>
            </a:r>
            <a:r>
              <a:rPr lang="en-US" b="1" dirty="0" err="1"/>
              <a:t>current_cycle</a:t>
            </a:r>
            <a:r>
              <a:rPr lang="en-US" dirty="0"/>
              <a:t>. I validated the target by confirming that every engine ended at RUL 0, was nonnegative, and decreased by exactly 1 per cycle. It is also worth noting that because every sequence started at cycle 1 and was consecutive, the number of RUL values matched its trajectory length. </a:t>
            </a:r>
            <a:r>
              <a:rPr lang="en-US" b="1" dirty="0" err="1"/>
              <a:t>final_cycle</a:t>
            </a:r>
            <a:r>
              <a:rPr lang="en-US" b="1" dirty="0"/>
              <a:t> </a:t>
            </a:r>
            <a:r>
              <a:rPr lang="en-US" dirty="0"/>
              <a:t>is useful for retrospective target construction because the training trajectories are complete, but it must be excluded from model inputs because it would leak future information at inference time. </a:t>
            </a:r>
          </a:p>
        </p:txBody>
      </p:sp>
    </p:spTree>
    <p:extLst>
      <p:ext uri="{BB962C8B-B14F-4D97-AF65-F5344CB8AC3E}">
        <p14:creationId xmlns:p14="http://schemas.microsoft.com/office/powerpoint/2010/main" val="3517450117"/>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317BEC5-7CF3-DF79-D00B-69DEA83805BF}"/>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AADF489-B1C9-6521-D3A3-66C335DDE575}"/>
              </a:ext>
            </a:extLst>
          </p:cNvPr>
          <p:cNvGraphicFramePr>
            <a:graphicFrameLocks noGrp="1"/>
          </p:cNvGraphicFramePr>
          <p:nvPr>
            <p:extLst>
              <p:ext uri="{D42A27DB-BD31-4B8C-83A1-F6EECF244321}">
                <p14:modId xmlns:p14="http://schemas.microsoft.com/office/powerpoint/2010/main" val="3214868517"/>
              </p:ext>
            </p:extLst>
          </p:nvPr>
        </p:nvGraphicFramePr>
        <p:xfrm>
          <a:off x="1718491" y="1546981"/>
          <a:ext cx="8127999" cy="29031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640495094"/>
                    </a:ext>
                  </a:extLst>
                </a:gridCol>
                <a:gridCol w="2709333">
                  <a:extLst>
                    <a:ext uri="{9D8B030D-6E8A-4147-A177-3AD203B41FA5}">
                      <a16:colId xmlns:a16="http://schemas.microsoft.com/office/drawing/2014/main" val="358660255"/>
                    </a:ext>
                  </a:extLst>
                </a:gridCol>
                <a:gridCol w="2709333">
                  <a:extLst>
                    <a:ext uri="{9D8B030D-6E8A-4147-A177-3AD203B41FA5}">
                      <a16:colId xmlns:a16="http://schemas.microsoft.com/office/drawing/2014/main" val="2828893717"/>
                    </a:ext>
                  </a:extLst>
                </a:gridCol>
              </a:tblGrid>
              <a:tr h="580620">
                <a:tc>
                  <a:txBody>
                    <a:bodyPr/>
                    <a:lstStyle/>
                    <a:p>
                      <a:r>
                        <a:rPr lang="en-US" dirty="0"/>
                        <a:t>cycle</a:t>
                      </a:r>
                    </a:p>
                  </a:txBody>
                  <a:tcPr/>
                </a:tc>
                <a:tc>
                  <a:txBody>
                    <a:bodyPr/>
                    <a:lstStyle/>
                    <a:p>
                      <a:r>
                        <a:rPr lang="en-US" dirty="0" err="1"/>
                        <a:t>final_cycle</a:t>
                      </a:r>
                      <a:endParaRPr lang="en-US" dirty="0"/>
                    </a:p>
                  </a:txBody>
                  <a:tcPr/>
                </a:tc>
                <a:tc>
                  <a:txBody>
                    <a:bodyPr/>
                    <a:lstStyle/>
                    <a:p>
                      <a:r>
                        <a:rPr lang="en-US" dirty="0"/>
                        <a:t>RUL</a:t>
                      </a:r>
                    </a:p>
                  </a:txBody>
                  <a:tcPr/>
                </a:tc>
                <a:extLst>
                  <a:ext uri="{0D108BD9-81ED-4DB2-BD59-A6C34878D82A}">
                    <a16:rowId xmlns:a16="http://schemas.microsoft.com/office/drawing/2014/main" val="205663065"/>
                  </a:ext>
                </a:extLst>
              </a:tr>
              <a:tr h="580620">
                <a:tc>
                  <a:txBody>
                    <a:bodyPr/>
                    <a:lstStyle/>
                    <a:p>
                      <a:r>
                        <a:rPr lang="en-US" dirty="0"/>
                        <a:t>1</a:t>
                      </a:r>
                    </a:p>
                  </a:txBody>
                  <a:tcPr/>
                </a:tc>
                <a:tc>
                  <a:txBody>
                    <a:bodyPr/>
                    <a:lstStyle/>
                    <a:p>
                      <a:r>
                        <a:rPr lang="en-US" dirty="0"/>
                        <a:t>4</a:t>
                      </a:r>
                    </a:p>
                  </a:txBody>
                  <a:tcPr/>
                </a:tc>
                <a:tc>
                  <a:txBody>
                    <a:bodyPr/>
                    <a:lstStyle/>
                    <a:p>
                      <a:r>
                        <a:rPr lang="en-US" dirty="0"/>
                        <a:t>3</a:t>
                      </a:r>
                    </a:p>
                  </a:txBody>
                  <a:tcPr/>
                </a:tc>
                <a:extLst>
                  <a:ext uri="{0D108BD9-81ED-4DB2-BD59-A6C34878D82A}">
                    <a16:rowId xmlns:a16="http://schemas.microsoft.com/office/drawing/2014/main" val="2562490732"/>
                  </a:ext>
                </a:extLst>
              </a:tr>
              <a:tr h="580620">
                <a:tc>
                  <a:txBody>
                    <a:bodyPr/>
                    <a:lstStyle/>
                    <a:p>
                      <a:r>
                        <a:rPr lang="en-US" dirty="0"/>
                        <a:t>2</a:t>
                      </a:r>
                    </a:p>
                  </a:txBody>
                  <a:tcPr/>
                </a:tc>
                <a:tc>
                  <a:txBody>
                    <a:bodyPr/>
                    <a:lstStyle/>
                    <a:p>
                      <a:r>
                        <a:rPr lang="en-US" dirty="0"/>
                        <a:t>4</a:t>
                      </a:r>
                    </a:p>
                  </a:txBody>
                  <a:tcPr/>
                </a:tc>
                <a:tc>
                  <a:txBody>
                    <a:bodyPr/>
                    <a:lstStyle/>
                    <a:p>
                      <a:r>
                        <a:rPr lang="en-US" dirty="0"/>
                        <a:t>2</a:t>
                      </a:r>
                    </a:p>
                  </a:txBody>
                  <a:tcPr/>
                </a:tc>
                <a:extLst>
                  <a:ext uri="{0D108BD9-81ED-4DB2-BD59-A6C34878D82A}">
                    <a16:rowId xmlns:a16="http://schemas.microsoft.com/office/drawing/2014/main" val="3589013084"/>
                  </a:ext>
                </a:extLst>
              </a:tr>
              <a:tr h="580620">
                <a:tc>
                  <a:txBody>
                    <a:bodyPr/>
                    <a:lstStyle/>
                    <a:p>
                      <a:r>
                        <a:rPr lang="en-US" dirty="0"/>
                        <a:t>3</a:t>
                      </a:r>
                    </a:p>
                  </a:txBody>
                  <a:tcPr/>
                </a:tc>
                <a:tc>
                  <a:txBody>
                    <a:bodyPr/>
                    <a:lstStyle/>
                    <a:p>
                      <a:r>
                        <a:rPr lang="en-US" dirty="0"/>
                        <a:t>4</a:t>
                      </a:r>
                    </a:p>
                  </a:txBody>
                  <a:tcPr/>
                </a:tc>
                <a:tc>
                  <a:txBody>
                    <a:bodyPr/>
                    <a:lstStyle/>
                    <a:p>
                      <a:r>
                        <a:rPr lang="en-US" dirty="0"/>
                        <a:t>1</a:t>
                      </a:r>
                    </a:p>
                  </a:txBody>
                  <a:tcPr/>
                </a:tc>
                <a:extLst>
                  <a:ext uri="{0D108BD9-81ED-4DB2-BD59-A6C34878D82A}">
                    <a16:rowId xmlns:a16="http://schemas.microsoft.com/office/drawing/2014/main" val="3381916081"/>
                  </a:ext>
                </a:extLst>
              </a:tr>
              <a:tr h="580620">
                <a:tc>
                  <a:txBody>
                    <a:bodyPr/>
                    <a:lstStyle/>
                    <a:p>
                      <a:r>
                        <a:rPr lang="en-US" dirty="0"/>
                        <a:t>4</a:t>
                      </a:r>
                    </a:p>
                  </a:txBody>
                  <a:tcPr/>
                </a:tc>
                <a:tc>
                  <a:txBody>
                    <a:bodyPr/>
                    <a:lstStyle/>
                    <a:p>
                      <a:r>
                        <a:rPr lang="en-US" dirty="0"/>
                        <a:t>4</a:t>
                      </a:r>
                    </a:p>
                  </a:txBody>
                  <a:tcPr/>
                </a:tc>
                <a:tc>
                  <a:txBody>
                    <a:bodyPr/>
                    <a:lstStyle/>
                    <a:p>
                      <a:r>
                        <a:rPr lang="en-US" dirty="0"/>
                        <a:t>0</a:t>
                      </a:r>
                    </a:p>
                  </a:txBody>
                  <a:tcPr/>
                </a:tc>
                <a:extLst>
                  <a:ext uri="{0D108BD9-81ED-4DB2-BD59-A6C34878D82A}">
                    <a16:rowId xmlns:a16="http://schemas.microsoft.com/office/drawing/2014/main" val="3695549257"/>
                  </a:ext>
                </a:extLst>
              </a:tr>
            </a:tbl>
          </a:graphicData>
        </a:graphic>
      </p:graphicFrame>
    </p:spTree>
    <p:extLst>
      <p:ext uri="{BB962C8B-B14F-4D97-AF65-F5344CB8AC3E}">
        <p14:creationId xmlns:p14="http://schemas.microsoft.com/office/powerpoint/2010/main" val="1012105076"/>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C86A6-C75A-0344-561E-4B460869E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1F500-61AF-798F-5E3B-A2544EB38EA7}"/>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20EBDF34-8E4D-CAE2-776E-DFE7E5EB4B15}"/>
              </a:ext>
            </a:extLst>
          </p:cNvPr>
          <p:cNvSpPr>
            <a:spLocks noGrp="1"/>
          </p:cNvSpPr>
          <p:nvPr>
            <p:ph idx="1"/>
          </p:nvPr>
        </p:nvSpPr>
        <p:spPr/>
        <p:txBody>
          <a:bodyPr/>
          <a:lstStyle/>
          <a:p>
            <a:pPr marL="0" indent="0">
              <a:buNone/>
            </a:pPr>
            <a:r>
              <a:rPr lang="en-US" b="1" dirty="0"/>
              <a:t>Question #3:</a:t>
            </a:r>
            <a:r>
              <a:rPr lang="en-US" dirty="0"/>
              <a:t> What sequence-integrity checks did you perform, and why are they necessary before modeling time-series engine data? </a:t>
            </a:r>
          </a:p>
        </p:txBody>
      </p:sp>
    </p:spTree>
    <p:extLst>
      <p:ext uri="{BB962C8B-B14F-4D97-AF65-F5344CB8AC3E}">
        <p14:creationId xmlns:p14="http://schemas.microsoft.com/office/powerpoint/2010/main" val="3826680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9ABB-6990-92E7-7242-BADE761BB9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12C9C-7FC6-BA10-1CEF-C13D22ED69C5}"/>
              </a:ext>
            </a:extLst>
          </p:cNvPr>
          <p:cNvSpPr>
            <a:spLocks noGrp="1"/>
          </p:cNvSpPr>
          <p:nvPr>
            <p:ph idx="1"/>
          </p:nvPr>
        </p:nvSpPr>
        <p:spPr/>
        <p:txBody>
          <a:bodyPr/>
          <a:lstStyle/>
          <a:p>
            <a:pPr marL="0" indent="0">
              <a:buNone/>
            </a:pPr>
            <a:r>
              <a:rPr lang="en-US" dirty="0"/>
              <a:t> </a:t>
            </a:r>
          </a:p>
        </p:txBody>
      </p:sp>
      <p:pic>
        <p:nvPicPr>
          <p:cNvPr id="4" name="Picture 3">
            <a:extLst>
              <a:ext uri="{FF2B5EF4-FFF2-40B4-BE49-F238E27FC236}">
                <a16:creationId xmlns:a16="http://schemas.microsoft.com/office/drawing/2014/main" id="{E85C29C0-1B25-5B84-2E3D-74E06ED59362}"/>
              </a:ext>
            </a:extLst>
          </p:cNvPr>
          <p:cNvPicPr>
            <a:picLocks noChangeAspect="1"/>
          </p:cNvPicPr>
          <p:nvPr/>
        </p:nvPicPr>
        <p:blipFill>
          <a:blip r:embed="rId2"/>
          <a:stretch>
            <a:fillRect/>
          </a:stretch>
        </p:blipFill>
        <p:spPr>
          <a:xfrm>
            <a:off x="992776" y="681037"/>
            <a:ext cx="8300853" cy="4474437"/>
          </a:xfrm>
          <a:prstGeom prst="rect">
            <a:avLst/>
          </a:prstGeom>
        </p:spPr>
      </p:pic>
    </p:spTree>
    <p:extLst>
      <p:ext uri="{BB962C8B-B14F-4D97-AF65-F5344CB8AC3E}">
        <p14:creationId xmlns:p14="http://schemas.microsoft.com/office/powerpoint/2010/main" val="40759251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16C69-C381-08E1-95C8-F17F570C3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99BCC-7681-05F6-CDF6-592E09578AAF}"/>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47A7AC43-441C-0138-0D22-A6F3A510902B}"/>
              </a:ext>
            </a:extLst>
          </p:cNvPr>
          <p:cNvSpPr>
            <a:spLocks noGrp="1"/>
          </p:cNvSpPr>
          <p:nvPr>
            <p:ph idx="1"/>
          </p:nvPr>
        </p:nvSpPr>
        <p:spPr/>
        <p:txBody>
          <a:bodyPr/>
          <a:lstStyle/>
          <a:p>
            <a:pPr marL="0" indent="0">
              <a:buNone/>
            </a:pPr>
            <a:r>
              <a:rPr lang="en-US" b="1" dirty="0"/>
              <a:t>Answer #3: </a:t>
            </a:r>
            <a:r>
              <a:rPr lang="en-US" dirty="0"/>
              <a:t>For each training engine, I confirmed that all cycle numbers were unique (i.e., for the entire dataset all combinations of </a:t>
            </a:r>
            <a:r>
              <a:rPr lang="en-US" b="1" dirty="0"/>
              <a:t>(</a:t>
            </a:r>
            <a:r>
              <a:rPr lang="en-US" b="1" dirty="0" err="1"/>
              <a:t>unit_no</a:t>
            </a:r>
            <a:r>
              <a:rPr lang="en-US" b="1" dirty="0"/>
              <a:t>, cycle) </a:t>
            </a:r>
            <a:r>
              <a:rPr lang="en-US" dirty="0"/>
              <a:t>only appeared once). I confirmed that all cycles started at 1 and were both ordered and consecutive for each engine. There were also no missing cycles in the dataset. There was one complete lifecycle per training engine and one truncated lifecycle per test engine. In my EDA I tried to embody the fact that temporal feature engineering is only reliable when the underlying sequence is reliable. </a:t>
            </a:r>
          </a:p>
        </p:txBody>
      </p:sp>
    </p:spTree>
    <p:extLst>
      <p:ext uri="{BB962C8B-B14F-4D97-AF65-F5344CB8AC3E}">
        <p14:creationId xmlns:p14="http://schemas.microsoft.com/office/powerpoint/2010/main" val="161836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88DFFA5-F79E-E580-8E52-E66E23A3E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539C3-0A7D-B325-6DA0-19198B89C940}"/>
              </a:ext>
            </a:extLst>
          </p:cNvPr>
          <p:cNvSpPr>
            <a:spLocks noGrp="1"/>
          </p:cNvSpPr>
          <p:nvPr>
            <p:ph type="title"/>
          </p:nvPr>
        </p:nvSpPr>
        <p:spPr/>
        <p:txBody>
          <a:bodyPr>
            <a:noAutofit/>
          </a:bodyPr>
          <a:lstStyle/>
          <a:p>
            <a:r>
              <a:rPr lang="en-US" sz="3200" dirty="0"/>
              <a:t>What sequence-integrity checks did you perform, and why are they necessary before modeling time-series engine data?</a:t>
            </a:r>
          </a:p>
        </p:txBody>
      </p:sp>
      <p:sp>
        <p:nvSpPr>
          <p:cNvPr id="3" name="Content Placeholder 2">
            <a:extLst>
              <a:ext uri="{FF2B5EF4-FFF2-40B4-BE49-F238E27FC236}">
                <a16:creationId xmlns:a16="http://schemas.microsoft.com/office/drawing/2014/main" id="{57522162-A683-6750-2D16-C0FCF1598DFB}"/>
              </a:ext>
            </a:extLst>
          </p:cNvPr>
          <p:cNvSpPr>
            <a:spLocks noGrp="1"/>
          </p:cNvSpPr>
          <p:nvPr>
            <p:ph idx="1"/>
          </p:nvPr>
        </p:nvSpPr>
        <p:spPr/>
        <p:txBody>
          <a:bodyPr/>
          <a:lstStyle/>
          <a:p>
            <a:pPr marL="0" indent="0">
              <a:buNone/>
            </a:pPr>
            <a:r>
              <a:rPr lang="en-US" dirty="0"/>
              <a:t>I verified that every </a:t>
            </a:r>
            <a:r>
              <a:rPr lang="en-US" b="1" dirty="0"/>
              <a:t>(</a:t>
            </a:r>
            <a:r>
              <a:rPr lang="en-US" b="1" dirty="0" err="1"/>
              <a:t>unit_no</a:t>
            </a:r>
            <a:r>
              <a:rPr lang="en-US" b="1" dirty="0"/>
              <a:t>, cycle) </a:t>
            </a:r>
            <a:r>
              <a:rPr lang="en-US" dirty="0"/>
              <a:t>pair was unique, each engine started at cycle 1, cycle numbers were ordered and consecutive with no gaps, and each engine’s row count matched its observed cycle span. These checks matter because lag, difference, rolling, and slope features only have valid temporal meaning if the underlying sequence is complete and correctly ordered. They also establish that temporal operations must be performed within each </a:t>
            </a:r>
            <a:r>
              <a:rPr lang="en-US" b="1" dirty="0" err="1"/>
              <a:t>unit_no</a:t>
            </a:r>
            <a:r>
              <a:rPr lang="en-US" dirty="0"/>
              <a:t> so history from one engine never spills into another. </a:t>
            </a:r>
          </a:p>
        </p:txBody>
      </p:sp>
    </p:spTree>
    <p:extLst>
      <p:ext uri="{BB962C8B-B14F-4D97-AF65-F5344CB8AC3E}">
        <p14:creationId xmlns:p14="http://schemas.microsoft.com/office/powerpoint/2010/main" val="3593623627"/>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38EB332C-810F-B95C-E1FD-AEEB53550B1D}"/>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6B44D7AF-5211-A6B7-3999-5AEF09D72855}"/>
              </a:ext>
            </a:extLst>
          </p:cNvPr>
          <p:cNvGraphicFramePr>
            <a:graphicFrameLocks noGrp="1"/>
          </p:cNvGraphicFramePr>
          <p:nvPr>
            <p:extLst>
              <p:ext uri="{D42A27DB-BD31-4B8C-83A1-F6EECF244321}">
                <p14:modId xmlns:p14="http://schemas.microsoft.com/office/powerpoint/2010/main" val="1913569309"/>
              </p:ext>
            </p:extLst>
          </p:nvPr>
        </p:nvGraphicFramePr>
        <p:xfrm>
          <a:off x="2441303" y="1268305"/>
          <a:ext cx="5361578" cy="2955354"/>
        </p:xfrm>
        <a:graphic>
          <a:graphicData uri="http://schemas.openxmlformats.org/drawingml/2006/table">
            <a:tbl>
              <a:tblPr firstRow="1" bandRow="1">
                <a:tableStyleId>{5C22544A-7EE6-4342-B048-85BDC9FD1C3A}</a:tableStyleId>
              </a:tblPr>
              <a:tblGrid>
                <a:gridCol w="2680789">
                  <a:extLst>
                    <a:ext uri="{9D8B030D-6E8A-4147-A177-3AD203B41FA5}">
                      <a16:colId xmlns:a16="http://schemas.microsoft.com/office/drawing/2014/main" val="2357248767"/>
                    </a:ext>
                  </a:extLst>
                </a:gridCol>
                <a:gridCol w="2680789">
                  <a:extLst>
                    <a:ext uri="{9D8B030D-6E8A-4147-A177-3AD203B41FA5}">
                      <a16:colId xmlns:a16="http://schemas.microsoft.com/office/drawing/2014/main" val="1464731027"/>
                    </a:ext>
                  </a:extLst>
                </a:gridCol>
              </a:tblGrid>
              <a:tr h="492559">
                <a:tc>
                  <a:txBody>
                    <a:bodyPr/>
                    <a:lstStyle/>
                    <a:p>
                      <a:r>
                        <a:rPr lang="en-US" dirty="0"/>
                        <a:t>Valid</a:t>
                      </a:r>
                    </a:p>
                  </a:txBody>
                  <a:tcPr/>
                </a:tc>
                <a:tc>
                  <a:txBody>
                    <a:bodyPr/>
                    <a:lstStyle/>
                    <a:p>
                      <a:r>
                        <a:rPr lang="en-US" dirty="0"/>
                        <a:t>Invalid</a:t>
                      </a:r>
                    </a:p>
                  </a:txBody>
                  <a:tcPr/>
                </a:tc>
                <a:extLst>
                  <a:ext uri="{0D108BD9-81ED-4DB2-BD59-A6C34878D82A}">
                    <a16:rowId xmlns:a16="http://schemas.microsoft.com/office/drawing/2014/main" val="3337637232"/>
                  </a:ext>
                </a:extLst>
              </a:tr>
              <a:tr h="492559">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102786214"/>
                  </a:ext>
                </a:extLst>
              </a:tr>
              <a:tr h="492559">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3611262437"/>
                  </a:ext>
                </a:extLst>
              </a:tr>
              <a:tr h="492559">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357180641"/>
                  </a:ext>
                </a:extLst>
              </a:tr>
              <a:tr h="492559">
                <a:tc>
                  <a:txBody>
                    <a:bodyPr/>
                    <a:lstStyle/>
                    <a:p>
                      <a:r>
                        <a:rPr lang="en-US" dirty="0"/>
                        <a:t>4</a:t>
                      </a:r>
                    </a:p>
                  </a:txBody>
                  <a:tcPr/>
                </a:tc>
                <a:tc>
                  <a:txBody>
                    <a:bodyPr/>
                    <a:lstStyle/>
                    <a:p>
                      <a:r>
                        <a:rPr lang="en-US" dirty="0"/>
                        <a:t>4</a:t>
                      </a:r>
                    </a:p>
                  </a:txBody>
                  <a:tcPr/>
                </a:tc>
                <a:extLst>
                  <a:ext uri="{0D108BD9-81ED-4DB2-BD59-A6C34878D82A}">
                    <a16:rowId xmlns:a16="http://schemas.microsoft.com/office/drawing/2014/main" val="3073204701"/>
                  </a:ext>
                </a:extLst>
              </a:tr>
              <a:tr h="492559">
                <a:tc>
                  <a:txBody>
                    <a:bodyPr/>
                    <a:lstStyle/>
                    <a:p>
                      <a:r>
                        <a:rPr lang="en-US" dirty="0"/>
                        <a:t>5</a:t>
                      </a:r>
                    </a:p>
                  </a:txBody>
                  <a:tcPr/>
                </a:tc>
                <a:tc>
                  <a:txBody>
                    <a:bodyPr/>
                    <a:lstStyle/>
                    <a:p>
                      <a:r>
                        <a:rPr lang="en-US" dirty="0"/>
                        <a:t>5</a:t>
                      </a:r>
                    </a:p>
                  </a:txBody>
                  <a:tcPr/>
                </a:tc>
                <a:extLst>
                  <a:ext uri="{0D108BD9-81ED-4DB2-BD59-A6C34878D82A}">
                    <a16:rowId xmlns:a16="http://schemas.microsoft.com/office/drawing/2014/main" val="3257911481"/>
                  </a:ext>
                </a:extLst>
              </a:tr>
            </a:tbl>
          </a:graphicData>
        </a:graphic>
      </p:graphicFrame>
    </p:spTree>
    <p:extLst>
      <p:ext uri="{BB962C8B-B14F-4D97-AF65-F5344CB8AC3E}">
        <p14:creationId xmlns:p14="http://schemas.microsoft.com/office/powerpoint/2010/main" val="3484935127"/>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E7790-98AE-ABE4-6452-541C0CB39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52D1D-1A70-7A03-8C5B-396C0A48728D}"/>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256FB8DC-6C24-5C40-1965-AD4DE70B2A4C}"/>
              </a:ext>
            </a:extLst>
          </p:cNvPr>
          <p:cNvSpPr>
            <a:spLocks noGrp="1"/>
          </p:cNvSpPr>
          <p:nvPr>
            <p:ph idx="1"/>
          </p:nvPr>
        </p:nvSpPr>
        <p:spPr/>
        <p:txBody>
          <a:bodyPr/>
          <a:lstStyle/>
          <a:p>
            <a:pPr marL="0" indent="0">
              <a:buNone/>
            </a:pPr>
            <a:r>
              <a:rPr lang="en-US" b="1" dirty="0"/>
              <a:t>Question #4: </a:t>
            </a:r>
            <a:r>
              <a:rPr lang="en-US" dirty="0"/>
              <a:t>What data-quality checks did you perform, what did you find, and why was it important not to “clean” legitimate degradation behavior?  </a:t>
            </a:r>
          </a:p>
        </p:txBody>
      </p:sp>
    </p:spTree>
    <p:extLst>
      <p:ext uri="{BB962C8B-B14F-4D97-AF65-F5344CB8AC3E}">
        <p14:creationId xmlns:p14="http://schemas.microsoft.com/office/powerpoint/2010/main" val="4131686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845D-A11B-2BB3-472F-D5D5E35D16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0C9BAAD-EA64-B164-4427-50E90A1EBE4F}"/>
              </a:ext>
            </a:extLst>
          </p:cNvPr>
          <p:cNvPicPr>
            <a:picLocks noChangeAspect="1"/>
          </p:cNvPicPr>
          <p:nvPr/>
        </p:nvPicPr>
        <p:blipFill>
          <a:blip r:embed="rId2"/>
          <a:stretch>
            <a:fillRect/>
          </a:stretch>
        </p:blipFill>
        <p:spPr>
          <a:xfrm>
            <a:off x="1497874" y="768315"/>
            <a:ext cx="7741920" cy="5321369"/>
          </a:xfrm>
          <a:prstGeom prst="rect">
            <a:avLst/>
          </a:prstGeom>
        </p:spPr>
      </p:pic>
    </p:spTree>
    <p:extLst>
      <p:ext uri="{BB962C8B-B14F-4D97-AF65-F5344CB8AC3E}">
        <p14:creationId xmlns:p14="http://schemas.microsoft.com/office/powerpoint/2010/main" val="225461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3170C-44E6-755A-272B-C23FFCD6D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39E59-1796-B71A-7D00-CEE512C84B2B}"/>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7FDC75BA-C7CB-3AD7-323E-F391312B9F11}"/>
              </a:ext>
            </a:extLst>
          </p:cNvPr>
          <p:cNvSpPr>
            <a:spLocks noGrp="1"/>
          </p:cNvSpPr>
          <p:nvPr>
            <p:ph idx="1"/>
          </p:nvPr>
        </p:nvSpPr>
        <p:spPr/>
        <p:txBody>
          <a:bodyPr/>
          <a:lstStyle/>
          <a:p>
            <a:pPr marL="0" indent="0">
              <a:buNone/>
            </a:pPr>
            <a:r>
              <a:rPr lang="en-US" b="1" dirty="0"/>
              <a:t>Answer #4: </a:t>
            </a:r>
            <a:r>
              <a:rPr lang="en-US" dirty="0"/>
              <a:t>I confirmed there were no infinite values, no null values, no mismatched datatypes, and no extreme outliers. In analyzing the data there were some statistical outliers that were found, but these could be regarded as legitimate possible associators with degradation behavior (i.e., when statistical outliers come up in readings a failure is likely near). Cleaning these would likely reduce a model’s predictive capabilities.</a:t>
            </a:r>
          </a:p>
        </p:txBody>
      </p:sp>
    </p:spTree>
    <p:extLst>
      <p:ext uri="{BB962C8B-B14F-4D97-AF65-F5344CB8AC3E}">
        <p14:creationId xmlns:p14="http://schemas.microsoft.com/office/powerpoint/2010/main" val="7527950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5B84B917-94BC-07D8-D3BE-8985292B1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91CB7-B6C3-899A-A180-6719C6297194}"/>
              </a:ext>
            </a:extLst>
          </p:cNvPr>
          <p:cNvSpPr>
            <a:spLocks noGrp="1"/>
          </p:cNvSpPr>
          <p:nvPr>
            <p:ph type="title"/>
          </p:nvPr>
        </p:nvSpPr>
        <p:spPr/>
        <p:txBody>
          <a:bodyPr>
            <a:noAutofit/>
          </a:bodyPr>
          <a:lstStyle/>
          <a:p>
            <a:r>
              <a:rPr lang="en-US" sz="2800" dirty="0"/>
              <a:t>What data-quality checks did you perform, what did you find, and why was it important not to “clean” legitimate degradation behavior?</a:t>
            </a:r>
          </a:p>
        </p:txBody>
      </p:sp>
      <p:sp>
        <p:nvSpPr>
          <p:cNvPr id="3" name="Content Placeholder 2">
            <a:extLst>
              <a:ext uri="{FF2B5EF4-FFF2-40B4-BE49-F238E27FC236}">
                <a16:creationId xmlns:a16="http://schemas.microsoft.com/office/drawing/2014/main" id="{236BBFE7-BF60-1F86-E29D-D3F940FB7218}"/>
              </a:ext>
            </a:extLst>
          </p:cNvPr>
          <p:cNvSpPr>
            <a:spLocks noGrp="1"/>
          </p:cNvSpPr>
          <p:nvPr>
            <p:ph idx="1"/>
          </p:nvPr>
        </p:nvSpPr>
        <p:spPr/>
        <p:txBody>
          <a:bodyPr/>
          <a:lstStyle/>
          <a:p>
            <a:pPr marL="0" indent="0">
              <a:buNone/>
            </a:pPr>
            <a:r>
              <a:rPr lang="en-US" dirty="0"/>
              <a:t>I audited missing values, infinite values, duplicates, datatype consistency, descriptive ranges, and extreme observations. The dataset had no missing or infinite values, no exact duplicates, and consistent train/test datatypes. I found no evidence of corrupted measurements that required generic cleaning. I deliberately avoided automatic outlier removal because statistically extreme sensor values may be legitimate manifestations of degradation, so deleting them without evidence could remove useful predictive signal.</a:t>
            </a:r>
          </a:p>
        </p:txBody>
      </p:sp>
    </p:spTree>
    <p:extLst>
      <p:ext uri="{BB962C8B-B14F-4D97-AF65-F5344CB8AC3E}">
        <p14:creationId xmlns:p14="http://schemas.microsoft.com/office/powerpoint/2010/main" val="525879401"/>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F8A8249C-F9C0-4DB1-44ED-BC795A757B9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1CB5B1D-5973-CCE6-B2C9-8FDE1BF47120}"/>
              </a:ext>
            </a:extLst>
          </p:cNvPr>
          <p:cNvPicPr>
            <a:picLocks noChangeAspect="1"/>
          </p:cNvPicPr>
          <p:nvPr/>
        </p:nvPicPr>
        <p:blipFill>
          <a:blip r:embed="rId3"/>
          <a:stretch>
            <a:fillRect/>
          </a:stretch>
        </p:blipFill>
        <p:spPr>
          <a:xfrm>
            <a:off x="3098800" y="1803400"/>
            <a:ext cx="5994400" cy="3251200"/>
          </a:xfrm>
          <a:prstGeom prst="rect">
            <a:avLst/>
          </a:prstGeom>
        </p:spPr>
      </p:pic>
    </p:spTree>
    <p:extLst>
      <p:ext uri="{BB962C8B-B14F-4D97-AF65-F5344CB8AC3E}">
        <p14:creationId xmlns:p14="http://schemas.microsoft.com/office/powerpoint/2010/main" val="1193547693"/>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64342-E62D-6CCD-5C2E-AEF342BC9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98C5B-0B0C-5A81-4625-AF72F3B924BD}"/>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801D30D1-089C-DDF2-9FBE-28D2FCE8387D}"/>
              </a:ext>
            </a:extLst>
          </p:cNvPr>
          <p:cNvSpPr>
            <a:spLocks noGrp="1"/>
          </p:cNvSpPr>
          <p:nvPr>
            <p:ph idx="1"/>
          </p:nvPr>
        </p:nvSpPr>
        <p:spPr/>
        <p:txBody>
          <a:bodyPr/>
          <a:lstStyle/>
          <a:p>
            <a:pPr marL="0" indent="0">
              <a:buNone/>
            </a:pPr>
            <a:r>
              <a:rPr lang="en-US" b="1" dirty="0"/>
              <a:t>Question #5: </a:t>
            </a:r>
            <a:r>
              <a:rPr lang="en-US" dirty="0"/>
              <a:t>How did you identify constant and near-constant features, and how did those findings affect the feature plan?  </a:t>
            </a:r>
          </a:p>
        </p:txBody>
      </p:sp>
    </p:spTree>
    <p:extLst>
      <p:ext uri="{BB962C8B-B14F-4D97-AF65-F5344CB8AC3E}">
        <p14:creationId xmlns:p14="http://schemas.microsoft.com/office/powerpoint/2010/main" val="3771799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84F4B-CA51-397A-C669-00ABE02AA21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1D4F82-39AE-ACEB-ED95-59593A2249EA}"/>
              </a:ext>
            </a:extLst>
          </p:cNvPr>
          <p:cNvPicPr>
            <a:picLocks noChangeAspect="1"/>
          </p:cNvPicPr>
          <p:nvPr/>
        </p:nvPicPr>
        <p:blipFill>
          <a:blip r:embed="rId2"/>
          <a:stretch>
            <a:fillRect/>
          </a:stretch>
        </p:blipFill>
        <p:spPr>
          <a:xfrm>
            <a:off x="940527" y="416839"/>
            <a:ext cx="9306956" cy="4991184"/>
          </a:xfrm>
          <a:prstGeom prst="rect">
            <a:avLst/>
          </a:prstGeom>
        </p:spPr>
      </p:pic>
    </p:spTree>
    <p:extLst>
      <p:ext uri="{BB962C8B-B14F-4D97-AF65-F5344CB8AC3E}">
        <p14:creationId xmlns:p14="http://schemas.microsoft.com/office/powerpoint/2010/main" val="3967486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2C27-4C72-DC6A-50B6-43B278BB3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1B9F2-DDE2-A226-58B7-039A6F2A5475}"/>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DBACF9AE-89E6-6B50-71E9-C5A1E4BF1B01}"/>
              </a:ext>
            </a:extLst>
          </p:cNvPr>
          <p:cNvSpPr>
            <a:spLocks noGrp="1"/>
          </p:cNvSpPr>
          <p:nvPr>
            <p:ph idx="1"/>
          </p:nvPr>
        </p:nvSpPr>
        <p:spPr/>
        <p:txBody>
          <a:bodyPr/>
          <a:lstStyle/>
          <a:p>
            <a:pPr marL="0" indent="0">
              <a:buNone/>
            </a:pPr>
            <a:r>
              <a:rPr lang="en-US" b="1" dirty="0"/>
              <a:t>Answer #5: </a:t>
            </a:r>
            <a:r>
              <a:rPr lang="en-US" dirty="0"/>
              <a:t>To identify constant and near-constant features, I used a combination of graphs and statistical summaries. Graphs that showed a flat line as a function of cycle number were regarded as constant features. And in statistical summaries anything with a standard deviation of 0 or near 0 was regarded as a constant feature. All exactly constant features were removed from consideration as they contributed no useful information for making predictions. The near-constant feature (there was just one of them) was left in, as an experiment would be needed to confirm if it doesn’t contribute meaningful information to prediction.</a:t>
            </a:r>
          </a:p>
        </p:txBody>
      </p:sp>
    </p:spTree>
    <p:extLst>
      <p:ext uri="{BB962C8B-B14F-4D97-AF65-F5344CB8AC3E}">
        <p14:creationId xmlns:p14="http://schemas.microsoft.com/office/powerpoint/2010/main" val="42461808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E461A1F3-2156-E6BC-AFEB-7F10AF7CC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407EE-7CAD-4D8E-1422-5F4801BE9C00}"/>
              </a:ext>
            </a:extLst>
          </p:cNvPr>
          <p:cNvSpPr>
            <a:spLocks noGrp="1"/>
          </p:cNvSpPr>
          <p:nvPr>
            <p:ph type="title"/>
          </p:nvPr>
        </p:nvSpPr>
        <p:spPr/>
        <p:txBody>
          <a:bodyPr>
            <a:normAutofit/>
          </a:bodyPr>
          <a:lstStyle/>
          <a:p>
            <a:r>
              <a:rPr lang="en-US" sz="3200" dirty="0"/>
              <a:t>How did you identify constant and near-constant features, and how did those findings affect the feature plan?</a:t>
            </a:r>
          </a:p>
        </p:txBody>
      </p:sp>
      <p:sp>
        <p:nvSpPr>
          <p:cNvPr id="3" name="Content Placeholder 2">
            <a:extLst>
              <a:ext uri="{FF2B5EF4-FFF2-40B4-BE49-F238E27FC236}">
                <a16:creationId xmlns:a16="http://schemas.microsoft.com/office/drawing/2014/main" id="{3E251569-EF0A-B455-DB83-CEF0064E00DA}"/>
              </a:ext>
            </a:extLst>
          </p:cNvPr>
          <p:cNvSpPr>
            <a:spLocks noGrp="1"/>
          </p:cNvSpPr>
          <p:nvPr>
            <p:ph idx="1"/>
          </p:nvPr>
        </p:nvSpPr>
        <p:spPr/>
        <p:txBody>
          <a:bodyPr>
            <a:normAutofit lnSpcReduction="10000"/>
          </a:bodyPr>
          <a:lstStyle/>
          <a:p>
            <a:pPr marL="0" indent="0">
              <a:buNone/>
            </a:pPr>
            <a:r>
              <a:rPr lang="en-US" dirty="0"/>
              <a:t>I quantified feature variability using unique value counts, ranges, IQR, and dominant value frequency. Seven measurements had exactly one unique training value, so I removed them because they could not distinguish one observation from another. Sensor 6 was flagged as near-constant because almost all observations shared one value but some genuine variation remained, so I retained it for the baseline and planned a later ablation experiment rather than assuming that rare variation was useless. </a:t>
            </a:r>
          </a:p>
          <a:p>
            <a:pPr marL="0" indent="0">
              <a:buNone/>
            </a:pPr>
            <a:endParaRPr lang="en-US" dirty="0"/>
          </a:p>
          <a:p>
            <a:pPr marL="0" indent="0">
              <a:buNone/>
            </a:pPr>
            <a:r>
              <a:rPr lang="en-US" dirty="0"/>
              <a:t>Exactly constant features can be removed statistically. Near-constant features require evidence before removal.</a:t>
            </a:r>
          </a:p>
        </p:txBody>
      </p:sp>
    </p:spTree>
    <p:extLst>
      <p:ext uri="{BB962C8B-B14F-4D97-AF65-F5344CB8AC3E}">
        <p14:creationId xmlns:p14="http://schemas.microsoft.com/office/powerpoint/2010/main" val="2718185324"/>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30169-5E68-60FC-67E0-DFFF0791B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9BEDE-42BB-5307-A436-84E0C9518104}"/>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A8D09FDA-5741-E9AE-2146-9D549AC47AE8}"/>
              </a:ext>
            </a:extLst>
          </p:cNvPr>
          <p:cNvSpPr>
            <a:spLocks noGrp="1"/>
          </p:cNvSpPr>
          <p:nvPr>
            <p:ph idx="1"/>
          </p:nvPr>
        </p:nvSpPr>
        <p:spPr/>
        <p:txBody>
          <a:bodyPr/>
          <a:lstStyle/>
          <a:p>
            <a:pPr marL="0" indent="0">
              <a:buNone/>
            </a:pPr>
            <a:r>
              <a:rPr lang="en-US" b="1" dirty="0"/>
              <a:t>Question #6: </a:t>
            </a:r>
            <a:r>
              <a:rPr lang="en-US" dirty="0"/>
              <a:t>Why did you examine both overall sensor behavior and within-engine sensor trajectories, and what different information did those views provide? </a:t>
            </a:r>
          </a:p>
        </p:txBody>
      </p:sp>
    </p:spTree>
    <p:extLst>
      <p:ext uri="{BB962C8B-B14F-4D97-AF65-F5344CB8AC3E}">
        <p14:creationId xmlns:p14="http://schemas.microsoft.com/office/powerpoint/2010/main" val="30035457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CBFB6-85B3-FA40-886C-581885FD69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AD9EFBD-796E-EC27-B8E6-A20ED1CF6307}"/>
              </a:ext>
            </a:extLst>
          </p:cNvPr>
          <p:cNvPicPr>
            <a:picLocks noChangeAspect="1"/>
          </p:cNvPicPr>
          <p:nvPr/>
        </p:nvPicPr>
        <p:blipFill>
          <a:blip r:embed="rId2"/>
          <a:stretch>
            <a:fillRect/>
          </a:stretch>
        </p:blipFill>
        <p:spPr>
          <a:xfrm>
            <a:off x="722812" y="497930"/>
            <a:ext cx="6740434" cy="5327255"/>
          </a:xfrm>
          <a:prstGeom prst="rect">
            <a:avLst/>
          </a:prstGeom>
        </p:spPr>
      </p:pic>
    </p:spTree>
    <p:extLst>
      <p:ext uri="{BB962C8B-B14F-4D97-AF65-F5344CB8AC3E}">
        <p14:creationId xmlns:p14="http://schemas.microsoft.com/office/powerpoint/2010/main" val="41695988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21883-4C3C-23C1-4E04-2FA7BF89B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0AE35-E199-D16B-4349-04E966AD7963}"/>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7E5469AC-9498-CBB8-0840-1FB9754F8FD9}"/>
              </a:ext>
            </a:extLst>
          </p:cNvPr>
          <p:cNvSpPr>
            <a:spLocks noGrp="1"/>
          </p:cNvSpPr>
          <p:nvPr>
            <p:ph idx="1"/>
          </p:nvPr>
        </p:nvSpPr>
        <p:spPr/>
        <p:txBody>
          <a:bodyPr/>
          <a:lstStyle/>
          <a:p>
            <a:pPr marL="0" indent="0">
              <a:buNone/>
            </a:pPr>
            <a:r>
              <a:rPr lang="en-US" b="1" dirty="0"/>
              <a:t>Answer #6: </a:t>
            </a:r>
            <a:r>
              <a:rPr lang="en-US" dirty="0"/>
              <a:t>I examined both overall sensor behavior and within-engine sensor behavior to distinguish between degradation behavior that might be unique to a single engine and degradation behavior that was consistent across the entire fleet. Degradation behavior that was consistent across the fleet allowed me to take note of promising candidates for feature engineering. Within-engine sensor behavior allowed me to take note of outlier behavior that was unique to a single engine. </a:t>
            </a:r>
          </a:p>
        </p:txBody>
      </p:sp>
    </p:spTree>
    <p:extLst>
      <p:ext uri="{BB962C8B-B14F-4D97-AF65-F5344CB8AC3E}">
        <p14:creationId xmlns:p14="http://schemas.microsoft.com/office/powerpoint/2010/main" val="30333822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05A54C7-9A20-680D-C34A-2BE1C6699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A70B1-C70B-A084-071E-15315CD4B629}"/>
              </a:ext>
            </a:extLst>
          </p:cNvPr>
          <p:cNvSpPr>
            <a:spLocks noGrp="1"/>
          </p:cNvSpPr>
          <p:nvPr>
            <p:ph type="title"/>
          </p:nvPr>
        </p:nvSpPr>
        <p:spPr/>
        <p:txBody>
          <a:bodyPr>
            <a:noAutofit/>
          </a:bodyPr>
          <a:lstStyle/>
          <a:p>
            <a:r>
              <a:rPr lang="en-US" sz="2400" dirty="0"/>
              <a:t>Why did you examine both overall sensor behavior and within-engine sensor trajectories, and what different information did those views provide?</a:t>
            </a:r>
          </a:p>
        </p:txBody>
      </p:sp>
      <p:sp>
        <p:nvSpPr>
          <p:cNvPr id="3" name="Content Placeholder 2">
            <a:extLst>
              <a:ext uri="{FF2B5EF4-FFF2-40B4-BE49-F238E27FC236}">
                <a16:creationId xmlns:a16="http://schemas.microsoft.com/office/drawing/2014/main" id="{B23A79AD-9C5E-196E-691A-DF0273C31F46}"/>
              </a:ext>
            </a:extLst>
          </p:cNvPr>
          <p:cNvSpPr>
            <a:spLocks noGrp="1"/>
          </p:cNvSpPr>
          <p:nvPr>
            <p:ph idx="1"/>
          </p:nvPr>
        </p:nvSpPr>
        <p:spPr/>
        <p:txBody>
          <a:bodyPr>
            <a:normAutofit fontScale="92500"/>
          </a:bodyPr>
          <a:lstStyle/>
          <a:p>
            <a:pPr marL="0" indent="0">
              <a:buNone/>
            </a:pPr>
            <a:r>
              <a:rPr lang="en-US" dirty="0"/>
              <a:t>I examined global sensor distributions first to understand feature scale, skewness, discreteness, concentration, and broad train/test differences. But those distributions pool all engines and lifecycle stages together, so they cannot reveal degradation behavior. I then examined within-engine trajectories to restore the temporal dimension and identify sensors that systematically increased, decreased, or changed near failure across multiple engines. Those patterns gave me evidence for later lag, difference, rolling, and slope feature engineering.</a:t>
            </a:r>
          </a:p>
          <a:p>
            <a:pPr marL="0" indent="0">
              <a:buNone/>
            </a:pPr>
            <a:endParaRPr lang="en-US" dirty="0"/>
          </a:p>
          <a:p>
            <a:pPr marL="0" indent="0">
              <a:buNone/>
            </a:pPr>
            <a:r>
              <a:rPr lang="en-US" i="1" dirty="0"/>
              <a:t>Global distributions tell me what values a sensor takes in; within-engine trajectories tell me how those values evolve as the engine degrades.</a:t>
            </a:r>
          </a:p>
        </p:txBody>
      </p:sp>
    </p:spTree>
    <p:extLst>
      <p:ext uri="{BB962C8B-B14F-4D97-AF65-F5344CB8AC3E}">
        <p14:creationId xmlns:p14="http://schemas.microsoft.com/office/powerpoint/2010/main" val="198654328"/>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CE90E-2239-C3A3-BE6B-98CBCCDD8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F6ADC-1FE4-2221-0EE0-7538596A89E1}"/>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3AA60054-FDFD-3C3D-E390-B4E0A686A88E}"/>
              </a:ext>
            </a:extLst>
          </p:cNvPr>
          <p:cNvSpPr>
            <a:spLocks noGrp="1"/>
          </p:cNvSpPr>
          <p:nvPr>
            <p:ph idx="1"/>
          </p:nvPr>
        </p:nvSpPr>
        <p:spPr/>
        <p:txBody>
          <a:bodyPr/>
          <a:lstStyle/>
          <a:p>
            <a:pPr marL="0" indent="0">
              <a:buNone/>
            </a:pPr>
            <a:r>
              <a:rPr lang="en-US" b="1" dirty="0"/>
              <a:t>Question #7: </a:t>
            </a:r>
            <a:r>
              <a:rPr lang="en-US" dirty="0"/>
              <a:t>How did you determine whether FD001 contained multiple operating regimes, and why does that matter for modeling?  </a:t>
            </a:r>
          </a:p>
        </p:txBody>
      </p:sp>
    </p:spTree>
    <p:extLst>
      <p:ext uri="{BB962C8B-B14F-4D97-AF65-F5344CB8AC3E}">
        <p14:creationId xmlns:p14="http://schemas.microsoft.com/office/powerpoint/2010/main" val="9323609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B4A2C-C328-A843-F90F-3CB3FC456E1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E04A609-418F-8171-68E5-8DD9B8BE44FA}"/>
              </a:ext>
            </a:extLst>
          </p:cNvPr>
          <p:cNvPicPr>
            <a:picLocks noChangeAspect="1"/>
          </p:cNvPicPr>
          <p:nvPr/>
        </p:nvPicPr>
        <p:blipFill>
          <a:blip r:embed="rId2"/>
          <a:stretch>
            <a:fillRect/>
          </a:stretch>
        </p:blipFill>
        <p:spPr>
          <a:xfrm>
            <a:off x="330926" y="329755"/>
            <a:ext cx="10071026" cy="4015821"/>
          </a:xfrm>
          <a:prstGeom prst="rect">
            <a:avLst/>
          </a:prstGeom>
        </p:spPr>
      </p:pic>
    </p:spTree>
    <p:extLst>
      <p:ext uri="{BB962C8B-B14F-4D97-AF65-F5344CB8AC3E}">
        <p14:creationId xmlns:p14="http://schemas.microsoft.com/office/powerpoint/2010/main" val="41285044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1B8C-3563-FE14-8958-3527E5C06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3DBCA-F352-0F60-FD81-2BDF0D45FB44}"/>
              </a:ext>
            </a:extLst>
          </p:cNvPr>
          <p:cNvSpPr>
            <a:spLocks noGrp="1"/>
          </p:cNvSpPr>
          <p:nvPr>
            <p:ph type="title"/>
          </p:nvPr>
        </p:nvSpPr>
        <p:spPr/>
        <p:txBody>
          <a:bodyPr>
            <a:noAutofit/>
          </a:bodyPr>
          <a:lstStyle/>
          <a:p>
            <a:r>
              <a:rPr lang="en-US" sz="3200" dirty="0"/>
              <a:t>How did you determine whether FD001 contained multiple operating regimes, and why does that matter for modeling?</a:t>
            </a:r>
          </a:p>
        </p:txBody>
      </p:sp>
      <p:sp>
        <p:nvSpPr>
          <p:cNvPr id="3" name="Content Placeholder 2">
            <a:extLst>
              <a:ext uri="{FF2B5EF4-FFF2-40B4-BE49-F238E27FC236}">
                <a16:creationId xmlns:a16="http://schemas.microsoft.com/office/drawing/2014/main" id="{957EE293-7E0A-3E8B-5B96-2CF741C6EC0E}"/>
              </a:ext>
            </a:extLst>
          </p:cNvPr>
          <p:cNvSpPr>
            <a:spLocks noGrp="1"/>
          </p:cNvSpPr>
          <p:nvPr>
            <p:ph idx="1"/>
          </p:nvPr>
        </p:nvSpPr>
        <p:spPr/>
        <p:txBody>
          <a:bodyPr>
            <a:normAutofit lnSpcReduction="10000"/>
          </a:bodyPr>
          <a:lstStyle/>
          <a:p>
            <a:pPr marL="0" indent="0">
              <a:buNone/>
            </a:pPr>
            <a:r>
              <a:rPr lang="en-US" b="1" dirty="0"/>
              <a:t>Answer #7: </a:t>
            </a:r>
            <a:r>
              <a:rPr lang="en-US" dirty="0"/>
              <a:t>The number of operating regimes in the FD001 was stated as being just one in the dataset’s description. But in addition to that, I decided to plot the data and confirm that was the case. When making a scatterplot of Operating Setting 2 versus Operating Setting 1 (both standardized), only was cluster was visually present. If there were multiple operating regimes, then we could expect there to be multiple distinct clusters on that plot. As for why that matters when it comes to modeling, this means that the operating settings can be expected to contribute little to no meaningful information to predictive capabilities. But the data is still non-constant, so it was left in to account for the chance that there is some meaningful information in the data. </a:t>
            </a:r>
            <a:endParaRPr lang="en-US" b="1" dirty="0"/>
          </a:p>
        </p:txBody>
      </p:sp>
    </p:spTree>
    <p:extLst>
      <p:ext uri="{BB962C8B-B14F-4D97-AF65-F5344CB8AC3E}">
        <p14:creationId xmlns:p14="http://schemas.microsoft.com/office/powerpoint/2010/main" val="20815665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851973C-4862-3C65-F0F5-291BD28FF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5D3FB-09F3-3C9C-31DC-8C76695FAC15}"/>
              </a:ext>
            </a:extLst>
          </p:cNvPr>
          <p:cNvSpPr>
            <a:spLocks noGrp="1"/>
          </p:cNvSpPr>
          <p:nvPr>
            <p:ph type="title"/>
          </p:nvPr>
        </p:nvSpPr>
        <p:spPr/>
        <p:txBody>
          <a:bodyPr>
            <a:noAutofit/>
          </a:bodyPr>
          <a:lstStyle/>
          <a:p>
            <a:r>
              <a:rPr lang="en-US" sz="3200" dirty="0"/>
              <a:t>How did you determine whether FD001 contained multiple operating regimes, and why does that matter for modeling?</a:t>
            </a:r>
          </a:p>
        </p:txBody>
      </p:sp>
      <p:sp>
        <p:nvSpPr>
          <p:cNvPr id="3" name="Content Placeholder 2">
            <a:extLst>
              <a:ext uri="{FF2B5EF4-FFF2-40B4-BE49-F238E27FC236}">
                <a16:creationId xmlns:a16="http://schemas.microsoft.com/office/drawing/2014/main" id="{7662DE9B-2DB1-DFC4-EDA6-5FFFDA284B8C}"/>
              </a:ext>
            </a:extLst>
          </p:cNvPr>
          <p:cNvSpPr>
            <a:spLocks noGrp="1"/>
          </p:cNvSpPr>
          <p:nvPr>
            <p:ph idx="1"/>
          </p:nvPr>
        </p:nvSpPr>
        <p:spPr/>
        <p:txBody>
          <a:bodyPr>
            <a:normAutofit lnSpcReduction="10000"/>
          </a:bodyPr>
          <a:lstStyle/>
          <a:p>
            <a:pPr marL="0" indent="0">
              <a:buNone/>
            </a:pPr>
            <a:r>
              <a:rPr lang="en-US" dirty="0"/>
              <a:t>FD001 is documented as having one operating condition, and I verified that the varying operating settings occupied one broad joint region rather than clearly separated clusters. That matters because there was no evidence supporting explicit regime clustering or separate regime-specific models. I still retained the two varying operating settings because then can provide context for interpreting sensor measurements even if they do not directly track degradation. </a:t>
            </a:r>
          </a:p>
          <a:p>
            <a:pPr marL="0" indent="0">
              <a:buNone/>
            </a:pPr>
            <a:endParaRPr lang="en-US" dirty="0"/>
          </a:p>
          <a:p>
            <a:pPr marL="0" indent="0">
              <a:buNone/>
            </a:pPr>
            <a:r>
              <a:rPr lang="en-US" i="1" dirty="0"/>
              <a:t>One operating regime means I don’t need explicit regime modeling. It does not mean the operating-setting variables are useless.</a:t>
            </a:r>
          </a:p>
        </p:txBody>
      </p:sp>
    </p:spTree>
    <p:extLst>
      <p:ext uri="{BB962C8B-B14F-4D97-AF65-F5344CB8AC3E}">
        <p14:creationId xmlns:p14="http://schemas.microsoft.com/office/powerpoint/2010/main" val="2734302907"/>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105D1-E458-8960-86BB-1EAF0523A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D8DA6-EA8B-CE09-36C0-CEED0DEC5F8B}"/>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32911350-6901-DC30-2B9D-5786995AFB40}"/>
              </a:ext>
            </a:extLst>
          </p:cNvPr>
          <p:cNvSpPr>
            <a:spLocks noGrp="1"/>
          </p:cNvSpPr>
          <p:nvPr>
            <p:ph idx="1"/>
          </p:nvPr>
        </p:nvSpPr>
        <p:spPr/>
        <p:txBody>
          <a:bodyPr/>
          <a:lstStyle/>
          <a:p>
            <a:pPr marL="0" indent="0">
              <a:buNone/>
            </a:pPr>
            <a:r>
              <a:rPr lang="en-US" b="1" dirty="0"/>
              <a:t>Question #8:</a:t>
            </a:r>
            <a:r>
              <a:rPr lang="en-US" dirty="0"/>
              <a:t> What were the most important modeling decisions produced by the EDA?  </a:t>
            </a:r>
          </a:p>
        </p:txBody>
      </p:sp>
    </p:spTree>
    <p:extLst>
      <p:ext uri="{BB962C8B-B14F-4D97-AF65-F5344CB8AC3E}">
        <p14:creationId xmlns:p14="http://schemas.microsoft.com/office/powerpoint/2010/main" val="598889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651D9-A467-63F9-466B-411B0F2B772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2C9DB3-504F-4194-DB8A-53809D6C53C6}"/>
              </a:ext>
            </a:extLst>
          </p:cNvPr>
          <p:cNvPicPr>
            <a:picLocks noChangeAspect="1"/>
          </p:cNvPicPr>
          <p:nvPr/>
        </p:nvPicPr>
        <p:blipFill>
          <a:blip r:embed="rId2"/>
          <a:stretch>
            <a:fillRect/>
          </a:stretch>
        </p:blipFill>
        <p:spPr>
          <a:xfrm>
            <a:off x="2649727" y="338005"/>
            <a:ext cx="6267850" cy="6181989"/>
          </a:xfrm>
          <a:prstGeom prst="rect">
            <a:avLst/>
          </a:prstGeom>
        </p:spPr>
      </p:pic>
    </p:spTree>
    <p:extLst>
      <p:ext uri="{BB962C8B-B14F-4D97-AF65-F5344CB8AC3E}">
        <p14:creationId xmlns:p14="http://schemas.microsoft.com/office/powerpoint/2010/main" val="5617330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5D50A-1568-7AF3-9994-8B1385E71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D20E5-70E9-4549-015F-9668236CDE2C}"/>
              </a:ext>
            </a:extLst>
          </p:cNvPr>
          <p:cNvSpPr>
            <a:spLocks noGrp="1"/>
          </p:cNvSpPr>
          <p:nvPr>
            <p:ph type="title"/>
          </p:nvPr>
        </p:nvSpPr>
        <p:spPr/>
        <p:txBody>
          <a:bodyPr>
            <a:normAutofit/>
          </a:bodyPr>
          <a:lstStyle/>
          <a:p>
            <a:r>
              <a:rPr lang="en-US" dirty="0"/>
              <a:t>What were the most important modeling decisions produced by the EDA?</a:t>
            </a:r>
          </a:p>
        </p:txBody>
      </p:sp>
      <p:sp>
        <p:nvSpPr>
          <p:cNvPr id="3" name="Content Placeholder 2">
            <a:extLst>
              <a:ext uri="{FF2B5EF4-FFF2-40B4-BE49-F238E27FC236}">
                <a16:creationId xmlns:a16="http://schemas.microsoft.com/office/drawing/2014/main" id="{17369DB8-CBFF-1876-5550-3EE851783C9A}"/>
              </a:ext>
            </a:extLst>
          </p:cNvPr>
          <p:cNvSpPr>
            <a:spLocks noGrp="1"/>
          </p:cNvSpPr>
          <p:nvPr>
            <p:ph idx="1"/>
          </p:nvPr>
        </p:nvSpPr>
        <p:spPr/>
        <p:txBody>
          <a:bodyPr/>
          <a:lstStyle/>
          <a:p>
            <a:pPr marL="0" indent="0">
              <a:buNone/>
            </a:pPr>
            <a:r>
              <a:rPr lang="en-US" b="1" dirty="0"/>
              <a:t>Answer #8: </a:t>
            </a:r>
            <a:r>
              <a:rPr lang="en-US" dirty="0"/>
              <a:t>The EDA showed that there were multiple features that could be dropped from the dataset, as they were constant and contributed no predictive information (one operating setting and two sensor readings). It also revealed indicators for good experiments and candidates for feature engineering.  </a:t>
            </a:r>
          </a:p>
        </p:txBody>
      </p:sp>
    </p:spTree>
    <p:extLst>
      <p:ext uri="{BB962C8B-B14F-4D97-AF65-F5344CB8AC3E}">
        <p14:creationId xmlns:p14="http://schemas.microsoft.com/office/powerpoint/2010/main" val="19208119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1F7221F-3146-9FE2-6984-198426344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E6735-4C5D-AB29-E0E7-EE2A891A1F08}"/>
              </a:ext>
            </a:extLst>
          </p:cNvPr>
          <p:cNvSpPr>
            <a:spLocks noGrp="1"/>
          </p:cNvSpPr>
          <p:nvPr>
            <p:ph type="title"/>
          </p:nvPr>
        </p:nvSpPr>
        <p:spPr/>
        <p:txBody>
          <a:bodyPr>
            <a:normAutofit/>
          </a:bodyPr>
          <a:lstStyle/>
          <a:p>
            <a:r>
              <a:rPr lang="en-US" dirty="0"/>
              <a:t>What were the most important modeling decisions produced by the EDA?</a:t>
            </a:r>
          </a:p>
        </p:txBody>
      </p:sp>
      <p:sp>
        <p:nvSpPr>
          <p:cNvPr id="3" name="Content Placeholder 2">
            <a:extLst>
              <a:ext uri="{FF2B5EF4-FFF2-40B4-BE49-F238E27FC236}">
                <a16:creationId xmlns:a16="http://schemas.microsoft.com/office/drawing/2014/main" id="{AFC585E3-579F-E372-9083-FCB382FFF1C7}"/>
              </a:ext>
            </a:extLst>
          </p:cNvPr>
          <p:cNvSpPr>
            <a:spLocks noGrp="1"/>
          </p:cNvSpPr>
          <p:nvPr>
            <p:ph idx="1"/>
          </p:nvPr>
        </p:nvSpPr>
        <p:spPr/>
        <p:txBody>
          <a:bodyPr/>
          <a:lstStyle/>
          <a:p>
            <a:pPr marL="0" indent="0">
              <a:buNone/>
            </a:pPr>
            <a:r>
              <a:rPr lang="en-US" dirty="0"/>
              <a:t>The most important result of the EDA was recognizing that FD001 is grouped longitudinal data, so validation has to separate complete engines and any temporal features must be causal and engine-specific. The EDA also identified seven constant measurements to remove, revealed several sensors with degradation-related temporal trends that motivate later lag and rolling-feature experiments, and supported a simple uncapped, equal-row-weighted baseline with no explicit operating-regime clustering. It also established the leakage rules that the modeling pipeline has to enforce. </a:t>
            </a:r>
          </a:p>
        </p:txBody>
      </p:sp>
    </p:spTree>
    <p:extLst>
      <p:ext uri="{BB962C8B-B14F-4D97-AF65-F5344CB8AC3E}">
        <p14:creationId xmlns:p14="http://schemas.microsoft.com/office/powerpoint/2010/main" val="2358293705"/>
      </p:ext>
    </p:extLst>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6F620D8-1647-7D07-0F80-0C6B8FDD5BC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E4AA369-6265-08EE-BB5D-2A7D17E27D66}"/>
              </a:ext>
            </a:extLst>
          </p:cNvPr>
          <p:cNvPicPr>
            <a:picLocks noChangeAspect="1"/>
          </p:cNvPicPr>
          <p:nvPr/>
        </p:nvPicPr>
        <p:blipFill>
          <a:blip r:embed="rId3"/>
          <a:stretch>
            <a:fillRect/>
          </a:stretch>
        </p:blipFill>
        <p:spPr>
          <a:xfrm>
            <a:off x="3473450" y="857250"/>
            <a:ext cx="5245100" cy="5143500"/>
          </a:xfrm>
          <a:prstGeom prst="rect">
            <a:avLst/>
          </a:prstGeom>
        </p:spPr>
      </p:pic>
    </p:spTree>
    <p:extLst>
      <p:ext uri="{BB962C8B-B14F-4D97-AF65-F5344CB8AC3E}">
        <p14:creationId xmlns:p14="http://schemas.microsoft.com/office/powerpoint/2010/main" val="1470441439"/>
      </p:ext>
    </p:extLst>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C8AF048F-8CC6-9B11-84C3-1F56453D6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F66B3-DA26-95BB-486C-62BD90A2E01B}"/>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32E368EF-CE23-4A10-B5EA-F326FB2D0CD0}"/>
              </a:ext>
            </a:extLst>
          </p:cNvPr>
          <p:cNvSpPr>
            <a:spLocks noGrp="1"/>
          </p:cNvSpPr>
          <p:nvPr>
            <p:ph idx="1"/>
          </p:nvPr>
        </p:nvSpPr>
        <p:spPr/>
        <p:txBody>
          <a:bodyPr/>
          <a:lstStyle/>
          <a:p>
            <a:r>
              <a:rPr lang="en-US" dirty="0"/>
              <a:t>Phase 1.3: Baseline Data Pipeline and Feature Engineering</a:t>
            </a:r>
          </a:p>
          <a:p>
            <a:pPr lvl="1"/>
            <a:r>
              <a:rPr lang="en-US" dirty="0"/>
              <a:t>Create leakage-safe feature sets </a:t>
            </a:r>
          </a:p>
          <a:p>
            <a:pPr lvl="1"/>
            <a:r>
              <a:rPr lang="en-US" dirty="0"/>
              <a:t>Remove unusable constant features </a:t>
            </a:r>
          </a:p>
          <a:p>
            <a:pPr lvl="1"/>
            <a:r>
              <a:rPr lang="en-US" dirty="0"/>
              <a:t>Add simple casual temporal features </a:t>
            </a:r>
          </a:p>
          <a:p>
            <a:pPr lvl="1"/>
            <a:r>
              <a:rPr lang="en-US" dirty="0"/>
              <a:t>Preserve engine grouping</a:t>
            </a:r>
          </a:p>
          <a:p>
            <a:pPr lvl="1"/>
            <a:r>
              <a:rPr lang="en-US" dirty="0"/>
              <a:t>Create train/validation splits by engine</a:t>
            </a:r>
          </a:p>
        </p:txBody>
      </p:sp>
    </p:spTree>
    <p:extLst>
      <p:ext uri="{BB962C8B-B14F-4D97-AF65-F5344CB8AC3E}">
        <p14:creationId xmlns:p14="http://schemas.microsoft.com/office/powerpoint/2010/main" val="731539975"/>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9309C-465C-B2A4-7C3B-20B790E9B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A206D-9C01-5717-8138-5B84A1F3C6D8}"/>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FE0F6766-667F-1DDB-B7E5-AEEDC52D222A}"/>
              </a:ext>
            </a:extLst>
          </p:cNvPr>
          <p:cNvSpPr>
            <a:spLocks noGrp="1"/>
          </p:cNvSpPr>
          <p:nvPr>
            <p:ph idx="1"/>
          </p:nvPr>
        </p:nvSpPr>
        <p:spPr/>
        <p:txBody>
          <a:bodyPr/>
          <a:lstStyle/>
          <a:p>
            <a:pPr marL="0" indent="0">
              <a:buNone/>
            </a:pPr>
            <a:r>
              <a:rPr lang="en-US" b="1" dirty="0"/>
              <a:t>Question #1:</a:t>
            </a:r>
            <a:r>
              <a:rPr lang="en-US" dirty="0"/>
              <a:t> Which columns were included in the baseline feature set, which were excluded, and why? </a:t>
            </a:r>
          </a:p>
        </p:txBody>
      </p:sp>
    </p:spTree>
    <p:extLst>
      <p:ext uri="{BB962C8B-B14F-4D97-AF65-F5344CB8AC3E}">
        <p14:creationId xmlns:p14="http://schemas.microsoft.com/office/powerpoint/2010/main" val="2338151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1B7A-D304-490C-3528-1F6A26F9E1D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F6E6748-EE8C-4EA2-9B8E-D585130FC592}"/>
              </a:ext>
            </a:extLst>
          </p:cNvPr>
          <p:cNvPicPr>
            <a:picLocks noChangeAspect="1"/>
          </p:cNvPicPr>
          <p:nvPr/>
        </p:nvPicPr>
        <p:blipFill>
          <a:blip r:embed="rId2"/>
          <a:stretch>
            <a:fillRect/>
          </a:stretch>
        </p:blipFill>
        <p:spPr>
          <a:xfrm>
            <a:off x="1802249" y="374341"/>
            <a:ext cx="6009137" cy="5701553"/>
          </a:xfrm>
          <a:prstGeom prst="rect">
            <a:avLst/>
          </a:prstGeom>
        </p:spPr>
      </p:pic>
    </p:spTree>
    <p:extLst>
      <p:ext uri="{BB962C8B-B14F-4D97-AF65-F5344CB8AC3E}">
        <p14:creationId xmlns:p14="http://schemas.microsoft.com/office/powerpoint/2010/main" val="40256069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8229C-B452-418D-DAA8-EF83F1D9A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51D6E-D32E-186B-65E3-162BD9B3B19C}"/>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71D3F330-01B6-135C-ABD4-4435C4DCA2A0}"/>
              </a:ext>
            </a:extLst>
          </p:cNvPr>
          <p:cNvSpPr>
            <a:spLocks noGrp="1"/>
          </p:cNvSpPr>
          <p:nvPr>
            <p:ph idx="1"/>
          </p:nvPr>
        </p:nvSpPr>
        <p:spPr/>
        <p:txBody>
          <a:bodyPr/>
          <a:lstStyle/>
          <a:p>
            <a:pPr marL="0" indent="0">
              <a:buNone/>
            </a:pPr>
            <a:r>
              <a:rPr lang="en-US" b="1" dirty="0"/>
              <a:t>Answer #1: </a:t>
            </a:r>
            <a:r>
              <a:rPr lang="en-US" dirty="0"/>
              <a:t>The columns that were included were the cycle count, 2 operation settings, and 15 sensor readings. These were included because they had variable values over the course of each engine’s lifetime, meaning there could possibly be meaningful predictive information in their trajectories. The columns that were excluded were 1 operation setting and 6 sensor readings. They were excluded because they were found to be constant, meaning they did not change from one cycle observation to another, hence they offered no predictive information and could be removed.</a:t>
            </a:r>
            <a:endParaRPr lang="en-US" b="1" dirty="0"/>
          </a:p>
        </p:txBody>
      </p:sp>
    </p:spTree>
    <p:extLst>
      <p:ext uri="{BB962C8B-B14F-4D97-AF65-F5344CB8AC3E}">
        <p14:creationId xmlns:p14="http://schemas.microsoft.com/office/powerpoint/2010/main" val="807682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A24A897-F51E-16CC-1542-B859AB02E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D75AF-6613-703C-6C1B-16E3EA313AA7}"/>
              </a:ext>
            </a:extLst>
          </p:cNvPr>
          <p:cNvSpPr>
            <a:spLocks noGrp="1"/>
          </p:cNvSpPr>
          <p:nvPr>
            <p:ph type="title"/>
          </p:nvPr>
        </p:nvSpPr>
        <p:spPr/>
        <p:txBody>
          <a:bodyPr/>
          <a:lstStyle/>
          <a:p>
            <a:r>
              <a:rPr lang="en-US" dirty="0"/>
              <a:t>Which columns were included in the baseline feature set, which were excluded, and why?</a:t>
            </a:r>
          </a:p>
        </p:txBody>
      </p:sp>
      <p:sp>
        <p:nvSpPr>
          <p:cNvPr id="3" name="Content Placeholder 2">
            <a:extLst>
              <a:ext uri="{FF2B5EF4-FFF2-40B4-BE49-F238E27FC236}">
                <a16:creationId xmlns:a16="http://schemas.microsoft.com/office/drawing/2014/main" id="{CA2C29E1-F76A-47CF-BF8F-1DFC0AE1AE60}"/>
              </a:ext>
            </a:extLst>
          </p:cNvPr>
          <p:cNvSpPr>
            <a:spLocks noGrp="1"/>
          </p:cNvSpPr>
          <p:nvPr>
            <p:ph idx="1"/>
          </p:nvPr>
        </p:nvSpPr>
        <p:spPr/>
        <p:txBody>
          <a:bodyPr/>
          <a:lstStyle/>
          <a:p>
            <a:pPr marL="0" indent="0">
              <a:buNone/>
            </a:pPr>
            <a:r>
              <a:rPr lang="en-US" dirty="0"/>
              <a:t>The raw baseline contained 18 predictors: current cycle count, Operating Settings 1 and 2, and 15 nonconstant sensor measurements. EDA found seven measurement variables to be exactly constant—Operating Setting 3 and six sensors—so those were removed because zero-variance features cannot discriminate between observations. We also excluded </a:t>
            </a:r>
            <a:r>
              <a:rPr lang="en-US" dirty="0" err="1"/>
              <a:t>unit_no</a:t>
            </a:r>
            <a:r>
              <a:rPr lang="en-US" dirty="0"/>
              <a:t> because it is grouping metadata rather than a meaningful numerical predictor, </a:t>
            </a:r>
            <a:r>
              <a:rPr lang="en-US" dirty="0" err="1"/>
              <a:t>rul</a:t>
            </a:r>
            <a:r>
              <a:rPr lang="en-US" dirty="0"/>
              <a:t> because it is the target, and </a:t>
            </a:r>
            <a:r>
              <a:rPr lang="en-US" dirty="0" err="1"/>
              <a:t>final_cycle</a:t>
            </a:r>
            <a:r>
              <a:rPr lang="en-US" dirty="0"/>
              <a:t> along with other future or target-derived columns because they would cause leakage. Near-constant features such as Sensor 6 were retained initially so their usefulness could be tested empirically rather than assumed.</a:t>
            </a:r>
          </a:p>
        </p:txBody>
      </p:sp>
    </p:spTree>
    <p:extLst>
      <p:ext uri="{BB962C8B-B14F-4D97-AF65-F5344CB8AC3E}">
        <p14:creationId xmlns:p14="http://schemas.microsoft.com/office/powerpoint/2010/main" val="783782633"/>
      </p:ext>
    </p:extLst>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515EE-E68E-5601-BEBD-39C7BC9E4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DE4D9-1A33-18A3-31D4-32279B594E00}"/>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9CC0197C-18F0-B753-6F6A-D63380F27AB0}"/>
              </a:ext>
            </a:extLst>
          </p:cNvPr>
          <p:cNvSpPr>
            <a:spLocks noGrp="1"/>
          </p:cNvSpPr>
          <p:nvPr>
            <p:ph idx="1"/>
          </p:nvPr>
        </p:nvSpPr>
        <p:spPr/>
        <p:txBody>
          <a:bodyPr/>
          <a:lstStyle/>
          <a:p>
            <a:pPr marL="0" indent="0">
              <a:buNone/>
            </a:pPr>
            <a:r>
              <a:rPr lang="en-US" b="1" dirty="0"/>
              <a:t>Question #2</a:t>
            </a:r>
            <a:r>
              <a:rPr lang="en-US" dirty="0"/>
              <a:t>: What is the correct order of operations in the baseline data pipeline, and what would go wrong if preprocessing were performed before splitting the engines? </a:t>
            </a:r>
          </a:p>
        </p:txBody>
      </p:sp>
    </p:spTree>
    <p:extLst>
      <p:ext uri="{BB962C8B-B14F-4D97-AF65-F5344CB8AC3E}">
        <p14:creationId xmlns:p14="http://schemas.microsoft.com/office/powerpoint/2010/main" val="17960080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F6F5-3BB6-D145-4AA3-2C0F5F717E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83CE884-62C9-C4F5-D187-9812E8207ADD}"/>
              </a:ext>
            </a:extLst>
          </p:cNvPr>
          <p:cNvPicPr>
            <a:picLocks noChangeAspect="1"/>
          </p:cNvPicPr>
          <p:nvPr/>
        </p:nvPicPr>
        <p:blipFill>
          <a:blip r:embed="rId2"/>
          <a:stretch>
            <a:fillRect/>
          </a:stretch>
        </p:blipFill>
        <p:spPr>
          <a:xfrm>
            <a:off x="0" y="4213"/>
            <a:ext cx="7060019" cy="3434838"/>
          </a:xfrm>
          <a:prstGeom prst="rect">
            <a:avLst/>
          </a:prstGeom>
        </p:spPr>
      </p:pic>
      <p:pic>
        <p:nvPicPr>
          <p:cNvPr id="6" name="Picture 5">
            <a:extLst>
              <a:ext uri="{FF2B5EF4-FFF2-40B4-BE49-F238E27FC236}">
                <a16:creationId xmlns:a16="http://schemas.microsoft.com/office/drawing/2014/main" id="{13DFA0B3-B235-EF6D-B815-0CC32C0FDDED}"/>
              </a:ext>
            </a:extLst>
          </p:cNvPr>
          <p:cNvPicPr>
            <a:picLocks noChangeAspect="1"/>
          </p:cNvPicPr>
          <p:nvPr/>
        </p:nvPicPr>
        <p:blipFill>
          <a:blip r:embed="rId3"/>
          <a:stretch>
            <a:fillRect/>
          </a:stretch>
        </p:blipFill>
        <p:spPr>
          <a:xfrm>
            <a:off x="5174602" y="3429000"/>
            <a:ext cx="7017398" cy="3418951"/>
          </a:xfrm>
          <a:prstGeom prst="rect">
            <a:avLst/>
          </a:prstGeom>
        </p:spPr>
      </p:pic>
    </p:spTree>
    <p:extLst>
      <p:ext uri="{BB962C8B-B14F-4D97-AF65-F5344CB8AC3E}">
        <p14:creationId xmlns:p14="http://schemas.microsoft.com/office/powerpoint/2010/main" val="31593419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19992-C7F6-0775-BC88-5E3D05DFD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A37EB-9774-0405-F563-D9B27E49F218}"/>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0B036684-118D-481F-20A1-4B4BC0AC5956}"/>
              </a:ext>
            </a:extLst>
          </p:cNvPr>
          <p:cNvSpPr>
            <a:spLocks noGrp="1"/>
          </p:cNvSpPr>
          <p:nvPr>
            <p:ph idx="1"/>
          </p:nvPr>
        </p:nvSpPr>
        <p:spPr/>
        <p:txBody>
          <a:bodyPr/>
          <a:lstStyle/>
          <a:p>
            <a:pPr marL="0" indent="0">
              <a:buNone/>
            </a:pPr>
            <a:r>
              <a:rPr lang="en-US" b="1" dirty="0"/>
              <a:t>Answer #2</a:t>
            </a:r>
            <a:r>
              <a:rPr lang="en-US" dirty="0"/>
              <a:t>: In the baseline data pipeline, first the boundary between training and cross-validation was determined. Then a standard scaler was fit to the data. The results were then frozen for that particular cross-validation fold. Then the results of the fit were applied via a transform function to both the training and the cross-validation set. If preprocessing were performed before splitting the engines, then information from the training set would leak into the cross-validation set. </a:t>
            </a:r>
          </a:p>
        </p:txBody>
      </p:sp>
    </p:spTree>
    <p:extLst>
      <p:ext uri="{BB962C8B-B14F-4D97-AF65-F5344CB8AC3E}">
        <p14:creationId xmlns:p14="http://schemas.microsoft.com/office/powerpoint/2010/main" val="7296741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EA53101-5076-6D1A-DA04-1804DB557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89C58-9A13-4EF5-340C-9CC4E9DCAA5B}"/>
              </a:ext>
            </a:extLst>
          </p:cNvPr>
          <p:cNvSpPr>
            <a:spLocks noGrp="1"/>
          </p:cNvSpPr>
          <p:nvPr>
            <p:ph type="title"/>
          </p:nvPr>
        </p:nvSpPr>
        <p:spPr/>
        <p:txBody>
          <a:bodyPr>
            <a:normAutofit/>
          </a:bodyPr>
          <a:lstStyle/>
          <a:p>
            <a:r>
              <a:rPr lang="en-US" sz="2800" dirty="0"/>
              <a:t>What is the correct order of operations in the baseline data pipeline, and what would go wrong if preprocessing were performed before splitting the engines?</a:t>
            </a:r>
          </a:p>
        </p:txBody>
      </p:sp>
      <p:sp>
        <p:nvSpPr>
          <p:cNvPr id="3" name="Content Placeholder 2">
            <a:extLst>
              <a:ext uri="{FF2B5EF4-FFF2-40B4-BE49-F238E27FC236}">
                <a16:creationId xmlns:a16="http://schemas.microsoft.com/office/drawing/2014/main" id="{9F3DF1D2-4A1E-E343-B722-84DCF2E08042}"/>
              </a:ext>
            </a:extLst>
          </p:cNvPr>
          <p:cNvSpPr>
            <a:spLocks noGrp="1"/>
          </p:cNvSpPr>
          <p:nvPr>
            <p:ph idx="1"/>
          </p:nvPr>
        </p:nvSpPr>
        <p:spPr/>
        <p:txBody>
          <a:bodyPr/>
          <a:lstStyle/>
          <a:p>
            <a:pPr marL="0" indent="0">
              <a:buNone/>
            </a:pPr>
            <a:r>
              <a:rPr lang="en-US" dirty="0"/>
              <a:t>The correct order is to split engines first, then fit any learned preprocessing only on the training engines. The fitted preprocessing parameters are then frozen and applied to both the training and validation data. After that, the model is fit on the transformed training data and evaluated on the transformed validation data. If preprocessing were fitted before split, validation engines would influence learned quantities such as feature means and standard deviations, causing preprocessing leakage and making validation performance overly optimistic.</a:t>
            </a:r>
          </a:p>
        </p:txBody>
      </p:sp>
    </p:spTree>
    <p:extLst>
      <p:ext uri="{BB962C8B-B14F-4D97-AF65-F5344CB8AC3E}">
        <p14:creationId xmlns:p14="http://schemas.microsoft.com/office/powerpoint/2010/main" val="1999518821"/>
      </p:ext>
    </p:extLst>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F285-C801-394A-E68C-35AFD3130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6D472-A2A6-78F0-B68C-73A959DAA519}"/>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02D82A2D-3604-A4D6-6515-2380347E5867}"/>
              </a:ext>
            </a:extLst>
          </p:cNvPr>
          <p:cNvSpPr>
            <a:spLocks noGrp="1"/>
          </p:cNvSpPr>
          <p:nvPr>
            <p:ph idx="1"/>
          </p:nvPr>
        </p:nvSpPr>
        <p:spPr/>
        <p:txBody>
          <a:bodyPr/>
          <a:lstStyle/>
          <a:p>
            <a:pPr marL="0" indent="0">
              <a:buNone/>
            </a:pPr>
            <a:r>
              <a:rPr lang="en-US" b="1" dirty="0"/>
              <a:t>Question #3: </a:t>
            </a:r>
            <a:r>
              <a:rPr lang="en-US" dirty="0"/>
              <a:t>What temporal features could improve RUL prediction, and how would you construct them without introducing future-data leakage? </a:t>
            </a:r>
          </a:p>
        </p:txBody>
      </p:sp>
    </p:spTree>
    <p:extLst>
      <p:ext uri="{BB962C8B-B14F-4D97-AF65-F5344CB8AC3E}">
        <p14:creationId xmlns:p14="http://schemas.microsoft.com/office/powerpoint/2010/main" val="18869352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79A9F-33E8-A9D0-0BB1-52D3C558EE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B013926-CD67-4B68-2961-ACAFBA5845FA}"/>
              </a:ext>
            </a:extLst>
          </p:cNvPr>
          <p:cNvPicPr>
            <a:picLocks noChangeAspect="1"/>
          </p:cNvPicPr>
          <p:nvPr/>
        </p:nvPicPr>
        <p:blipFill>
          <a:blip r:embed="rId2"/>
          <a:stretch>
            <a:fillRect/>
          </a:stretch>
        </p:blipFill>
        <p:spPr>
          <a:xfrm>
            <a:off x="-1" y="-1"/>
            <a:ext cx="4848447" cy="4487521"/>
          </a:xfrm>
          <a:prstGeom prst="rect">
            <a:avLst/>
          </a:prstGeom>
        </p:spPr>
      </p:pic>
      <p:pic>
        <p:nvPicPr>
          <p:cNvPr id="5" name="Picture 4">
            <a:extLst>
              <a:ext uri="{FF2B5EF4-FFF2-40B4-BE49-F238E27FC236}">
                <a16:creationId xmlns:a16="http://schemas.microsoft.com/office/drawing/2014/main" id="{226C553F-C3C1-B8CA-25FB-1DF58A751592}"/>
              </a:ext>
            </a:extLst>
          </p:cNvPr>
          <p:cNvPicPr>
            <a:picLocks noChangeAspect="1"/>
          </p:cNvPicPr>
          <p:nvPr/>
        </p:nvPicPr>
        <p:blipFill>
          <a:blip r:embed="rId3"/>
          <a:stretch>
            <a:fillRect/>
          </a:stretch>
        </p:blipFill>
        <p:spPr>
          <a:xfrm>
            <a:off x="4359349" y="4489330"/>
            <a:ext cx="7832651" cy="2368669"/>
          </a:xfrm>
          <a:prstGeom prst="rect">
            <a:avLst/>
          </a:prstGeom>
        </p:spPr>
      </p:pic>
    </p:spTree>
    <p:extLst>
      <p:ext uri="{BB962C8B-B14F-4D97-AF65-F5344CB8AC3E}">
        <p14:creationId xmlns:p14="http://schemas.microsoft.com/office/powerpoint/2010/main" val="32887301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80FF7-C678-DF61-34BD-093D3D94A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8BD0E-7190-CCA6-353C-537177EB0286}"/>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605BA881-4A23-692A-9F13-E970955FA65E}"/>
              </a:ext>
            </a:extLst>
          </p:cNvPr>
          <p:cNvSpPr>
            <a:spLocks noGrp="1"/>
          </p:cNvSpPr>
          <p:nvPr>
            <p:ph idx="1"/>
          </p:nvPr>
        </p:nvSpPr>
        <p:spPr/>
        <p:txBody>
          <a:bodyPr/>
          <a:lstStyle/>
          <a:p>
            <a:pPr marL="0" indent="0">
              <a:buNone/>
            </a:pPr>
            <a:r>
              <a:rPr lang="en-US" b="1" dirty="0"/>
              <a:t>Answer #3: </a:t>
            </a:r>
            <a:r>
              <a:rPr lang="en-US" dirty="0"/>
              <a:t>Three temporal features that could improve RUL predictions are lag, difference, and rolling mean. To construct them without any future data, there are two rules that must always be enforced: the features must be causal and group-bounded. At a given cycle, it is necessary to make sure that the information available comes only from the present and the past, never the future. It must also be the case that all information available in the present and past only comes from a single engine. </a:t>
            </a:r>
          </a:p>
        </p:txBody>
      </p:sp>
    </p:spTree>
    <p:extLst>
      <p:ext uri="{BB962C8B-B14F-4D97-AF65-F5344CB8AC3E}">
        <p14:creationId xmlns:p14="http://schemas.microsoft.com/office/powerpoint/2010/main" val="32041234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0C6C531-D2FA-D811-48A5-1CB104B93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D93A0-6A52-7B1E-6A57-92C0FF476ADE}"/>
              </a:ext>
            </a:extLst>
          </p:cNvPr>
          <p:cNvSpPr>
            <a:spLocks noGrp="1"/>
          </p:cNvSpPr>
          <p:nvPr>
            <p:ph type="title"/>
          </p:nvPr>
        </p:nvSpPr>
        <p:spPr/>
        <p:txBody>
          <a:bodyPr>
            <a:noAutofit/>
          </a:bodyPr>
          <a:lstStyle/>
          <a:p>
            <a:r>
              <a:rPr lang="en-US" sz="3200" dirty="0"/>
              <a:t>What temporal features could improve RUL prediction, and how would you construct them without introducing future-data leakage?</a:t>
            </a:r>
          </a:p>
        </p:txBody>
      </p:sp>
      <p:sp>
        <p:nvSpPr>
          <p:cNvPr id="3" name="Content Placeholder 2">
            <a:extLst>
              <a:ext uri="{FF2B5EF4-FFF2-40B4-BE49-F238E27FC236}">
                <a16:creationId xmlns:a16="http://schemas.microsoft.com/office/drawing/2014/main" id="{0FFA81D7-57E5-7367-6D4D-640CAB0BB094}"/>
              </a:ext>
            </a:extLst>
          </p:cNvPr>
          <p:cNvSpPr>
            <a:spLocks noGrp="1"/>
          </p:cNvSpPr>
          <p:nvPr>
            <p:ph idx="1"/>
          </p:nvPr>
        </p:nvSpPr>
        <p:spPr/>
        <p:txBody>
          <a:bodyPr/>
          <a:lstStyle/>
          <a:p>
            <a:pPr marL="0" indent="0">
              <a:buNone/>
            </a:pPr>
            <a:r>
              <a:rPr lang="en-US" dirty="0"/>
              <a:t>Three useful candidate temporal features are lags, difference, and trailing rolling statistics. To construct them without leakage, I would first sort observations by </a:t>
            </a:r>
            <a:r>
              <a:rPr lang="en-US" dirty="0" err="1"/>
              <a:t>unit_no</a:t>
            </a:r>
            <a:r>
              <a:rPr lang="en-US" dirty="0"/>
              <a:t> and cycles, then perform every temporal operation within </a:t>
            </a:r>
            <a:r>
              <a:rPr lang="en-US" dirty="0" err="1"/>
              <a:t>unit_no</a:t>
            </a:r>
            <a:r>
              <a:rPr lang="en-US" dirty="0"/>
              <a:t> groups so one engine can never </a:t>
            </a:r>
            <a:r>
              <a:rPr lang="en-US" dirty="0" err="1"/>
              <a:t>borrom</a:t>
            </a:r>
            <a:r>
              <a:rPr lang="en-US" dirty="0"/>
              <a:t> history from another. The features must also be causal: at cycle </a:t>
            </a:r>
            <a:r>
              <a:rPr lang="en-US" i="1" dirty="0"/>
              <a:t>t</a:t>
            </a:r>
            <a:r>
              <a:rPr lang="en-US" dirty="0"/>
              <a:t>, they may use only current and earlier observations, never future cycles. For example, shift(1) can create a legal one-cycle lag, diff(1) captures recent change, and a trailing five-cycle mean summarizes recent sensor level, while shift(-1) or a centered rolling window would introduce leakage from future data. </a:t>
            </a:r>
          </a:p>
        </p:txBody>
      </p:sp>
    </p:spTree>
    <p:extLst>
      <p:ext uri="{BB962C8B-B14F-4D97-AF65-F5344CB8AC3E}">
        <p14:creationId xmlns:p14="http://schemas.microsoft.com/office/powerpoint/2010/main" val="2293898370"/>
      </p:ext>
    </p:extLst>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9BAB8E34-996E-ABFE-FD08-EC5C911D3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9ED8D-5E56-ACAE-A98E-A7340B82720B}"/>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AAFB3C26-767F-E953-4189-97A175A31B96}"/>
              </a:ext>
            </a:extLst>
          </p:cNvPr>
          <p:cNvSpPr>
            <a:spLocks noGrp="1"/>
          </p:cNvSpPr>
          <p:nvPr>
            <p:ph idx="1"/>
          </p:nvPr>
        </p:nvSpPr>
        <p:spPr/>
        <p:txBody>
          <a:bodyPr/>
          <a:lstStyle/>
          <a:p>
            <a:r>
              <a:rPr lang="en-US" dirty="0"/>
              <a:t>Phase 1.4: Baseline Modeling and Evaluation</a:t>
            </a:r>
          </a:p>
          <a:p>
            <a:pPr lvl="1"/>
            <a:r>
              <a:rPr lang="en-US" dirty="0"/>
              <a:t>Establish simple benchmarks</a:t>
            </a:r>
          </a:p>
          <a:p>
            <a:pPr lvl="1"/>
            <a:r>
              <a:rPr lang="en-US" dirty="0"/>
              <a:t>Train baseline regression models</a:t>
            </a:r>
          </a:p>
          <a:p>
            <a:pPr lvl="1"/>
            <a:r>
              <a:rPr lang="en-US" dirty="0"/>
              <a:t>Evaluate with grouped validation</a:t>
            </a:r>
          </a:p>
          <a:p>
            <a:pPr lvl="1"/>
            <a:r>
              <a:rPr lang="en-US" dirty="0"/>
              <a:t>Compare cycle-only, sensor-only, and combined models</a:t>
            </a:r>
          </a:p>
          <a:p>
            <a:pPr lvl="1"/>
            <a:r>
              <a:rPr lang="en-US" dirty="0"/>
              <a:t>Perform error analysis</a:t>
            </a:r>
          </a:p>
          <a:p>
            <a:pPr lvl="1"/>
            <a:r>
              <a:rPr lang="en-US" dirty="0"/>
              <a:t>Select a baseline model</a:t>
            </a:r>
          </a:p>
        </p:txBody>
      </p:sp>
    </p:spTree>
    <p:extLst>
      <p:ext uri="{BB962C8B-B14F-4D97-AF65-F5344CB8AC3E}">
        <p14:creationId xmlns:p14="http://schemas.microsoft.com/office/powerpoint/2010/main" val="955365281"/>
      </p:ext>
    </p:extLst>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0DC9-7DAB-D118-2174-DF58440F4E14}"/>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78181B3C-F24B-0EBA-CE9D-2341FA8A6AC1}"/>
              </a:ext>
            </a:extLst>
          </p:cNvPr>
          <p:cNvSpPr>
            <a:spLocks noGrp="1"/>
          </p:cNvSpPr>
          <p:nvPr>
            <p:ph idx="1"/>
          </p:nvPr>
        </p:nvSpPr>
        <p:spPr/>
        <p:txBody>
          <a:bodyPr/>
          <a:lstStyle/>
          <a:p>
            <a:pPr marL="0" indent="0">
              <a:buNone/>
            </a:pPr>
            <a:r>
              <a:rPr lang="en-US" b="1" dirty="0"/>
              <a:t>Question #1: </a:t>
            </a:r>
            <a:r>
              <a:rPr lang="en-US" dirty="0"/>
              <a:t>Which baseline models did you compare, and what does each baseline tell you about the difficulty of the RUL prediction problem?  </a:t>
            </a:r>
          </a:p>
        </p:txBody>
      </p:sp>
    </p:spTree>
    <p:extLst>
      <p:ext uri="{BB962C8B-B14F-4D97-AF65-F5344CB8AC3E}">
        <p14:creationId xmlns:p14="http://schemas.microsoft.com/office/powerpoint/2010/main" val="2389691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7C3E7-BD1A-B823-A2B5-D99B8BCD8E9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8AEC63-F659-FF28-2579-4D7F3C00E35E}"/>
              </a:ext>
            </a:extLst>
          </p:cNvPr>
          <p:cNvPicPr>
            <a:picLocks noChangeAspect="1"/>
          </p:cNvPicPr>
          <p:nvPr/>
        </p:nvPicPr>
        <p:blipFill>
          <a:blip r:embed="rId2"/>
          <a:stretch>
            <a:fillRect/>
          </a:stretch>
        </p:blipFill>
        <p:spPr>
          <a:xfrm>
            <a:off x="0" y="-1"/>
            <a:ext cx="6810551" cy="4249783"/>
          </a:xfrm>
          <a:prstGeom prst="rect">
            <a:avLst/>
          </a:prstGeom>
        </p:spPr>
      </p:pic>
      <p:pic>
        <p:nvPicPr>
          <p:cNvPr id="5" name="Picture 4">
            <a:extLst>
              <a:ext uri="{FF2B5EF4-FFF2-40B4-BE49-F238E27FC236}">
                <a16:creationId xmlns:a16="http://schemas.microsoft.com/office/drawing/2014/main" id="{8CA7072C-ECC5-3F88-08CF-23EA74CA3600}"/>
              </a:ext>
            </a:extLst>
          </p:cNvPr>
          <p:cNvPicPr>
            <a:picLocks noChangeAspect="1"/>
          </p:cNvPicPr>
          <p:nvPr/>
        </p:nvPicPr>
        <p:blipFill>
          <a:blip r:embed="rId3"/>
          <a:stretch>
            <a:fillRect/>
          </a:stretch>
        </p:blipFill>
        <p:spPr>
          <a:xfrm>
            <a:off x="5107633" y="4249783"/>
            <a:ext cx="7084367" cy="2608217"/>
          </a:xfrm>
          <a:prstGeom prst="rect">
            <a:avLst/>
          </a:prstGeom>
        </p:spPr>
      </p:pic>
    </p:spTree>
    <p:extLst>
      <p:ext uri="{BB962C8B-B14F-4D97-AF65-F5344CB8AC3E}">
        <p14:creationId xmlns:p14="http://schemas.microsoft.com/office/powerpoint/2010/main" val="23144769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E3960-14E7-3562-C9B0-187A088C2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6760C-DCD6-5CEA-B804-B5939F488BB8}"/>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29A3CA04-C6AD-0530-F67E-640FD903DEC8}"/>
              </a:ext>
            </a:extLst>
          </p:cNvPr>
          <p:cNvSpPr>
            <a:spLocks noGrp="1"/>
          </p:cNvSpPr>
          <p:nvPr>
            <p:ph idx="1"/>
          </p:nvPr>
        </p:nvSpPr>
        <p:spPr/>
        <p:txBody>
          <a:bodyPr>
            <a:normAutofit fontScale="85000" lnSpcReduction="20000"/>
          </a:bodyPr>
          <a:lstStyle/>
          <a:p>
            <a:pPr marL="0" indent="0">
              <a:buNone/>
            </a:pPr>
            <a:r>
              <a:rPr lang="en-US" b="1" dirty="0"/>
              <a:t>Answer #1: </a:t>
            </a:r>
            <a:r>
              <a:rPr lang="en-US" dirty="0"/>
              <a:t>I compared an average-only model, a cycle count only model, a raw baseline linear model, a temporal features linear model, and a random forest model with temporal features. </a:t>
            </a:r>
          </a:p>
          <a:p>
            <a:pPr marL="0" indent="0">
              <a:buNone/>
            </a:pPr>
            <a:endParaRPr lang="en-US" dirty="0"/>
          </a:p>
          <a:p>
            <a:pPr marL="0" indent="0">
              <a:buNone/>
            </a:pPr>
            <a:r>
              <a:rPr lang="en-US" dirty="0"/>
              <a:t>As for what each model tells us about the difficulty of the RUL prediction problem, moving from average only to cycle count only increase predictive accuracy, telling us that RUL is a time-based phenomenon. Moving from cycle-only to raw baseline features increased accuracy, indicating that operating readings and sensor settings contain useful predictive information. Moving from raw baseline to temporal engineered features increased predictive accuracy, indicating that engineered features are an important part of making a model as accurate as possible. Moving from temporal features to random forest did not significantly change predictive accuracy, indicating that a more flexible, nonlinear model may not be able to extract significantly more useful information from the feature set.</a:t>
            </a:r>
          </a:p>
        </p:txBody>
      </p:sp>
    </p:spTree>
    <p:extLst>
      <p:ext uri="{BB962C8B-B14F-4D97-AF65-F5344CB8AC3E}">
        <p14:creationId xmlns:p14="http://schemas.microsoft.com/office/powerpoint/2010/main" val="21170737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4E89A23-970A-A3BE-3828-29873C8CE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EBEC2-69FD-2301-5C01-A5537694EA6E}"/>
              </a:ext>
            </a:extLst>
          </p:cNvPr>
          <p:cNvSpPr>
            <a:spLocks noGrp="1"/>
          </p:cNvSpPr>
          <p:nvPr>
            <p:ph type="title"/>
          </p:nvPr>
        </p:nvSpPr>
        <p:spPr/>
        <p:txBody>
          <a:bodyPr>
            <a:noAutofit/>
          </a:bodyPr>
          <a:lstStyle/>
          <a:p>
            <a:r>
              <a:rPr lang="en-US" sz="3200" dirty="0"/>
              <a:t>Which baseline models did you compare, and what does each baseline tell you about the difficulty of the RUL prediction problem?</a:t>
            </a:r>
          </a:p>
        </p:txBody>
      </p:sp>
      <p:sp>
        <p:nvSpPr>
          <p:cNvPr id="3" name="Content Placeholder 2">
            <a:extLst>
              <a:ext uri="{FF2B5EF4-FFF2-40B4-BE49-F238E27FC236}">
                <a16:creationId xmlns:a16="http://schemas.microsoft.com/office/drawing/2014/main" id="{DFE3760C-2DDE-243D-B04D-758B5444B84F}"/>
              </a:ext>
            </a:extLst>
          </p:cNvPr>
          <p:cNvSpPr>
            <a:spLocks noGrp="1"/>
          </p:cNvSpPr>
          <p:nvPr>
            <p:ph idx="1"/>
          </p:nvPr>
        </p:nvSpPr>
        <p:spPr/>
        <p:txBody>
          <a:bodyPr>
            <a:normAutofit fontScale="62500" lnSpcReduction="20000"/>
          </a:bodyPr>
          <a:lstStyle/>
          <a:p>
            <a:pPr marL="0" indent="0">
              <a:buNone/>
            </a:pPr>
            <a:r>
              <a:rPr lang="en-US" dirty="0"/>
              <a:t>I compared six baselines: a mean DummyRegressor, cycle-only Linear Regression, raw Linear Regression, raw Random Forest, temporal Linear Regression, and temporal Random Forest. </a:t>
            </a:r>
          </a:p>
          <a:p>
            <a:pPr marL="0" indent="0">
              <a:buNone/>
            </a:pPr>
            <a:endParaRPr lang="en-US" dirty="0"/>
          </a:p>
          <a:p>
            <a:pPr marL="0" indent="0">
              <a:buNone/>
            </a:pPr>
            <a:r>
              <a:rPr lang="en-US" dirty="0"/>
              <a:t>The dummy model established how difficult the problem is without using predictive features at all. The cycle-only model tested how much RUL can be predicted from observable engine age and its improvement showed that cycle count contains useful signal, while its remaining error reflects the fact that engines can have different lifetimes even at the same current cycle.</a:t>
            </a:r>
          </a:p>
          <a:p>
            <a:pPr marL="0" indent="0">
              <a:buNone/>
            </a:pPr>
            <a:endParaRPr lang="en-US" dirty="0"/>
          </a:p>
          <a:p>
            <a:pPr marL="0" indent="0">
              <a:buNone/>
            </a:pPr>
            <a:r>
              <a:rPr lang="en-US" dirty="0"/>
              <a:t>Adding the raw operating settings and sensor measurements improved performance beyond cycle count, showing that current multivariate engine state contains incremental predictive information. Adding causal temporal features improved performance further, indicating that recent sensor history can provide information beyond a current-state snapshot.</a:t>
            </a:r>
          </a:p>
          <a:p>
            <a:pPr marL="0" indent="0">
              <a:buNone/>
            </a:pPr>
            <a:endParaRPr lang="en-US" dirty="0"/>
          </a:p>
          <a:p>
            <a:pPr marL="0" indent="0">
              <a:buNone/>
            </a:pPr>
            <a:r>
              <a:rPr lang="en-US" dirty="0"/>
              <a:t>Finally, comparing Linear Regression and Random Forest within the same representations tested whether greater nonlinear flexibility could extract additional signal. In my baseline results, the temporal Random Forest did not substantially outperform the temporal linear model, suggesting that additional nonlinear flexibility provided limited incremental benefit for that particular representation and validation split.</a:t>
            </a:r>
          </a:p>
        </p:txBody>
      </p:sp>
    </p:spTree>
    <p:extLst>
      <p:ext uri="{BB962C8B-B14F-4D97-AF65-F5344CB8AC3E}">
        <p14:creationId xmlns:p14="http://schemas.microsoft.com/office/powerpoint/2010/main" val="809702933"/>
      </p:ext>
    </p:extLst>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EEE7D-9154-696A-CA0C-53A6F8051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F2711-F6E7-F69F-CB1D-800087BC2447}"/>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55FAC941-AE90-CA34-9536-DF18BEF07CB5}"/>
              </a:ext>
            </a:extLst>
          </p:cNvPr>
          <p:cNvSpPr>
            <a:spLocks noGrp="1"/>
          </p:cNvSpPr>
          <p:nvPr>
            <p:ph idx="1"/>
          </p:nvPr>
        </p:nvSpPr>
        <p:spPr/>
        <p:txBody>
          <a:bodyPr/>
          <a:lstStyle/>
          <a:p>
            <a:pPr marL="0" indent="0">
              <a:buNone/>
            </a:pPr>
            <a:r>
              <a:rPr lang="en-US" b="1" dirty="0"/>
              <a:t>Question #2: </a:t>
            </a:r>
            <a:r>
              <a:rPr lang="en-US" dirty="0"/>
              <a:t>How was the validation strategy designed, and why would randomly splitting individual rows produce misleading results?  </a:t>
            </a:r>
          </a:p>
        </p:txBody>
      </p:sp>
    </p:spTree>
    <p:extLst>
      <p:ext uri="{BB962C8B-B14F-4D97-AF65-F5344CB8AC3E}">
        <p14:creationId xmlns:p14="http://schemas.microsoft.com/office/powerpoint/2010/main" val="41629779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21FAA-4F2A-65A5-999F-BE9C6C6FA36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E0B07C2-A61E-C33D-87E0-BBE8F55DFB90}"/>
              </a:ext>
            </a:extLst>
          </p:cNvPr>
          <p:cNvPicPr>
            <a:picLocks noChangeAspect="1"/>
          </p:cNvPicPr>
          <p:nvPr/>
        </p:nvPicPr>
        <p:blipFill>
          <a:blip r:embed="rId2"/>
          <a:stretch>
            <a:fillRect/>
          </a:stretch>
        </p:blipFill>
        <p:spPr>
          <a:xfrm>
            <a:off x="0" y="55831"/>
            <a:ext cx="9393759" cy="4136058"/>
          </a:xfrm>
          <a:prstGeom prst="rect">
            <a:avLst/>
          </a:prstGeom>
        </p:spPr>
      </p:pic>
      <p:pic>
        <p:nvPicPr>
          <p:cNvPr id="5" name="Picture 4">
            <a:extLst>
              <a:ext uri="{FF2B5EF4-FFF2-40B4-BE49-F238E27FC236}">
                <a16:creationId xmlns:a16="http://schemas.microsoft.com/office/drawing/2014/main" id="{7007DBF8-4EDB-4A35-8C4C-751F7411E01C}"/>
              </a:ext>
            </a:extLst>
          </p:cNvPr>
          <p:cNvPicPr>
            <a:picLocks noChangeAspect="1"/>
          </p:cNvPicPr>
          <p:nvPr/>
        </p:nvPicPr>
        <p:blipFill>
          <a:blip r:embed="rId3"/>
          <a:stretch>
            <a:fillRect/>
          </a:stretch>
        </p:blipFill>
        <p:spPr>
          <a:xfrm>
            <a:off x="4419600" y="4191889"/>
            <a:ext cx="7772400" cy="2651646"/>
          </a:xfrm>
          <a:prstGeom prst="rect">
            <a:avLst/>
          </a:prstGeom>
        </p:spPr>
      </p:pic>
    </p:spTree>
    <p:extLst>
      <p:ext uri="{BB962C8B-B14F-4D97-AF65-F5344CB8AC3E}">
        <p14:creationId xmlns:p14="http://schemas.microsoft.com/office/powerpoint/2010/main" val="2114530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5B81F-35FA-1B65-1C47-0203F406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7B881-AA3B-A990-2CBE-B475DD28F979}"/>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3248ECCA-2D95-7BC2-7CE4-ACB4D108A65F}"/>
              </a:ext>
            </a:extLst>
          </p:cNvPr>
          <p:cNvSpPr>
            <a:spLocks noGrp="1"/>
          </p:cNvSpPr>
          <p:nvPr>
            <p:ph idx="1"/>
          </p:nvPr>
        </p:nvSpPr>
        <p:spPr/>
        <p:txBody>
          <a:bodyPr/>
          <a:lstStyle/>
          <a:p>
            <a:pPr marL="0" indent="0">
              <a:buNone/>
            </a:pPr>
            <a:r>
              <a:rPr lang="en-US" b="1" dirty="0"/>
              <a:t>Answer # 2: </a:t>
            </a:r>
            <a:r>
              <a:rPr lang="en-US" dirty="0"/>
              <a:t>The validation strategy was designed to use grouped splitting, so 80 of the 100 training engines were used to training, and 20 were split off for validation. As for why randomly splitting individual rows would produce misleading results, incorrect splitting can cause a form of leakage, where earlier data from an engine’s lifetime is in the training set and later data from an engine’s lifetime is in the validation set. Or vice versa. This creates a situation where gauging how well the model generalizes to unforeseen data (the whole point of validation) loses its ability to produce legitimate error measurements.</a:t>
            </a:r>
          </a:p>
        </p:txBody>
      </p:sp>
    </p:spTree>
    <p:extLst>
      <p:ext uri="{BB962C8B-B14F-4D97-AF65-F5344CB8AC3E}">
        <p14:creationId xmlns:p14="http://schemas.microsoft.com/office/powerpoint/2010/main" val="25365333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3E2F0CF-82F4-49BD-07CF-F3B7EED60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5B56E-E3C4-5526-8B52-5F59EDFF1A7E}"/>
              </a:ext>
            </a:extLst>
          </p:cNvPr>
          <p:cNvSpPr>
            <a:spLocks noGrp="1"/>
          </p:cNvSpPr>
          <p:nvPr>
            <p:ph type="title"/>
          </p:nvPr>
        </p:nvSpPr>
        <p:spPr/>
        <p:txBody>
          <a:bodyPr>
            <a:normAutofit/>
          </a:bodyPr>
          <a:lstStyle/>
          <a:p>
            <a:r>
              <a:rPr lang="en-US" sz="3200" dirty="0"/>
              <a:t>How was the validation strategy designed, and why would randomly splitting individual rows produce misleading results?</a:t>
            </a:r>
          </a:p>
        </p:txBody>
      </p:sp>
      <p:sp>
        <p:nvSpPr>
          <p:cNvPr id="3" name="Content Placeholder 2">
            <a:extLst>
              <a:ext uri="{FF2B5EF4-FFF2-40B4-BE49-F238E27FC236}">
                <a16:creationId xmlns:a16="http://schemas.microsoft.com/office/drawing/2014/main" id="{E170BB07-1BC5-25C9-4FCD-8D6582058E72}"/>
              </a:ext>
            </a:extLst>
          </p:cNvPr>
          <p:cNvSpPr>
            <a:spLocks noGrp="1"/>
          </p:cNvSpPr>
          <p:nvPr>
            <p:ph idx="1"/>
          </p:nvPr>
        </p:nvSpPr>
        <p:spPr/>
        <p:txBody>
          <a:bodyPr>
            <a:normAutofit fontScale="77500" lnSpcReduction="20000"/>
          </a:bodyPr>
          <a:lstStyle/>
          <a:p>
            <a:pPr marL="0" indent="0">
              <a:buNone/>
            </a:pPr>
            <a:r>
              <a:rPr lang="en-US" dirty="0"/>
              <a:t>I used an engine-grouped validation split. Of the 100 complete FD001 training engines, 80 engines were assigned to model training and 20 entirely separate engines were held out for validation, with </a:t>
            </a:r>
            <a:r>
              <a:rPr lang="en-US" dirty="0" err="1"/>
              <a:t>unit_no</a:t>
            </a:r>
            <a:r>
              <a:rPr lang="en-US" dirty="0"/>
              <a:t> used as the grouping variable.</a:t>
            </a:r>
          </a:p>
          <a:p>
            <a:pPr marL="0" indent="0">
              <a:buNone/>
            </a:pPr>
            <a:endParaRPr lang="en-US" dirty="0"/>
          </a:p>
          <a:p>
            <a:pPr marL="0" indent="0">
              <a:buNone/>
            </a:pPr>
            <a:r>
              <a:rPr lang="en-US" dirty="0"/>
              <a:t>A random row split would allow observations from the same engine to appear in both the training and validation. Because consecutive observations from one engine are highly related, the model could learn engine-specific or neighboring-cycle patterns during training and then be evaluated on partially familiar trajectories. That would produce an overly optimistic estimate of performance. </a:t>
            </a:r>
          </a:p>
          <a:p>
            <a:pPr marL="0" indent="0">
              <a:buNone/>
            </a:pPr>
            <a:endParaRPr lang="en-US" dirty="0"/>
          </a:p>
          <a:p>
            <a:pPr marL="0" indent="0">
              <a:buNone/>
            </a:pPr>
            <a:r>
              <a:rPr lang="en-US" dirty="0"/>
              <a:t>Grouped validation instead tests the real generalization question: whether a model trained on one set of engines can predict RUL for completely unseen engines. </a:t>
            </a:r>
          </a:p>
        </p:txBody>
      </p:sp>
    </p:spTree>
    <p:extLst>
      <p:ext uri="{BB962C8B-B14F-4D97-AF65-F5344CB8AC3E}">
        <p14:creationId xmlns:p14="http://schemas.microsoft.com/office/powerpoint/2010/main" val="196145542"/>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79FA0-2A36-C370-355E-D68C7A6A1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2BB78-E6D3-E570-3F2B-10DFAFFD2973}"/>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02DA32AB-A3E3-8E11-5CFF-79BA9316841B}"/>
              </a:ext>
            </a:extLst>
          </p:cNvPr>
          <p:cNvSpPr>
            <a:spLocks noGrp="1"/>
          </p:cNvSpPr>
          <p:nvPr>
            <p:ph idx="1"/>
          </p:nvPr>
        </p:nvSpPr>
        <p:spPr/>
        <p:txBody>
          <a:bodyPr/>
          <a:lstStyle/>
          <a:p>
            <a:pPr marL="0" indent="0">
              <a:buNone/>
            </a:pPr>
            <a:r>
              <a:rPr lang="en-US" b="1" dirty="0"/>
              <a:t>Question #3:</a:t>
            </a:r>
            <a:r>
              <a:rPr lang="en-US" dirty="0"/>
              <a:t> Which metrics did you use to evaluate RUL predictions, and why should performance be examined at more than one level?  </a:t>
            </a:r>
          </a:p>
        </p:txBody>
      </p:sp>
    </p:spTree>
    <p:extLst>
      <p:ext uri="{BB962C8B-B14F-4D97-AF65-F5344CB8AC3E}">
        <p14:creationId xmlns:p14="http://schemas.microsoft.com/office/powerpoint/2010/main" val="34794480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82267-3A87-B5C0-4386-B0BD4C0672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FB2461A-0D24-36B4-D450-D7E3FCB0A9FB}"/>
              </a:ext>
            </a:extLst>
          </p:cNvPr>
          <p:cNvPicPr>
            <a:picLocks noChangeAspect="1"/>
          </p:cNvPicPr>
          <p:nvPr/>
        </p:nvPicPr>
        <p:blipFill>
          <a:blip r:embed="rId2"/>
          <a:stretch>
            <a:fillRect/>
          </a:stretch>
        </p:blipFill>
        <p:spPr>
          <a:xfrm>
            <a:off x="-1" y="0"/>
            <a:ext cx="6418217" cy="4313751"/>
          </a:xfrm>
          <a:prstGeom prst="rect">
            <a:avLst/>
          </a:prstGeom>
        </p:spPr>
      </p:pic>
      <p:pic>
        <p:nvPicPr>
          <p:cNvPr id="5" name="Picture 4">
            <a:extLst>
              <a:ext uri="{FF2B5EF4-FFF2-40B4-BE49-F238E27FC236}">
                <a16:creationId xmlns:a16="http://schemas.microsoft.com/office/drawing/2014/main" id="{60D20D95-EF47-71AE-8C6A-9FF9E429F4DF}"/>
              </a:ext>
            </a:extLst>
          </p:cNvPr>
          <p:cNvPicPr>
            <a:picLocks noChangeAspect="1"/>
          </p:cNvPicPr>
          <p:nvPr/>
        </p:nvPicPr>
        <p:blipFill>
          <a:blip r:embed="rId3"/>
          <a:stretch>
            <a:fillRect/>
          </a:stretch>
        </p:blipFill>
        <p:spPr>
          <a:xfrm>
            <a:off x="3871613" y="4310743"/>
            <a:ext cx="8320387" cy="2547258"/>
          </a:xfrm>
          <a:prstGeom prst="rect">
            <a:avLst/>
          </a:prstGeom>
        </p:spPr>
      </p:pic>
    </p:spTree>
    <p:extLst>
      <p:ext uri="{BB962C8B-B14F-4D97-AF65-F5344CB8AC3E}">
        <p14:creationId xmlns:p14="http://schemas.microsoft.com/office/powerpoint/2010/main" val="40574672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411E7-F2AB-FA92-2CC0-50904A373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FA9DB-88C5-74F0-167D-47FE703F7436}"/>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107674EB-5B50-1769-5A76-96D26AC551F9}"/>
              </a:ext>
            </a:extLst>
          </p:cNvPr>
          <p:cNvSpPr>
            <a:spLocks noGrp="1"/>
          </p:cNvSpPr>
          <p:nvPr>
            <p:ph idx="1"/>
          </p:nvPr>
        </p:nvSpPr>
        <p:spPr/>
        <p:txBody>
          <a:bodyPr/>
          <a:lstStyle/>
          <a:p>
            <a:pPr marL="0" indent="0">
              <a:buNone/>
            </a:pPr>
            <a:r>
              <a:rPr lang="en-US" b="1" dirty="0"/>
              <a:t>Answer #3: </a:t>
            </a:r>
            <a:r>
              <a:rPr lang="en-US" dirty="0"/>
              <a:t>I used RMSE (root-mean squared error) and MAE (mean absolute error). Performance should be evaluated at more than one level because there are pros and cons to different performance metrics. MAE is good for getting a general sense for how well a model is predicting values, but RMSE punishes outliers more heavily. </a:t>
            </a:r>
          </a:p>
        </p:txBody>
      </p:sp>
    </p:spTree>
    <p:extLst>
      <p:ext uri="{BB962C8B-B14F-4D97-AF65-F5344CB8AC3E}">
        <p14:creationId xmlns:p14="http://schemas.microsoft.com/office/powerpoint/2010/main" val="14932462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0047B19-3C0A-C26C-C8F9-3A9ECF876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3DDE8-9637-8709-EC18-0AFD8EA80427}"/>
              </a:ext>
            </a:extLst>
          </p:cNvPr>
          <p:cNvSpPr>
            <a:spLocks noGrp="1"/>
          </p:cNvSpPr>
          <p:nvPr>
            <p:ph type="title"/>
          </p:nvPr>
        </p:nvSpPr>
        <p:spPr/>
        <p:txBody>
          <a:bodyPr>
            <a:normAutofit/>
          </a:bodyPr>
          <a:lstStyle/>
          <a:p>
            <a:r>
              <a:rPr lang="en-US" sz="3200" dirty="0"/>
              <a:t>Which metrics did you use to evaluate RUL predictions, and why should performance be examined at more than one level?</a:t>
            </a:r>
          </a:p>
        </p:txBody>
      </p:sp>
      <p:sp>
        <p:nvSpPr>
          <p:cNvPr id="3" name="Content Placeholder 2">
            <a:extLst>
              <a:ext uri="{FF2B5EF4-FFF2-40B4-BE49-F238E27FC236}">
                <a16:creationId xmlns:a16="http://schemas.microsoft.com/office/drawing/2014/main" id="{75E90342-7561-6D7C-DF9E-0C6C70ABC059}"/>
              </a:ext>
            </a:extLst>
          </p:cNvPr>
          <p:cNvSpPr>
            <a:spLocks noGrp="1"/>
          </p:cNvSpPr>
          <p:nvPr>
            <p:ph idx="1"/>
          </p:nvPr>
        </p:nvSpPr>
        <p:spPr/>
        <p:txBody>
          <a:bodyPr>
            <a:normAutofit lnSpcReduction="10000"/>
          </a:bodyPr>
          <a:lstStyle/>
          <a:p>
            <a:pPr marL="0" indent="0">
              <a:buNone/>
            </a:pPr>
            <a:r>
              <a:rPr lang="en-US" dirty="0"/>
              <a:t>I evaluated RUL prediction primarily with RMSE and secondarily with MAE. MAE gives an intuitive measure of the average absolute prediction error, while RMSE penalizes large misses more heavily, which is useful when severe RUL errors are especially important. </a:t>
            </a:r>
          </a:p>
          <a:p>
            <a:pPr marL="0" indent="0">
              <a:buNone/>
            </a:pPr>
            <a:endParaRPr lang="en-US" dirty="0"/>
          </a:p>
          <a:p>
            <a:pPr marL="0" indent="0">
              <a:buNone/>
            </a:pPr>
            <a:r>
              <a:rPr lang="en-US" dirty="0"/>
              <a:t>I also evaluated performance at multiple levels rather than relying on aggregate metrics. I examined error by RUL band, signed prediction error, and per-engine performance. This was important because a good overall RMSE can hide systematic high-RUL errors, directional bias, or poor generalization to a small subset of unseen engines.</a:t>
            </a:r>
          </a:p>
        </p:txBody>
      </p:sp>
    </p:spTree>
    <p:extLst>
      <p:ext uri="{BB962C8B-B14F-4D97-AF65-F5344CB8AC3E}">
        <p14:creationId xmlns:p14="http://schemas.microsoft.com/office/powerpoint/2010/main" val="3120067575"/>
      </p:ext>
    </p:extLst>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91200-A92D-EE9C-9D95-0A3BF0237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48AB3-0AF4-4EEF-C37C-F12AD74B1EAA}"/>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D506AFD8-078F-D528-A5BF-03A755DA145F}"/>
              </a:ext>
            </a:extLst>
          </p:cNvPr>
          <p:cNvSpPr>
            <a:spLocks noGrp="1"/>
          </p:cNvSpPr>
          <p:nvPr>
            <p:ph idx="1"/>
          </p:nvPr>
        </p:nvSpPr>
        <p:spPr/>
        <p:txBody>
          <a:bodyPr/>
          <a:lstStyle/>
          <a:p>
            <a:pPr marL="0" indent="0">
              <a:buNone/>
            </a:pPr>
            <a:r>
              <a:rPr lang="en-US" b="1" dirty="0"/>
              <a:t>Question #4: </a:t>
            </a:r>
            <a:r>
              <a:rPr lang="en-US" dirty="0"/>
              <a:t>How did you select the baseline model, and what kinds of errors or failure patterns did you examine beyond the overall score?  </a:t>
            </a:r>
          </a:p>
        </p:txBody>
      </p:sp>
    </p:spTree>
    <p:extLst>
      <p:ext uri="{BB962C8B-B14F-4D97-AF65-F5344CB8AC3E}">
        <p14:creationId xmlns:p14="http://schemas.microsoft.com/office/powerpoint/2010/main" val="38535510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AD31-BF41-2238-AF0F-E139337C641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E38EDA-E530-ACE2-E57B-D2FFF12D5873}"/>
              </a:ext>
            </a:extLst>
          </p:cNvPr>
          <p:cNvPicPr>
            <a:picLocks noChangeAspect="1"/>
          </p:cNvPicPr>
          <p:nvPr/>
        </p:nvPicPr>
        <p:blipFill>
          <a:blip r:embed="rId2"/>
          <a:stretch>
            <a:fillRect/>
          </a:stretch>
        </p:blipFill>
        <p:spPr>
          <a:xfrm>
            <a:off x="-1" y="-1"/>
            <a:ext cx="5294811" cy="4888183"/>
          </a:xfrm>
          <a:prstGeom prst="rect">
            <a:avLst/>
          </a:prstGeom>
        </p:spPr>
      </p:pic>
      <p:pic>
        <p:nvPicPr>
          <p:cNvPr id="5" name="Picture 4">
            <a:extLst>
              <a:ext uri="{FF2B5EF4-FFF2-40B4-BE49-F238E27FC236}">
                <a16:creationId xmlns:a16="http://schemas.microsoft.com/office/drawing/2014/main" id="{B588783B-EE03-6AAF-8863-4AE608E8A01A}"/>
              </a:ext>
            </a:extLst>
          </p:cNvPr>
          <p:cNvPicPr>
            <a:picLocks noChangeAspect="1"/>
          </p:cNvPicPr>
          <p:nvPr/>
        </p:nvPicPr>
        <p:blipFill>
          <a:blip r:embed="rId3"/>
          <a:stretch>
            <a:fillRect/>
          </a:stretch>
        </p:blipFill>
        <p:spPr>
          <a:xfrm>
            <a:off x="4032068" y="4887003"/>
            <a:ext cx="8159931" cy="1970998"/>
          </a:xfrm>
          <a:prstGeom prst="rect">
            <a:avLst/>
          </a:prstGeom>
        </p:spPr>
      </p:pic>
    </p:spTree>
    <p:extLst>
      <p:ext uri="{BB962C8B-B14F-4D97-AF65-F5344CB8AC3E}">
        <p14:creationId xmlns:p14="http://schemas.microsoft.com/office/powerpoint/2010/main" val="12040037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FE85-B14D-8C0E-7E71-0C07622D3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63FC5-7270-CBA2-9A4D-2EBE17855931}"/>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58D3C1D8-6A01-01EF-41F8-B07FD6E49E11}"/>
              </a:ext>
            </a:extLst>
          </p:cNvPr>
          <p:cNvSpPr>
            <a:spLocks noGrp="1"/>
          </p:cNvSpPr>
          <p:nvPr>
            <p:ph idx="1"/>
          </p:nvPr>
        </p:nvSpPr>
        <p:spPr/>
        <p:txBody>
          <a:bodyPr/>
          <a:lstStyle/>
          <a:p>
            <a:pPr marL="0" indent="0">
              <a:buNone/>
            </a:pPr>
            <a:r>
              <a:rPr lang="en-US" b="1" dirty="0"/>
              <a:t>Answer #4: </a:t>
            </a:r>
            <a:r>
              <a:rPr lang="en-US" dirty="0"/>
              <a:t>The baseline model I chose was the linear model trained on temporal features. (I’m unsure how to confidently answer this one past here...)</a:t>
            </a:r>
          </a:p>
        </p:txBody>
      </p:sp>
    </p:spTree>
    <p:extLst>
      <p:ext uri="{BB962C8B-B14F-4D97-AF65-F5344CB8AC3E}">
        <p14:creationId xmlns:p14="http://schemas.microsoft.com/office/powerpoint/2010/main" val="26143088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6E3E895-7365-30C4-3803-4F049DD98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F90AC-7009-24AC-38A6-61B3909B3663}"/>
              </a:ext>
            </a:extLst>
          </p:cNvPr>
          <p:cNvSpPr>
            <a:spLocks noGrp="1"/>
          </p:cNvSpPr>
          <p:nvPr>
            <p:ph type="title"/>
          </p:nvPr>
        </p:nvSpPr>
        <p:spPr/>
        <p:txBody>
          <a:bodyPr>
            <a:noAutofit/>
          </a:bodyPr>
          <a:lstStyle/>
          <a:p>
            <a:r>
              <a:rPr lang="en-US" sz="2800" dirty="0"/>
              <a:t>How did you select the baseline model, and what kinds of errors or failure patterns did you examine beyond the overall score?</a:t>
            </a:r>
          </a:p>
        </p:txBody>
      </p:sp>
      <p:sp>
        <p:nvSpPr>
          <p:cNvPr id="3" name="Content Placeholder 2">
            <a:extLst>
              <a:ext uri="{FF2B5EF4-FFF2-40B4-BE49-F238E27FC236}">
                <a16:creationId xmlns:a16="http://schemas.microsoft.com/office/drawing/2014/main" id="{293A4AE0-1B52-4B36-DD93-C420ED3CCADA}"/>
              </a:ext>
            </a:extLst>
          </p:cNvPr>
          <p:cNvSpPr>
            <a:spLocks noGrp="1"/>
          </p:cNvSpPr>
          <p:nvPr>
            <p:ph idx="1"/>
          </p:nvPr>
        </p:nvSpPr>
        <p:spPr/>
        <p:txBody>
          <a:bodyPr>
            <a:normAutofit fontScale="92500" lnSpcReduction="20000"/>
          </a:bodyPr>
          <a:lstStyle/>
          <a:p>
            <a:pPr marL="0" indent="0">
              <a:buNone/>
            </a:pPr>
            <a:r>
              <a:rPr lang="en-US" dirty="0"/>
              <a:t>I selected temporal Linear Regression as the leading Phase 1.4 baseline because it achieved the lowest validation RMSE among the tested baselines on the fixed engine-grouped validation split. RMSE had been defined in advance as the primary model-comparison metric, with MAE as a secondary metric.</a:t>
            </a:r>
          </a:p>
          <a:p>
            <a:pPr marL="0" indent="0">
              <a:buNone/>
            </a:pPr>
            <a:endParaRPr lang="en-US" dirty="0"/>
          </a:p>
          <a:p>
            <a:pPr marL="0" indent="0">
              <a:buNone/>
            </a:pPr>
            <a:r>
              <a:rPr lang="en-US" dirty="0"/>
              <a:t>I did not rely on the aggregate score. I examined predicted versus actual RUL, signed errors to identify systematic overprediction or underprediction, RMSE and MAE across different RUL bands, the largest individual prediction misses, performance across individual unseen validation engines, and the train-validation error gap. Those diagnostic helped identify where the model was failing and generated hypotheses for Phase 1.5, such as whether poor high-RUL performance might justify testing </a:t>
            </a:r>
            <a:r>
              <a:rPr lang="en-US"/>
              <a:t>RUL capping.</a:t>
            </a:r>
            <a:endParaRPr lang="en-US" dirty="0"/>
          </a:p>
        </p:txBody>
      </p:sp>
    </p:spTree>
    <p:extLst>
      <p:ext uri="{BB962C8B-B14F-4D97-AF65-F5344CB8AC3E}">
        <p14:creationId xmlns:p14="http://schemas.microsoft.com/office/powerpoint/2010/main" val="560829356"/>
      </p:ext>
    </p:extLst>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C81B885-E8FC-6ACB-BA77-91E941AF9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D083F-C5B5-B18F-ABA3-8AAB50435852}"/>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9B0CA340-3A87-8254-5F08-8242219E1245}"/>
              </a:ext>
            </a:extLst>
          </p:cNvPr>
          <p:cNvSpPr>
            <a:spLocks noGrp="1"/>
          </p:cNvSpPr>
          <p:nvPr>
            <p:ph idx="1"/>
          </p:nvPr>
        </p:nvSpPr>
        <p:spPr/>
        <p:txBody>
          <a:bodyPr/>
          <a:lstStyle/>
          <a:p>
            <a:r>
              <a:rPr lang="en-US" dirty="0"/>
              <a:t>Phase 1.5: Controlled Modeling Experiments</a:t>
            </a:r>
          </a:p>
          <a:p>
            <a:pPr lvl="1"/>
            <a:r>
              <a:rPr lang="en-US" dirty="0"/>
              <a:t>Reproduce and freeze the reference baseline</a:t>
            </a:r>
          </a:p>
          <a:p>
            <a:pPr lvl="1"/>
            <a:r>
              <a:rPr lang="en-US" dirty="0"/>
              <a:t>Test one modeling change at a time</a:t>
            </a:r>
          </a:p>
          <a:p>
            <a:pPr lvl="1"/>
            <a:r>
              <a:rPr lang="en-US" dirty="0"/>
              <a:t>Evaluate target, weighting, features, and model capacity</a:t>
            </a:r>
          </a:p>
          <a:p>
            <a:pPr lvl="1"/>
            <a:r>
              <a:rPr lang="en-US" dirty="0"/>
              <a:t>Combine individually promising changes </a:t>
            </a:r>
          </a:p>
          <a:p>
            <a:pPr lvl="1"/>
            <a:r>
              <a:rPr lang="en-US" dirty="0"/>
              <a:t>Narrow to a small Phase 1.6 candidate set</a:t>
            </a:r>
          </a:p>
        </p:txBody>
      </p:sp>
    </p:spTree>
    <p:extLst>
      <p:ext uri="{BB962C8B-B14F-4D97-AF65-F5344CB8AC3E}">
        <p14:creationId xmlns:p14="http://schemas.microsoft.com/office/powerpoint/2010/main" val="1281616123"/>
      </p:ext>
    </p:extLst>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1680C-7892-00A4-8B37-95F3D7343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F53DD-8C4D-D1E7-C6FE-CE8EF0D26837}"/>
              </a:ext>
            </a:extLst>
          </p:cNvPr>
          <p:cNvSpPr>
            <a:spLocks noGrp="1"/>
          </p:cNvSpPr>
          <p:nvPr>
            <p:ph type="title"/>
          </p:nvPr>
        </p:nvSpPr>
        <p:spPr/>
        <p:txBody>
          <a:bodyPr/>
          <a:lstStyle/>
          <a:p>
            <a:r>
              <a:rPr lang="en-US" dirty="0"/>
              <a:t>Phase 1.5: Controlled Modeling Experiments</a:t>
            </a:r>
          </a:p>
        </p:txBody>
      </p:sp>
      <p:sp>
        <p:nvSpPr>
          <p:cNvPr id="3" name="Content Placeholder 2">
            <a:extLst>
              <a:ext uri="{FF2B5EF4-FFF2-40B4-BE49-F238E27FC236}">
                <a16:creationId xmlns:a16="http://schemas.microsoft.com/office/drawing/2014/main" id="{37975051-8EBA-D113-49B1-B81DFBE4AE7C}"/>
              </a:ext>
            </a:extLst>
          </p:cNvPr>
          <p:cNvSpPr>
            <a:spLocks noGrp="1"/>
          </p:cNvSpPr>
          <p:nvPr>
            <p:ph idx="1"/>
          </p:nvPr>
        </p:nvSpPr>
        <p:spPr/>
        <p:txBody>
          <a:bodyPr/>
          <a:lstStyle/>
          <a:p>
            <a:pPr marL="0" indent="0">
              <a:buNone/>
            </a:pPr>
            <a:r>
              <a:rPr lang="en-US" b="1" dirty="0"/>
              <a:t>Question #1:</a:t>
            </a:r>
            <a:r>
              <a:rPr lang="en-US" dirty="0"/>
              <a:t> Why should a controlled modeling experiment change one deliberate factor while keeping the target, observation population, model conditions, and evaluation method fixed as much as possible?</a:t>
            </a:r>
          </a:p>
        </p:txBody>
      </p:sp>
    </p:spTree>
    <p:extLst>
      <p:ext uri="{BB962C8B-B14F-4D97-AF65-F5344CB8AC3E}">
        <p14:creationId xmlns:p14="http://schemas.microsoft.com/office/powerpoint/2010/main" val="21959688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FAE25-E759-E3F5-B896-D7D3DF836FA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697D674-4730-84B6-BC4C-9450DA76AD6A}"/>
              </a:ext>
            </a:extLst>
          </p:cNvPr>
          <p:cNvPicPr>
            <a:picLocks noChangeAspect="1"/>
          </p:cNvPicPr>
          <p:nvPr/>
        </p:nvPicPr>
        <p:blipFill>
          <a:blip r:embed="rId2"/>
          <a:stretch>
            <a:fillRect/>
          </a:stretch>
        </p:blipFill>
        <p:spPr>
          <a:xfrm>
            <a:off x="0" y="0"/>
            <a:ext cx="6096000" cy="5478378"/>
          </a:xfrm>
          <a:prstGeom prst="rect">
            <a:avLst/>
          </a:prstGeom>
        </p:spPr>
      </p:pic>
      <p:pic>
        <p:nvPicPr>
          <p:cNvPr id="9" name="Picture 8">
            <a:extLst>
              <a:ext uri="{FF2B5EF4-FFF2-40B4-BE49-F238E27FC236}">
                <a16:creationId xmlns:a16="http://schemas.microsoft.com/office/drawing/2014/main" id="{03BA17F1-E071-46D1-69E7-788F39A91A2C}"/>
              </a:ext>
            </a:extLst>
          </p:cNvPr>
          <p:cNvPicPr>
            <a:picLocks noChangeAspect="1"/>
          </p:cNvPicPr>
          <p:nvPr/>
        </p:nvPicPr>
        <p:blipFill>
          <a:blip r:embed="rId3"/>
          <a:stretch>
            <a:fillRect/>
          </a:stretch>
        </p:blipFill>
        <p:spPr>
          <a:xfrm>
            <a:off x="6390167" y="532693"/>
            <a:ext cx="5801833" cy="6325307"/>
          </a:xfrm>
          <a:prstGeom prst="rect">
            <a:avLst/>
          </a:prstGeom>
        </p:spPr>
      </p:pic>
    </p:spTree>
    <p:extLst>
      <p:ext uri="{BB962C8B-B14F-4D97-AF65-F5344CB8AC3E}">
        <p14:creationId xmlns:p14="http://schemas.microsoft.com/office/powerpoint/2010/main" val="8331559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873BD-9F0D-B5D0-B98C-24A6B265E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71AA4-90DE-3FE6-B593-325E9D8BB6BE}"/>
              </a:ext>
            </a:extLst>
          </p:cNvPr>
          <p:cNvSpPr>
            <a:spLocks noGrp="1"/>
          </p:cNvSpPr>
          <p:nvPr>
            <p:ph type="title"/>
          </p:nvPr>
        </p:nvSpPr>
        <p:spPr/>
        <p:txBody>
          <a:bodyPr/>
          <a:lstStyle/>
          <a:p>
            <a:r>
              <a:rPr lang="en-US" dirty="0"/>
              <a:t>Phase 1.5: Controlled Modeling Experiments</a:t>
            </a:r>
          </a:p>
        </p:txBody>
      </p:sp>
      <p:sp>
        <p:nvSpPr>
          <p:cNvPr id="3" name="Content Placeholder 2">
            <a:extLst>
              <a:ext uri="{FF2B5EF4-FFF2-40B4-BE49-F238E27FC236}">
                <a16:creationId xmlns:a16="http://schemas.microsoft.com/office/drawing/2014/main" id="{21714667-5673-D7DB-1990-BFD1E838EDD7}"/>
              </a:ext>
            </a:extLst>
          </p:cNvPr>
          <p:cNvSpPr>
            <a:spLocks noGrp="1"/>
          </p:cNvSpPr>
          <p:nvPr>
            <p:ph idx="1"/>
          </p:nvPr>
        </p:nvSpPr>
        <p:spPr/>
        <p:txBody>
          <a:bodyPr/>
          <a:lstStyle/>
          <a:p>
            <a:pPr marL="0" indent="0">
              <a:buNone/>
            </a:pPr>
            <a:r>
              <a:rPr lang="en-US" b="1" dirty="0"/>
              <a:t>Answer #1: </a:t>
            </a:r>
            <a:r>
              <a:rPr lang="en-US" dirty="0"/>
              <a:t>Because we want to have the best chance possible at inferring what changing one variable does to our model’s predictive capabilities. To accomplish this we need to change just one variable at a time. As part of testing a hypothesis we don’t want to change things that are unrelated to that hypothesis. </a:t>
            </a:r>
          </a:p>
        </p:txBody>
      </p:sp>
    </p:spTree>
    <p:extLst>
      <p:ext uri="{BB962C8B-B14F-4D97-AF65-F5344CB8AC3E}">
        <p14:creationId xmlns:p14="http://schemas.microsoft.com/office/powerpoint/2010/main" val="16496608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7DFBCC4-EA5A-663E-768D-E8EC0D2E1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93F48-7820-7825-C21E-AEC0CB91D129}"/>
              </a:ext>
            </a:extLst>
          </p:cNvPr>
          <p:cNvSpPr>
            <a:spLocks noGrp="1"/>
          </p:cNvSpPr>
          <p:nvPr>
            <p:ph type="title"/>
          </p:nvPr>
        </p:nvSpPr>
        <p:spPr/>
        <p:txBody>
          <a:bodyPr>
            <a:normAutofit/>
          </a:bodyPr>
          <a:lstStyle/>
          <a:p>
            <a:r>
              <a:rPr lang="en-US" sz="2800" i="1" dirty="0"/>
              <a:t>Why should a controlled modeling experiment change one deliberate factor while keeping the target, observation population, model conditions, and evaluation method fixed as much as possible?</a:t>
            </a:r>
          </a:p>
        </p:txBody>
      </p:sp>
      <p:sp>
        <p:nvSpPr>
          <p:cNvPr id="3" name="Content Placeholder 2">
            <a:extLst>
              <a:ext uri="{FF2B5EF4-FFF2-40B4-BE49-F238E27FC236}">
                <a16:creationId xmlns:a16="http://schemas.microsoft.com/office/drawing/2014/main" id="{96369C29-9E2D-B3EC-F4DA-A239D0FAEF43}"/>
              </a:ext>
            </a:extLst>
          </p:cNvPr>
          <p:cNvSpPr>
            <a:spLocks noGrp="1"/>
          </p:cNvSpPr>
          <p:nvPr>
            <p:ph idx="1"/>
          </p:nvPr>
        </p:nvSpPr>
        <p:spPr/>
        <p:txBody>
          <a:bodyPr>
            <a:normAutofit fontScale="92500" lnSpcReduction="10000"/>
          </a:bodyPr>
          <a:lstStyle/>
          <a:p>
            <a:pPr marL="0" indent="0">
              <a:buNone/>
            </a:pPr>
            <a:r>
              <a:rPr lang="en-US" dirty="0"/>
              <a:t>A controlled modeling experiment should change one deliberate factor at a time so that any resulting performance difference can be attributed as cleanly as possible to that change. If unrelated variables such as the target definition, observation population, estimator, weighting policy, or evaluation metric also change, the experiment becomes confounded and we can no longer tell what caused the difference. The goal is to match the surrounding conditions while intentionally varying the factor tied to the hypothesis.</a:t>
            </a:r>
          </a:p>
          <a:p>
            <a:pPr marL="0" indent="0">
              <a:buNone/>
            </a:pPr>
            <a:endParaRPr lang="en-US" dirty="0"/>
          </a:p>
          <a:p>
            <a:pPr marL="0" indent="0">
              <a:buNone/>
            </a:pPr>
            <a:r>
              <a:rPr lang="en-US" sz="2200" dirty="0"/>
              <a:t>Controlled experiments are about attribution. Multiple simultaneous changes create confounding. Keep the same observations, target, model conditions, and evaluation ruler unless one of those is the thing you are deliberately testing. Predictive attribution is not the same as proving a physical causal mechanism.</a:t>
            </a:r>
          </a:p>
        </p:txBody>
      </p:sp>
    </p:spTree>
    <p:extLst>
      <p:ext uri="{BB962C8B-B14F-4D97-AF65-F5344CB8AC3E}">
        <p14:creationId xmlns:p14="http://schemas.microsoft.com/office/powerpoint/2010/main" val="3810648470"/>
      </p:ext>
    </p:extLst>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1185-1360-FD06-206F-ABB190497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BEC0E-02C6-DE2A-C1B8-686EC83FC813}"/>
              </a:ext>
            </a:extLst>
          </p:cNvPr>
          <p:cNvSpPr>
            <a:spLocks noGrp="1"/>
          </p:cNvSpPr>
          <p:nvPr>
            <p:ph type="title"/>
          </p:nvPr>
        </p:nvSpPr>
        <p:spPr/>
        <p:txBody>
          <a:bodyPr/>
          <a:lstStyle/>
          <a:p>
            <a:r>
              <a:rPr lang="en-US" dirty="0"/>
              <a:t>Phase 1.5: Controlled Modeling Experiments</a:t>
            </a:r>
          </a:p>
        </p:txBody>
      </p:sp>
      <p:sp>
        <p:nvSpPr>
          <p:cNvPr id="3" name="Content Placeholder 2">
            <a:extLst>
              <a:ext uri="{FF2B5EF4-FFF2-40B4-BE49-F238E27FC236}">
                <a16:creationId xmlns:a16="http://schemas.microsoft.com/office/drawing/2014/main" id="{0C85A917-0905-9E4D-0C27-0895C37EA907}"/>
              </a:ext>
            </a:extLst>
          </p:cNvPr>
          <p:cNvSpPr>
            <a:spLocks noGrp="1"/>
          </p:cNvSpPr>
          <p:nvPr>
            <p:ph idx="1"/>
          </p:nvPr>
        </p:nvSpPr>
        <p:spPr/>
        <p:txBody>
          <a:bodyPr/>
          <a:lstStyle/>
          <a:p>
            <a:pPr marL="0" indent="0">
              <a:buNone/>
            </a:pPr>
            <a:r>
              <a:rPr lang="en-US" b="1" dirty="0"/>
              <a:t>Question #2:</a:t>
            </a:r>
            <a:r>
              <a:rPr lang="en-US" dirty="0"/>
              <a:t> Why can’t you assume that two modeling changes that improve validation performance individually will produce the sum of those improvements when combined?</a:t>
            </a:r>
          </a:p>
        </p:txBody>
      </p:sp>
    </p:spTree>
    <p:extLst>
      <p:ext uri="{BB962C8B-B14F-4D97-AF65-F5344CB8AC3E}">
        <p14:creationId xmlns:p14="http://schemas.microsoft.com/office/powerpoint/2010/main" val="15264059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EB75-537D-4AC9-0A00-EFB35C2B21C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57F0660-8014-54E7-EA6D-43413E119CAA}"/>
              </a:ext>
            </a:extLst>
          </p:cNvPr>
          <p:cNvPicPr>
            <a:picLocks noChangeAspect="1"/>
          </p:cNvPicPr>
          <p:nvPr/>
        </p:nvPicPr>
        <p:blipFill>
          <a:blip r:embed="rId2"/>
          <a:stretch>
            <a:fillRect/>
          </a:stretch>
        </p:blipFill>
        <p:spPr>
          <a:xfrm>
            <a:off x="0" y="0"/>
            <a:ext cx="6633327" cy="5178056"/>
          </a:xfrm>
          <a:prstGeom prst="rect">
            <a:avLst/>
          </a:prstGeom>
        </p:spPr>
      </p:pic>
      <p:pic>
        <p:nvPicPr>
          <p:cNvPr id="3" name="Picture 2">
            <a:extLst>
              <a:ext uri="{FF2B5EF4-FFF2-40B4-BE49-F238E27FC236}">
                <a16:creationId xmlns:a16="http://schemas.microsoft.com/office/drawing/2014/main" id="{8F287B0E-6D22-11E8-465B-2A63AB052C1D}"/>
              </a:ext>
            </a:extLst>
          </p:cNvPr>
          <p:cNvPicPr>
            <a:picLocks noChangeAspect="1"/>
          </p:cNvPicPr>
          <p:nvPr/>
        </p:nvPicPr>
        <p:blipFill>
          <a:blip r:embed="rId3"/>
          <a:stretch>
            <a:fillRect/>
          </a:stretch>
        </p:blipFill>
        <p:spPr>
          <a:xfrm>
            <a:off x="7371710" y="0"/>
            <a:ext cx="4820290" cy="5677786"/>
          </a:xfrm>
          <a:prstGeom prst="rect">
            <a:avLst/>
          </a:prstGeom>
        </p:spPr>
      </p:pic>
    </p:spTree>
    <p:extLst>
      <p:ext uri="{BB962C8B-B14F-4D97-AF65-F5344CB8AC3E}">
        <p14:creationId xmlns:p14="http://schemas.microsoft.com/office/powerpoint/2010/main" val="24897833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3D052-D6B7-5D5B-B791-2A971C4C0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6604A-B36E-386E-56CA-AAFF9C739402}"/>
              </a:ext>
            </a:extLst>
          </p:cNvPr>
          <p:cNvSpPr>
            <a:spLocks noGrp="1"/>
          </p:cNvSpPr>
          <p:nvPr>
            <p:ph type="title"/>
          </p:nvPr>
        </p:nvSpPr>
        <p:spPr/>
        <p:txBody>
          <a:bodyPr/>
          <a:lstStyle/>
          <a:p>
            <a:r>
              <a:rPr lang="en-US" dirty="0"/>
              <a:t>Phase 1.5: Controlled Modeling Experiments</a:t>
            </a:r>
          </a:p>
        </p:txBody>
      </p:sp>
      <p:sp>
        <p:nvSpPr>
          <p:cNvPr id="3" name="Content Placeholder 2">
            <a:extLst>
              <a:ext uri="{FF2B5EF4-FFF2-40B4-BE49-F238E27FC236}">
                <a16:creationId xmlns:a16="http://schemas.microsoft.com/office/drawing/2014/main" id="{F269DDC3-329C-0DCF-06C3-0F34C5387E98}"/>
              </a:ext>
            </a:extLst>
          </p:cNvPr>
          <p:cNvSpPr>
            <a:spLocks noGrp="1"/>
          </p:cNvSpPr>
          <p:nvPr>
            <p:ph idx="1"/>
          </p:nvPr>
        </p:nvSpPr>
        <p:spPr/>
        <p:txBody>
          <a:bodyPr/>
          <a:lstStyle/>
          <a:p>
            <a:pPr marL="0" indent="0">
              <a:buNone/>
            </a:pPr>
            <a:r>
              <a:rPr lang="en-US" b="1" dirty="0"/>
              <a:t>Answer #2: </a:t>
            </a:r>
            <a:r>
              <a:rPr lang="en-US" dirty="0"/>
              <a:t>Because modeling changes that improve validation performance cannot be assumed as additive. Sometimes combining modeling changes will compound and become additive, but other times they can cancel each other out or interact in a way that will worsen validation performance.  </a:t>
            </a:r>
          </a:p>
        </p:txBody>
      </p:sp>
    </p:spTree>
    <p:extLst>
      <p:ext uri="{BB962C8B-B14F-4D97-AF65-F5344CB8AC3E}">
        <p14:creationId xmlns:p14="http://schemas.microsoft.com/office/powerpoint/2010/main" val="31329108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FACD5A2-94A3-6BBE-A3EE-8EA64A29F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0EA2A-58AF-3B57-A309-9FF20DF82E2D}"/>
              </a:ext>
            </a:extLst>
          </p:cNvPr>
          <p:cNvSpPr>
            <a:spLocks noGrp="1"/>
          </p:cNvSpPr>
          <p:nvPr>
            <p:ph type="title"/>
          </p:nvPr>
        </p:nvSpPr>
        <p:spPr/>
        <p:txBody>
          <a:bodyPr>
            <a:normAutofit/>
          </a:bodyPr>
          <a:lstStyle/>
          <a:p>
            <a:r>
              <a:rPr lang="en-US" sz="2400" i="1" dirty="0"/>
              <a:t>Why can’t you assume that two modeling changes that improve validation performance individually will produce the sum of those improvements when combined?</a:t>
            </a:r>
          </a:p>
        </p:txBody>
      </p:sp>
      <p:sp>
        <p:nvSpPr>
          <p:cNvPr id="3" name="Content Placeholder 2">
            <a:extLst>
              <a:ext uri="{FF2B5EF4-FFF2-40B4-BE49-F238E27FC236}">
                <a16:creationId xmlns:a16="http://schemas.microsoft.com/office/drawing/2014/main" id="{F9D874CA-E22E-64E3-67BC-576EDA32E619}"/>
              </a:ext>
            </a:extLst>
          </p:cNvPr>
          <p:cNvSpPr>
            <a:spLocks noGrp="1"/>
          </p:cNvSpPr>
          <p:nvPr>
            <p:ph idx="1"/>
          </p:nvPr>
        </p:nvSpPr>
        <p:spPr/>
        <p:txBody>
          <a:bodyPr>
            <a:normAutofit/>
          </a:bodyPr>
          <a:lstStyle/>
          <a:p>
            <a:pPr marL="0" indent="0">
              <a:buNone/>
            </a:pPr>
            <a:r>
              <a:rPr lang="en-US" dirty="0"/>
              <a:t>We cannot assume individual modeling improvements are additive because modeling changes can interact. They may be redundant, complementary, or interfere with one another. A change that helps under one configuration may provide less value—or even become harmful—when another change is already present. Therefore, combined configurations need to be tested empirically rather than predicted by summing their individual validation gains. </a:t>
            </a:r>
          </a:p>
          <a:p>
            <a:pPr marL="0" indent="0">
              <a:buNone/>
            </a:pPr>
            <a:endParaRPr lang="en-US" dirty="0"/>
          </a:p>
          <a:p>
            <a:pPr marL="0" indent="0">
              <a:buNone/>
            </a:pPr>
            <a:r>
              <a:rPr lang="en-US" sz="2000" dirty="0"/>
              <a:t>Individual effects are conditional on the surrounding configuration. Useful changes can be redundant, complementary, or interfering. Combination experiments test compatibility, not arithmetic. </a:t>
            </a:r>
          </a:p>
        </p:txBody>
      </p:sp>
    </p:spTree>
    <p:extLst>
      <p:ext uri="{BB962C8B-B14F-4D97-AF65-F5344CB8AC3E}">
        <p14:creationId xmlns:p14="http://schemas.microsoft.com/office/powerpoint/2010/main" val="2795423447"/>
      </p:ext>
    </p:extLst>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F3E5B844-DD64-A49C-C0AA-886873E4B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B66FF-F72F-3559-1C6B-AD66CCE3B6E0}"/>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AA06EA8A-F126-05E4-2ECB-0EA978A0696D}"/>
              </a:ext>
            </a:extLst>
          </p:cNvPr>
          <p:cNvSpPr>
            <a:spLocks noGrp="1"/>
          </p:cNvSpPr>
          <p:nvPr>
            <p:ph idx="1"/>
          </p:nvPr>
        </p:nvSpPr>
        <p:spPr/>
        <p:txBody>
          <a:bodyPr/>
          <a:lstStyle/>
          <a:p>
            <a:r>
              <a:rPr lang="en-US" dirty="0"/>
              <a:t>Phase 1.6: Grouped Cross-validation and final model selection</a:t>
            </a:r>
          </a:p>
          <a:p>
            <a:pPr lvl="1"/>
            <a:r>
              <a:rPr lang="en-US" dirty="0"/>
              <a:t>Evaluate the frozen candidates with grouped cross-validation</a:t>
            </a:r>
          </a:p>
          <a:p>
            <a:pPr lvl="1"/>
            <a:r>
              <a:rPr lang="en-US" dirty="0"/>
              <a:t>Keep all rows from each engine within a single fold</a:t>
            </a:r>
          </a:p>
          <a:p>
            <a:pPr lvl="1"/>
            <a:r>
              <a:rPr lang="en-US" dirty="0"/>
              <a:t>Compare pooled out-of-fold RMSE and fold-to-fold stability</a:t>
            </a:r>
          </a:p>
          <a:p>
            <a:pPr lvl="1"/>
            <a:r>
              <a:rPr lang="en-US" dirty="0"/>
              <a:t>Use MAE, per-engine error, and signed-error diagnostics as supporting evidence</a:t>
            </a:r>
          </a:p>
          <a:p>
            <a:pPr lvl="1"/>
            <a:r>
              <a:rPr lang="en-US" dirty="0"/>
              <a:t>Select the strongest complete model configuration</a:t>
            </a:r>
          </a:p>
          <a:p>
            <a:pPr lvl="1"/>
            <a:r>
              <a:rPr lang="en-US" dirty="0"/>
              <a:t>Refit the winner on all 100 development engines</a:t>
            </a:r>
          </a:p>
        </p:txBody>
      </p:sp>
    </p:spTree>
    <p:extLst>
      <p:ext uri="{BB962C8B-B14F-4D97-AF65-F5344CB8AC3E}">
        <p14:creationId xmlns:p14="http://schemas.microsoft.com/office/powerpoint/2010/main" val="1397681697"/>
      </p:ext>
    </p:extLst>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8167-C896-21AF-C8DD-F7091D182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47A4D-141B-6B14-E875-6D506783B751}"/>
              </a:ext>
            </a:extLst>
          </p:cNvPr>
          <p:cNvSpPr>
            <a:spLocks noGrp="1"/>
          </p:cNvSpPr>
          <p:nvPr>
            <p:ph type="title"/>
          </p:nvPr>
        </p:nvSpPr>
        <p:spPr/>
        <p:txBody>
          <a:bodyPr>
            <a:normAutofit/>
          </a:bodyPr>
          <a:lstStyle/>
          <a:p>
            <a:r>
              <a:rPr lang="en-US" dirty="0"/>
              <a:t>Phase 1.6: Grouped Cross-validation and final model selection</a:t>
            </a:r>
          </a:p>
        </p:txBody>
      </p:sp>
      <p:sp>
        <p:nvSpPr>
          <p:cNvPr id="3" name="Content Placeholder 2">
            <a:extLst>
              <a:ext uri="{FF2B5EF4-FFF2-40B4-BE49-F238E27FC236}">
                <a16:creationId xmlns:a16="http://schemas.microsoft.com/office/drawing/2014/main" id="{BF803CA4-EC3B-2119-C9F4-8D04C8C04877}"/>
              </a:ext>
            </a:extLst>
          </p:cNvPr>
          <p:cNvSpPr>
            <a:spLocks noGrp="1"/>
          </p:cNvSpPr>
          <p:nvPr>
            <p:ph idx="1"/>
          </p:nvPr>
        </p:nvSpPr>
        <p:spPr/>
        <p:txBody>
          <a:bodyPr/>
          <a:lstStyle/>
          <a:p>
            <a:pPr marL="0" indent="0">
              <a:buNone/>
            </a:pPr>
            <a:r>
              <a:rPr lang="en-US" b="1" dirty="0"/>
              <a:t>Question #1: </a:t>
            </a:r>
            <a:r>
              <a:rPr lang="en-US" dirty="0"/>
              <a:t>Why is grouped cross-validation by engine stronger evidence than choosing the final model from a single train/validation split?</a:t>
            </a:r>
          </a:p>
        </p:txBody>
      </p:sp>
    </p:spTree>
    <p:extLst>
      <p:ext uri="{BB962C8B-B14F-4D97-AF65-F5344CB8AC3E}">
        <p14:creationId xmlns:p14="http://schemas.microsoft.com/office/powerpoint/2010/main" val="33317035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065A7-669F-BB82-6ED6-D477037A331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87D56F8-A7D5-0D11-A5CE-0CC8B96EF4D7}"/>
              </a:ext>
            </a:extLst>
          </p:cNvPr>
          <p:cNvPicPr>
            <a:picLocks noChangeAspect="1"/>
          </p:cNvPicPr>
          <p:nvPr/>
        </p:nvPicPr>
        <p:blipFill>
          <a:blip r:embed="rId2"/>
          <a:stretch>
            <a:fillRect/>
          </a:stretch>
        </p:blipFill>
        <p:spPr>
          <a:xfrm>
            <a:off x="0" y="0"/>
            <a:ext cx="6029913" cy="4550735"/>
          </a:xfrm>
          <a:prstGeom prst="rect">
            <a:avLst/>
          </a:prstGeom>
        </p:spPr>
      </p:pic>
      <p:pic>
        <p:nvPicPr>
          <p:cNvPr id="3" name="Picture 2">
            <a:extLst>
              <a:ext uri="{FF2B5EF4-FFF2-40B4-BE49-F238E27FC236}">
                <a16:creationId xmlns:a16="http://schemas.microsoft.com/office/drawing/2014/main" id="{F5CA3C49-7428-B20A-7AC7-B9C5E3F5F840}"/>
              </a:ext>
            </a:extLst>
          </p:cNvPr>
          <p:cNvPicPr>
            <a:picLocks noChangeAspect="1"/>
          </p:cNvPicPr>
          <p:nvPr/>
        </p:nvPicPr>
        <p:blipFill>
          <a:blip r:embed="rId3"/>
          <a:stretch>
            <a:fillRect/>
          </a:stretch>
        </p:blipFill>
        <p:spPr>
          <a:xfrm>
            <a:off x="6225421" y="0"/>
            <a:ext cx="5966579" cy="5138313"/>
          </a:xfrm>
          <a:prstGeom prst="rect">
            <a:avLst/>
          </a:prstGeom>
        </p:spPr>
      </p:pic>
    </p:spTree>
    <p:extLst>
      <p:ext uri="{BB962C8B-B14F-4D97-AF65-F5344CB8AC3E}">
        <p14:creationId xmlns:p14="http://schemas.microsoft.com/office/powerpoint/2010/main" val="11344231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1ADB-9176-4BF1-63F3-7D3679ABF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EB90D-64C4-332F-3E9F-0B201242DC47}"/>
              </a:ext>
            </a:extLst>
          </p:cNvPr>
          <p:cNvSpPr>
            <a:spLocks noGrp="1"/>
          </p:cNvSpPr>
          <p:nvPr>
            <p:ph type="title"/>
          </p:nvPr>
        </p:nvSpPr>
        <p:spPr/>
        <p:txBody>
          <a:bodyPr>
            <a:normAutofit/>
          </a:bodyPr>
          <a:lstStyle/>
          <a:p>
            <a:r>
              <a:rPr lang="en-US" dirty="0"/>
              <a:t>Phase 1.6: Grouped Cross-validation and final model selection</a:t>
            </a:r>
          </a:p>
        </p:txBody>
      </p:sp>
      <p:sp>
        <p:nvSpPr>
          <p:cNvPr id="3" name="Content Placeholder 2">
            <a:extLst>
              <a:ext uri="{FF2B5EF4-FFF2-40B4-BE49-F238E27FC236}">
                <a16:creationId xmlns:a16="http://schemas.microsoft.com/office/drawing/2014/main" id="{41B86DFB-7B66-3EA5-2A34-6FADE28C8FF5}"/>
              </a:ext>
            </a:extLst>
          </p:cNvPr>
          <p:cNvSpPr>
            <a:spLocks noGrp="1"/>
          </p:cNvSpPr>
          <p:nvPr>
            <p:ph idx="1"/>
          </p:nvPr>
        </p:nvSpPr>
        <p:spPr/>
        <p:txBody>
          <a:bodyPr/>
          <a:lstStyle/>
          <a:p>
            <a:pPr marL="0" indent="0">
              <a:buNone/>
            </a:pPr>
            <a:r>
              <a:rPr lang="en-US" b="1" dirty="0"/>
              <a:t>Answer #1: </a:t>
            </a:r>
            <a:r>
              <a:rPr lang="en-US" dirty="0"/>
              <a:t>Because the model’s ability to make accurate predictions will inevitably vary from engine to engine. If we were to make development decisions base on a single cross-validation split, there would be a risk of being informed by unrealistic metrics, i.e., the RMSE on the particular fold we are using could be unusually high or low. Using grouped cross-validation reduces the risk of getting skewed metrics that aren’t reflective of how the model will generalize to unseen data and gives us better indicators on how the model will perform on the official held-out test set.</a:t>
            </a:r>
          </a:p>
        </p:txBody>
      </p:sp>
    </p:spTree>
    <p:extLst>
      <p:ext uri="{BB962C8B-B14F-4D97-AF65-F5344CB8AC3E}">
        <p14:creationId xmlns:p14="http://schemas.microsoft.com/office/powerpoint/2010/main" val="37431130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D9AFD67-1530-0B19-FD60-2B20B5DFB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90E85-27DA-B49B-B69D-B10A23B63664}"/>
              </a:ext>
            </a:extLst>
          </p:cNvPr>
          <p:cNvSpPr>
            <a:spLocks noGrp="1"/>
          </p:cNvSpPr>
          <p:nvPr>
            <p:ph type="title"/>
          </p:nvPr>
        </p:nvSpPr>
        <p:spPr/>
        <p:txBody>
          <a:bodyPr>
            <a:noAutofit/>
          </a:bodyPr>
          <a:lstStyle/>
          <a:p>
            <a:r>
              <a:rPr lang="en-US" sz="3200" dirty="0"/>
              <a:t>Why is grouped cross-validation by engine stronger evidence than choosing the final model from a single train/validation split?</a:t>
            </a:r>
          </a:p>
        </p:txBody>
      </p:sp>
      <p:sp>
        <p:nvSpPr>
          <p:cNvPr id="3" name="Content Placeholder 2">
            <a:extLst>
              <a:ext uri="{FF2B5EF4-FFF2-40B4-BE49-F238E27FC236}">
                <a16:creationId xmlns:a16="http://schemas.microsoft.com/office/drawing/2014/main" id="{66319240-DF76-B283-41AC-CAAE6EDC93F0}"/>
              </a:ext>
            </a:extLst>
          </p:cNvPr>
          <p:cNvSpPr>
            <a:spLocks noGrp="1"/>
          </p:cNvSpPr>
          <p:nvPr>
            <p:ph idx="1"/>
          </p:nvPr>
        </p:nvSpPr>
        <p:spPr/>
        <p:txBody>
          <a:bodyPr>
            <a:normAutofit fontScale="92500" lnSpcReduction="20000"/>
          </a:bodyPr>
          <a:lstStyle/>
          <a:p>
            <a:pPr marL="0" indent="0">
              <a:buNone/>
            </a:pPr>
            <a:r>
              <a:rPr lang="en-US" dirty="0"/>
              <a:t>Grouped cross-validation by engine provides stronger evidence than selecting a model from a single grouped train/validation split because performance can vary substantially on which engines happen to be held out. A single split may therefore make a candidate look unusually strong or weak. In grouped CV, every development engine is held out exactly once across several folds, so we evaluate the candidate on multiple unseen-engine populations. This gives us a more robust estimate of generalization and also lets us measure how stable performance is across different groups of engines.</a:t>
            </a:r>
          </a:p>
          <a:p>
            <a:pPr marL="0" indent="0">
              <a:buNone/>
            </a:pPr>
            <a:endParaRPr lang="en-US" dirty="0"/>
          </a:p>
          <a:p>
            <a:r>
              <a:rPr lang="en-US" sz="1900" dirty="0"/>
              <a:t>One split can be lucky or unlucky.</a:t>
            </a:r>
          </a:p>
          <a:p>
            <a:r>
              <a:rPr lang="en-US" sz="1900" dirty="0"/>
              <a:t>Grouped CV repeatedly tests on unseen engines.</a:t>
            </a:r>
          </a:p>
          <a:p>
            <a:r>
              <a:rPr lang="en-US" sz="1900" dirty="0"/>
              <a:t>Every engine is held out exactly once.</a:t>
            </a:r>
          </a:p>
          <a:p>
            <a:r>
              <a:rPr lang="en-US" sz="1900" dirty="0"/>
              <a:t>Pooled OOF performance tells us overall generalization; fold variability tells us stability.</a:t>
            </a:r>
          </a:p>
        </p:txBody>
      </p:sp>
    </p:spTree>
    <p:extLst>
      <p:ext uri="{BB962C8B-B14F-4D97-AF65-F5344CB8AC3E}">
        <p14:creationId xmlns:p14="http://schemas.microsoft.com/office/powerpoint/2010/main" val="934366285"/>
      </p:ext>
    </p:extLst>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467A3-1747-F3A5-959A-6A409457D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655F0-2E32-CB4B-9C60-477EF2D7FA53}"/>
              </a:ext>
            </a:extLst>
          </p:cNvPr>
          <p:cNvSpPr>
            <a:spLocks noGrp="1"/>
          </p:cNvSpPr>
          <p:nvPr>
            <p:ph type="title"/>
          </p:nvPr>
        </p:nvSpPr>
        <p:spPr/>
        <p:txBody>
          <a:bodyPr>
            <a:normAutofit/>
          </a:bodyPr>
          <a:lstStyle/>
          <a:p>
            <a:r>
              <a:rPr lang="en-US" dirty="0"/>
              <a:t>Phase 1.6: Grouped Cross-validation and final model selection</a:t>
            </a:r>
          </a:p>
        </p:txBody>
      </p:sp>
      <p:sp>
        <p:nvSpPr>
          <p:cNvPr id="3" name="Content Placeholder 2">
            <a:extLst>
              <a:ext uri="{FF2B5EF4-FFF2-40B4-BE49-F238E27FC236}">
                <a16:creationId xmlns:a16="http://schemas.microsoft.com/office/drawing/2014/main" id="{D5199C45-E306-FDAC-CD6D-442EFA49557B}"/>
              </a:ext>
            </a:extLst>
          </p:cNvPr>
          <p:cNvSpPr>
            <a:spLocks noGrp="1"/>
          </p:cNvSpPr>
          <p:nvPr>
            <p:ph idx="1"/>
          </p:nvPr>
        </p:nvSpPr>
        <p:spPr/>
        <p:txBody>
          <a:bodyPr/>
          <a:lstStyle/>
          <a:p>
            <a:pPr marL="0" indent="0">
              <a:buNone/>
            </a:pPr>
            <a:r>
              <a:rPr lang="en-US" b="1" dirty="0"/>
              <a:t>Question #2: </a:t>
            </a:r>
            <a:r>
              <a:rPr lang="en-US" dirty="0"/>
              <a:t>What different information do pooled out-of-fold RMSE and fold-to-fold RMSE variability provide when comparing candidate models?</a:t>
            </a:r>
          </a:p>
        </p:txBody>
      </p:sp>
    </p:spTree>
    <p:extLst>
      <p:ext uri="{BB962C8B-B14F-4D97-AF65-F5344CB8AC3E}">
        <p14:creationId xmlns:p14="http://schemas.microsoft.com/office/powerpoint/2010/main" val="409890690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A5068-04C8-428E-FAAD-BFFD196B597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DA829BF-2BC2-F632-2EA6-D0EDB9F09319}"/>
              </a:ext>
            </a:extLst>
          </p:cNvPr>
          <p:cNvPicPr>
            <a:picLocks noChangeAspect="1"/>
          </p:cNvPicPr>
          <p:nvPr/>
        </p:nvPicPr>
        <p:blipFill>
          <a:blip r:embed="rId2"/>
          <a:stretch>
            <a:fillRect/>
          </a:stretch>
        </p:blipFill>
        <p:spPr>
          <a:xfrm>
            <a:off x="0" y="1"/>
            <a:ext cx="6331687" cy="4274287"/>
          </a:xfrm>
          <a:prstGeom prst="rect">
            <a:avLst/>
          </a:prstGeom>
        </p:spPr>
      </p:pic>
      <p:pic>
        <p:nvPicPr>
          <p:cNvPr id="3" name="Picture 2">
            <a:extLst>
              <a:ext uri="{FF2B5EF4-FFF2-40B4-BE49-F238E27FC236}">
                <a16:creationId xmlns:a16="http://schemas.microsoft.com/office/drawing/2014/main" id="{12D6762B-9E03-39A8-1619-8A24A72332BF}"/>
              </a:ext>
            </a:extLst>
          </p:cNvPr>
          <p:cNvPicPr>
            <a:picLocks noChangeAspect="1"/>
          </p:cNvPicPr>
          <p:nvPr/>
        </p:nvPicPr>
        <p:blipFill>
          <a:blip r:embed="rId3"/>
          <a:stretch>
            <a:fillRect/>
          </a:stretch>
        </p:blipFill>
        <p:spPr>
          <a:xfrm>
            <a:off x="0" y="4284470"/>
            <a:ext cx="6096000" cy="2573529"/>
          </a:xfrm>
          <a:prstGeom prst="rect">
            <a:avLst/>
          </a:prstGeom>
        </p:spPr>
      </p:pic>
      <p:pic>
        <p:nvPicPr>
          <p:cNvPr id="5" name="Picture 4">
            <a:extLst>
              <a:ext uri="{FF2B5EF4-FFF2-40B4-BE49-F238E27FC236}">
                <a16:creationId xmlns:a16="http://schemas.microsoft.com/office/drawing/2014/main" id="{8E97CD4C-1F5C-2272-A85B-F891F45A2569}"/>
              </a:ext>
            </a:extLst>
          </p:cNvPr>
          <p:cNvPicPr>
            <a:picLocks noChangeAspect="1"/>
          </p:cNvPicPr>
          <p:nvPr/>
        </p:nvPicPr>
        <p:blipFill>
          <a:blip r:embed="rId4"/>
          <a:stretch>
            <a:fillRect/>
          </a:stretch>
        </p:blipFill>
        <p:spPr>
          <a:xfrm>
            <a:off x="6444621" y="0"/>
            <a:ext cx="5747379" cy="5433237"/>
          </a:xfrm>
          <a:prstGeom prst="rect">
            <a:avLst/>
          </a:prstGeom>
        </p:spPr>
      </p:pic>
    </p:spTree>
    <p:extLst>
      <p:ext uri="{BB962C8B-B14F-4D97-AF65-F5344CB8AC3E}">
        <p14:creationId xmlns:p14="http://schemas.microsoft.com/office/powerpoint/2010/main" val="71705473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B577B-8AD2-379D-FCFB-7CD8206B0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54F92-DF43-35E2-F38F-ACC82473B63A}"/>
              </a:ext>
            </a:extLst>
          </p:cNvPr>
          <p:cNvSpPr>
            <a:spLocks noGrp="1"/>
          </p:cNvSpPr>
          <p:nvPr>
            <p:ph type="title"/>
          </p:nvPr>
        </p:nvSpPr>
        <p:spPr/>
        <p:txBody>
          <a:bodyPr>
            <a:normAutofit/>
          </a:bodyPr>
          <a:lstStyle/>
          <a:p>
            <a:r>
              <a:rPr lang="en-US" dirty="0"/>
              <a:t>Phase 1.6: Grouped Cross-validation and final model selection</a:t>
            </a:r>
          </a:p>
        </p:txBody>
      </p:sp>
      <p:sp>
        <p:nvSpPr>
          <p:cNvPr id="3" name="Content Placeholder 2">
            <a:extLst>
              <a:ext uri="{FF2B5EF4-FFF2-40B4-BE49-F238E27FC236}">
                <a16:creationId xmlns:a16="http://schemas.microsoft.com/office/drawing/2014/main" id="{4D6D2789-68B7-94A0-5702-6439F1B5DA26}"/>
              </a:ext>
            </a:extLst>
          </p:cNvPr>
          <p:cNvSpPr>
            <a:spLocks noGrp="1"/>
          </p:cNvSpPr>
          <p:nvPr>
            <p:ph idx="1"/>
          </p:nvPr>
        </p:nvSpPr>
        <p:spPr/>
        <p:txBody>
          <a:bodyPr/>
          <a:lstStyle/>
          <a:p>
            <a:pPr marL="0" indent="0">
              <a:buNone/>
            </a:pPr>
            <a:r>
              <a:rPr lang="en-US" b="1" dirty="0"/>
              <a:t>Answer #1: </a:t>
            </a:r>
            <a:r>
              <a:rPr lang="en-US" dirty="0"/>
              <a:t>Pooled out-of-fold RMSE is the result of calculating the RMSE of all collected error measurements on each of the engines when it was their turn to be in the held-out set (each engine was in the held-out set exactly once across the five ~80/20 splits). It tells us the overall generalization ability of the model. Fold-to-fold RMSE variability is the result of calculating the variability across the five folds. This tells us the stability of the model’s ability to generalize. High variability would indicate low stability, and a perfect variability would be zero.</a:t>
            </a:r>
          </a:p>
        </p:txBody>
      </p:sp>
    </p:spTree>
    <p:extLst>
      <p:ext uri="{BB962C8B-B14F-4D97-AF65-F5344CB8AC3E}">
        <p14:creationId xmlns:p14="http://schemas.microsoft.com/office/powerpoint/2010/main" val="149070077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204B018-F9CA-9DB6-2B0E-34EC04E48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D1758-F9F3-4A6C-B5A8-004E624ED760}"/>
              </a:ext>
            </a:extLst>
          </p:cNvPr>
          <p:cNvSpPr>
            <a:spLocks noGrp="1"/>
          </p:cNvSpPr>
          <p:nvPr>
            <p:ph type="title"/>
          </p:nvPr>
        </p:nvSpPr>
        <p:spPr/>
        <p:txBody>
          <a:bodyPr>
            <a:noAutofit/>
          </a:bodyPr>
          <a:lstStyle/>
          <a:p>
            <a:r>
              <a:rPr lang="en-US" sz="3200" dirty="0"/>
              <a:t>What different information do pooled out-of-fold RMSE and fold-to-fold RMSE variability provide when comparing candidate models?</a:t>
            </a:r>
          </a:p>
        </p:txBody>
      </p:sp>
      <p:sp>
        <p:nvSpPr>
          <p:cNvPr id="3" name="Content Placeholder 2">
            <a:extLst>
              <a:ext uri="{FF2B5EF4-FFF2-40B4-BE49-F238E27FC236}">
                <a16:creationId xmlns:a16="http://schemas.microsoft.com/office/drawing/2014/main" id="{D4DCF994-FFC5-3E30-34DA-73A29AE6C435}"/>
              </a:ext>
            </a:extLst>
          </p:cNvPr>
          <p:cNvSpPr>
            <a:spLocks noGrp="1"/>
          </p:cNvSpPr>
          <p:nvPr>
            <p:ph idx="1"/>
          </p:nvPr>
        </p:nvSpPr>
        <p:spPr/>
        <p:txBody>
          <a:bodyPr>
            <a:normAutofit fontScale="85000" lnSpcReduction="10000"/>
          </a:bodyPr>
          <a:lstStyle/>
          <a:p>
            <a:pPr marL="0" indent="0">
              <a:buNone/>
            </a:pPr>
            <a:r>
              <a:rPr lang="en-US" dirty="0"/>
              <a:t>Pooled out-of-fold RMSE measures overall predictive performance by combining the errors from all eligible OOF predictions across the five grouped folds and calculating one RMSE over that full held-out population. Fold-to-fold RMSE variability measures how much performance changes depending on which engines are held out. Low variability suggests more stable generalization across different engine groups, while high variability suggests the model is more sensitive to the particular held-out population.</a:t>
            </a:r>
          </a:p>
          <a:p>
            <a:pPr marL="0" indent="0">
              <a:buNone/>
            </a:pPr>
            <a:endParaRPr lang="en-US" dirty="0"/>
          </a:p>
          <a:p>
            <a:r>
              <a:rPr lang="en-US" sz="2400" dirty="0"/>
              <a:t>Pooled OOF RMSE = overall performance.</a:t>
            </a:r>
          </a:p>
          <a:p>
            <a:r>
              <a:rPr lang="en-US" sz="2400" dirty="0"/>
              <a:t>Fold variability = stability.</a:t>
            </a:r>
          </a:p>
          <a:p>
            <a:r>
              <a:rPr lang="en-US" sz="2400" dirty="0"/>
              <a:t>Low variability does not automatically mean good performance; it can mean consistently good or consistently bad. </a:t>
            </a:r>
          </a:p>
          <a:p>
            <a:r>
              <a:rPr lang="en-US" sz="2400" dirty="0"/>
              <a:t>A model can have similar pooled RMSE to another model but much worse stability.</a:t>
            </a:r>
          </a:p>
        </p:txBody>
      </p:sp>
    </p:spTree>
    <p:extLst>
      <p:ext uri="{BB962C8B-B14F-4D97-AF65-F5344CB8AC3E}">
        <p14:creationId xmlns:p14="http://schemas.microsoft.com/office/powerpoint/2010/main" val="770172215"/>
      </p:ext>
    </p:extLst>
  </p:cSld>
  <p:clrMapOvr>
    <a:overrideClrMapping bg1="lt1" tx1="dk1" bg2="lt2" tx2="dk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C167C4E0-D96D-25A2-2396-DB8C19B04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3C2D9-71D3-1202-31FA-6CE6A52DC756}"/>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70F2EB1D-E22B-4462-39B6-CF1508901483}"/>
              </a:ext>
            </a:extLst>
          </p:cNvPr>
          <p:cNvSpPr>
            <a:spLocks noGrp="1"/>
          </p:cNvSpPr>
          <p:nvPr>
            <p:ph idx="1"/>
          </p:nvPr>
        </p:nvSpPr>
        <p:spPr/>
        <p:txBody>
          <a:bodyPr>
            <a:normAutofit fontScale="77500" lnSpcReduction="20000"/>
          </a:bodyPr>
          <a:lstStyle/>
          <a:p>
            <a:pPr marL="0" indent="0">
              <a:buNone/>
            </a:pPr>
            <a:r>
              <a:rPr lang="en-US" b="1" dirty="0"/>
              <a:t>Phase 2.1 — Production-Style Inference Pipeline</a:t>
            </a:r>
            <a:endParaRPr lang="en-US" dirty="0"/>
          </a:p>
          <a:p>
            <a:pPr lvl="0"/>
            <a:r>
              <a:rPr lang="en-US" dirty="0"/>
              <a:t>Define the inference contract: what exactly does a caller submit? </a:t>
            </a:r>
          </a:p>
          <a:p>
            <a:pPr lvl="0"/>
            <a:r>
              <a:rPr lang="en-US" dirty="0"/>
              <a:t>Accept raw engine-history observations rather than pre-engineered model features. </a:t>
            </a:r>
          </a:p>
          <a:p>
            <a:pPr lvl="0"/>
            <a:r>
              <a:rPr lang="en-US" dirty="0"/>
              <a:t>Validate required operating settings/sensors, types, cycle ordering, and engine consistency. </a:t>
            </a:r>
          </a:p>
          <a:p>
            <a:pPr lvl="0"/>
            <a:r>
              <a:rPr lang="en-US" dirty="0"/>
              <a:t>Reproduce the exact Phase 1 temporal feature engineering. </a:t>
            </a:r>
          </a:p>
          <a:p>
            <a:pPr lvl="0"/>
            <a:r>
              <a:rPr lang="en-US" dirty="0"/>
              <a:t>Enforce the cycle-10 minimum-history requirement. </a:t>
            </a:r>
          </a:p>
          <a:p>
            <a:pPr lvl="0"/>
            <a:r>
              <a:rPr lang="en-US" dirty="0"/>
              <a:t>Load the frozen Phase 1 model/artifact metadata. </a:t>
            </a:r>
          </a:p>
          <a:p>
            <a:pPr lvl="0"/>
            <a:r>
              <a:rPr lang="en-US" dirty="0"/>
              <a:t>Produce an RUL prediction for the latest eligible cycle. </a:t>
            </a:r>
          </a:p>
          <a:p>
            <a:pPr lvl="0"/>
            <a:r>
              <a:rPr lang="en-US" dirty="0"/>
              <a:t>Handle insufficient history, missing columns, duplicate cycles, </a:t>
            </a:r>
            <a:r>
              <a:rPr lang="en-US" dirty="0" err="1"/>
              <a:t>NaNs</a:t>
            </a:r>
            <a:r>
              <a:rPr lang="en-US" dirty="0"/>
              <a:t>, malformed input, etc. </a:t>
            </a:r>
          </a:p>
          <a:p>
            <a:pPr lvl="0"/>
            <a:r>
              <a:rPr lang="en-US" dirty="0"/>
              <a:t>Add inference-specific unit tests.</a:t>
            </a:r>
          </a:p>
          <a:p>
            <a:pPr marL="0" indent="0">
              <a:buNone/>
            </a:pPr>
            <a:endParaRPr lang="en-US" dirty="0"/>
          </a:p>
        </p:txBody>
      </p:sp>
    </p:spTree>
    <p:extLst>
      <p:ext uri="{BB962C8B-B14F-4D97-AF65-F5344CB8AC3E}">
        <p14:creationId xmlns:p14="http://schemas.microsoft.com/office/powerpoint/2010/main" val="597268146"/>
      </p:ext>
    </p:extLst>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6BF89-F3D0-4B12-7BCB-E8602A541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2F636-425D-86B6-3903-A5F8DA01110C}"/>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F8AF4C02-3471-9A25-C3A4-E62BFF94AA78}"/>
              </a:ext>
            </a:extLst>
          </p:cNvPr>
          <p:cNvSpPr>
            <a:spLocks noGrp="1"/>
          </p:cNvSpPr>
          <p:nvPr>
            <p:ph idx="1"/>
          </p:nvPr>
        </p:nvSpPr>
        <p:spPr/>
        <p:txBody>
          <a:bodyPr/>
          <a:lstStyle/>
          <a:p>
            <a:r>
              <a:rPr lang="en-US" dirty="0"/>
              <a:t>Question #1: Walk me through the inference pipeline from incoming engine measurements to the final RUL prediction. </a:t>
            </a:r>
          </a:p>
        </p:txBody>
      </p:sp>
    </p:spTree>
    <p:extLst>
      <p:ext uri="{BB962C8B-B14F-4D97-AF65-F5344CB8AC3E}">
        <p14:creationId xmlns:p14="http://schemas.microsoft.com/office/powerpoint/2010/main" val="34431197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674B-8E10-1812-0E87-A0295DE08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4D706-C14B-251C-A880-6E715567B7AF}"/>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1238F736-CD98-9C66-AD0B-ED8F61F4B7DA}"/>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4641A742-D304-2F00-29BD-993F730E772E}"/>
              </a:ext>
            </a:extLst>
          </p:cNvPr>
          <p:cNvPicPr>
            <a:picLocks noChangeAspect="1"/>
          </p:cNvPicPr>
          <p:nvPr/>
        </p:nvPicPr>
        <p:blipFill>
          <a:blip r:embed="rId2"/>
          <a:stretch>
            <a:fillRect/>
          </a:stretch>
        </p:blipFill>
        <p:spPr>
          <a:xfrm>
            <a:off x="0" y="3800659"/>
            <a:ext cx="4593291" cy="3057341"/>
          </a:xfrm>
          <a:prstGeom prst="rect">
            <a:avLst/>
          </a:prstGeom>
        </p:spPr>
      </p:pic>
    </p:spTree>
    <p:extLst>
      <p:ext uri="{BB962C8B-B14F-4D97-AF65-F5344CB8AC3E}">
        <p14:creationId xmlns:p14="http://schemas.microsoft.com/office/powerpoint/2010/main" val="94303644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6A983-1154-8885-17C9-3A6C7CD3E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C43AC-4CFA-2B64-0279-F86560DF7E7C}"/>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0DE69817-CA75-632B-582C-0BA0A5AEA14F}"/>
              </a:ext>
            </a:extLst>
          </p:cNvPr>
          <p:cNvSpPr>
            <a:spLocks noGrp="1"/>
          </p:cNvSpPr>
          <p:nvPr>
            <p:ph idx="1"/>
          </p:nvPr>
        </p:nvSpPr>
        <p:spPr/>
        <p:txBody>
          <a:bodyPr/>
          <a:lstStyle/>
          <a:p>
            <a:r>
              <a:rPr lang="en-US" dirty="0"/>
              <a:t>Question #2: What input problems and edge cases must the inference pipeline handle, and how should it respond?  </a:t>
            </a:r>
          </a:p>
        </p:txBody>
      </p:sp>
    </p:spTree>
    <p:extLst>
      <p:ext uri="{BB962C8B-B14F-4D97-AF65-F5344CB8AC3E}">
        <p14:creationId xmlns:p14="http://schemas.microsoft.com/office/powerpoint/2010/main" val="19210706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2EB12-9D65-B626-9F59-893214B30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CBC93-BE8B-85E3-596B-4A83D578AFC6}"/>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471B8510-275C-6004-D0E8-02C531EA3BDA}"/>
              </a:ext>
            </a:extLst>
          </p:cNvPr>
          <p:cNvSpPr>
            <a:spLocks noGrp="1"/>
          </p:cNvSpPr>
          <p:nvPr>
            <p:ph idx="1"/>
          </p:nvPr>
        </p:nvSpPr>
        <p:spPr/>
        <p:txBody>
          <a:bodyPr/>
          <a:lstStyle/>
          <a:p>
            <a:r>
              <a:rPr lang="en-US" dirty="0"/>
              <a:t>Answer #:</a:t>
            </a:r>
          </a:p>
        </p:txBody>
      </p:sp>
      <p:pic>
        <p:nvPicPr>
          <p:cNvPr id="4" name="Picture 3">
            <a:extLst>
              <a:ext uri="{FF2B5EF4-FFF2-40B4-BE49-F238E27FC236}">
                <a16:creationId xmlns:a16="http://schemas.microsoft.com/office/drawing/2014/main" id="{9314DF38-B36B-9095-BD4E-F412435427F6}"/>
              </a:ext>
            </a:extLst>
          </p:cNvPr>
          <p:cNvPicPr>
            <a:picLocks noChangeAspect="1"/>
          </p:cNvPicPr>
          <p:nvPr/>
        </p:nvPicPr>
        <p:blipFill>
          <a:blip r:embed="rId2"/>
          <a:stretch>
            <a:fillRect/>
          </a:stretch>
        </p:blipFill>
        <p:spPr>
          <a:xfrm>
            <a:off x="6683084" y="1314994"/>
            <a:ext cx="5508916" cy="5543006"/>
          </a:xfrm>
          <a:prstGeom prst="rect">
            <a:avLst/>
          </a:prstGeom>
        </p:spPr>
      </p:pic>
      <p:pic>
        <p:nvPicPr>
          <p:cNvPr id="5" name="Picture 4">
            <a:extLst>
              <a:ext uri="{FF2B5EF4-FFF2-40B4-BE49-F238E27FC236}">
                <a16:creationId xmlns:a16="http://schemas.microsoft.com/office/drawing/2014/main" id="{85048784-E431-BDC2-E324-540A1CA23E94}"/>
              </a:ext>
            </a:extLst>
          </p:cNvPr>
          <p:cNvPicPr>
            <a:picLocks noChangeAspect="1"/>
          </p:cNvPicPr>
          <p:nvPr/>
        </p:nvPicPr>
        <p:blipFill>
          <a:blip r:embed="rId3"/>
          <a:stretch>
            <a:fillRect/>
          </a:stretch>
        </p:blipFill>
        <p:spPr>
          <a:xfrm>
            <a:off x="0" y="4018548"/>
            <a:ext cx="6611983" cy="2839452"/>
          </a:xfrm>
          <a:prstGeom prst="rect">
            <a:avLst/>
          </a:prstGeom>
        </p:spPr>
      </p:pic>
    </p:spTree>
    <p:extLst>
      <p:ext uri="{BB962C8B-B14F-4D97-AF65-F5344CB8AC3E}">
        <p14:creationId xmlns:p14="http://schemas.microsoft.com/office/powerpoint/2010/main" val="16814711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CA3B665-A78E-9C3E-7427-8BD50DA8A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2F5AC-20A2-27A7-638B-71B2123A99BB}"/>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FBFC79EB-6520-0BDF-9FE5-A8C6AE486129}"/>
              </a:ext>
            </a:extLst>
          </p:cNvPr>
          <p:cNvSpPr>
            <a:spLocks noGrp="1"/>
          </p:cNvSpPr>
          <p:nvPr>
            <p:ph idx="1"/>
          </p:nvPr>
        </p:nvSpPr>
        <p:spPr/>
        <p:txBody>
          <a:bodyPr>
            <a:normAutofit fontScale="92500"/>
          </a:bodyPr>
          <a:lstStyle/>
          <a:p>
            <a:pPr marL="0" indent="0">
              <a:buNone/>
            </a:pPr>
            <a:r>
              <a:rPr lang="en-US" b="1" dirty="0"/>
              <a:t>Phase 2.2 — Model Serving with </a:t>
            </a:r>
            <a:r>
              <a:rPr lang="en-US" b="1" dirty="0" err="1"/>
              <a:t>FastAPI</a:t>
            </a:r>
            <a:endParaRPr lang="en-US" dirty="0"/>
          </a:p>
          <a:p>
            <a:pPr lvl="0"/>
            <a:r>
              <a:rPr lang="en-US" dirty="0"/>
              <a:t>Expose the inference pipeline through </a:t>
            </a:r>
            <a:r>
              <a:rPr lang="en-US" dirty="0" err="1"/>
              <a:t>FastAPI</a:t>
            </a:r>
            <a:r>
              <a:rPr lang="en-US" dirty="0"/>
              <a:t>. </a:t>
            </a:r>
          </a:p>
          <a:p>
            <a:pPr lvl="0"/>
            <a:r>
              <a:rPr lang="en-US" dirty="0"/>
              <a:t>Define </a:t>
            </a:r>
            <a:r>
              <a:rPr lang="en-US" dirty="0" err="1"/>
              <a:t>Pydantic</a:t>
            </a:r>
            <a:r>
              <a:rPr lang="en-US" dirty="0"/>
              <a:t> request/response schemas. </a:t>
            </a:r>
          </a:p>
          <a:p>
            <a:pPr lvl="0"/>
            <a:r>
              <a:rPr lang="en-US" dirty="0"/>
              <a:t>Add /health. </a:t>
            </a:r>
          </a:p>
          <a:p>
            <a:pPr lvl="0"/>
            <a:r>
              <a:rPr lang="en-US" dirty="0"/>
              <a:t>Add /predict. </a:t>
            </a:r>
          </a:p>
          <a:p>
            <a:pPr lvl="0"/>
            <a:r>
              <a:rPr lang="en-US" dirty="0"/>
              <a:t>Return useful validation/error responses. </a:t>
            </a:r>
          </a:p>
          <a:p>
            <a:pPr lvl="0"/>
            <a:r>
              <a:rPr lang="en-US" dirty="0"/>
              <a:t>Load the model once at application startup rather than per request. </a:t>
            </a:r>
          </a:p>
          <a:p>
            <a:pPr lvl="0"/>
            <a:r>
              <a:rPr lang="en-US" dirty="0"/>
              <a:t>Expose useful model/version metadata, either through /health, /metadata, or the prediction response.</a:t>
            </a:r>
          </a:p>
        </p:txBody>
      </p:sp>
    </p:spTree>
    <p:extLst>
      <p:ext uri="{BB962C8B-B14F-4D97-AF65-F5344CB8AC3E}">
        <p14:creationId xmlns:p14="http://schemas.microsoft.com/office/powerpoint/2010/main" val="3204167496"/>
      </p:ext>
    </p:extLst>
  </p:cSld>
  <p:clrMapOvr>
    <a:overrideClrMapping bg1="lt1" tx1="dk1" bg2="lt2" tx2="dk2" accent1="accent1" accent2="accent2" accent3="accent3" accent4="accent4" accent5="accent5" accent6="accent6" hlink="hlink" folHlink="folHlink"/>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2856-D90B-9A5B-53BF-1B45C4F7D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49573-A5E2-BD01-17A4-8083B53F11AE}"/>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6E2052EE-5903-0698-56C4-181A79024AAA}"/>
              </a:ext>
            </a:extLst>
          </p:cNvPr>
          <p:cNvSpPr>
            <a:spLocks noGrp="1"/>
          </p:cNvSpPr>
          <p:nvPr>
            <p:ph idx="1"/>
          </p:nvPr>
        </p:nvSpPr>
        <p:spPr/>
        <p:txBody>
          <a:bodyPr/>
          <a:lstStyle/>
          <a:p>
            <a:r>
              <a:rPr lang="en-US" dirty="0"/>
              <a:t>Question #1: How did you serve the RUL model through </a:t>
            </a:r>
            <a:r>
              <a:rPr lang="en-US" dirty="0" err="1"/>
              <a:t>FastAPI</a:t>
            </a:r>
            <a:r>
              <a:rPr lang="en-US" dirty="0"/>
              <a:t>, and what contract does the prediction endpoint provide?  </a:t>
            </a:r>
          </a:p>
        </p:txBody>
      </p:sp>
    </p:spTree>
    <p:extLst>
      <p:ext uri="{BB962C8B-B14F-4D97-AF65-F5344CB8AC3E}">
        <p14:creationId xmlns:p14="http://schemas.microsoft.com/office/powerpoint/2010/main" val="1183565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7F5C-9FDF-5ABC-6D13-BDDF0872D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83C15-121E-706E-7D8F-0373CD930AA9}"/>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1EEBC439-48EC-F94E-5DDC-3A674956C67D}"/>
              </a:ext>
            </a:extLst>
          </p:cNvPr>
          <p:cNvSpPr>
            <a:spLocks noGrp="1"/>
          </p:cNvSpPr>
          <p:nvPr>
            <p:ph idx="1"/>
          </p:nvPr>
        </p:nvSpPr>
        <p:spPr/>
        <p:txBody>
          <a:bodyPr/>
          <a:lstStyle/>
          <a:p>
            <a:r>
              <a:rPr lang="en-US" dirty="0"/>
              <a:t>Answer #1: </a:t>
            </a:r>
          </a:p>
        </p:txBody>
      </p:sp>
      <p:pic>
        <p:nvPicPr>
          <p:cNvPr id="4" name="Picture 3">
            <a:extLst>
              <a:ext uri="{FF2B5EF4-FFF2-40B4-BE49-F238E27FC236}">
                <a16:creationId xmlns:a16="http://schemas.microsoft.com/office/drawing/2014/main" id="{0E396EC7-14D9-A313-6B6D-39549D8558F1}"/>
              </a:ext>
            </a:extLst>
          </p:cNvPr>
          <p:cNvPicPr>
            <a:picLocks noChangeAspect="1"/>
          </p:cNvPicPr>
          <p:nvPr/>
        </p:nvPicPr>
        <p:blipFill>
          <a:blip r:embed="rId2"/>
          <a:stretch>
            <a:fillRect/>
          </a:stretch>
        </p:blipFill>
        <p:spPr>
          <a:xfrm>
            <a:off x="4969866" y="0"/>
            <a:ext cx="7222133" cy="3263935"/>
          </a:xfrm>
          <a:prstGeom prst="rect">
            <a:avLst/>
          </a:prstGeom>
        </p:spPr>
      </p:pic>
      <p:pic>
        <p:nvPicPr>
          <p:cNvPr id="5" name="Picture 4">
            <a:extLst>
              <a:ext uri="{FF2B5EF4-FFF2-40B4-BE49-F238E27FC236}">
                <a16:creationId xmlns:a16="http://schemas.microsoft.com/office/drawing/2014/main" id="{36BC8C7B-5387-2262-C976-176BD16A6968}"/>
              </a:ext>
            </a:extLst>
          </p:cNvPr>
          <p:cNvPicPr>
            <a:picLocks noChangeAspect="1"/>
          </p:cNvPicPr>
          <p:nvPr/>
        </p:nvPicPr>
        <p:blipFill>
          <a:blip r:embed="rId3"/>
          <a:stretch>
            <a:fillRect/>
          </a:stretch>
        </p:blipFill>
        <p:spPr>
          <a:xfrm>
            <a:off x="0" y="3263935"/>
            <a:ext cx="6002383" cy="3594065"/>
          </a:xfrm>
          <a:prstGeom prst="rect">
            <a:avLst/>
          </a:prstGeom>
        </p:spPr>
      </p:pic>
      <p:pic>
        <p:nvPicPr>
          <p:cNvPr id="6" name="Picture 5">
            <a:extLst>
              <a:ext uri="{FF2B5EF4-FFF2-40B4-BE49-F238E27FC236}">
                <a16:creationId xmlns:a16="http://schemas.microsoft.com/office/drawing/2014/main" id="{089573B9-054D-43A5-3D39-2109757AC8D5}"/>
              </a:ext>
            </a:extLst>
          </p:cNvPr>
          <p:cNvPicPr>
            <a:picLocks noChangeAspect="1"/>
          </p:cNvPicPr>
          <p:nvPr/>
        </p:nvPicPr>
        <p:blipFill>
          <a:blip r:embed="rId4"/>
          <a:stretch>
            <a:fillRect/>
          </a:stretch>
        </p:blipFill>
        <p:spPr>
          <a:xfrm>
            <a:off x="8280399" y="3302017"/>
            <a:ext cx="3911600" cy="3517900"/>
          </a:xfrm>
          <a:prstGeom prst="rect">
            <a:avLst/>
          </a:prstGeom>
        </p:spPr>
      </p:pic>
    </p:spTree>
    <p:extLst>
      <p:ext uri="{BB962C8B-B14F-4D97-AF65-F5344CB8AC3E}">
        <p14:creationId xmlns:p14="http://schemas.microsoft.com/office/powerpoint/2010/main" val="9361934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10F4-C34C-F0D3-B79A-883E882C0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16B60-4087-3362-41FE-228BF4B25317}"/>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7C6AF866-56B3-E110-D330-4B7A2AED45D7}"/>
              </a:ext>
            </a:extLst>
          </p:cNvPr>
          <p:cNvSpPr>
            <a:spLocks noGrp="1"/>
          </p:cNvSpPr>
          <p:nvPr>
            <p:ph idx="1"/>
          </p:nvPr>
        </p:nvSpPr>
        <p:spPr/>
        <p:txBody>
          <a:bodyPr/>
          <a:lstStyle/>
          <a:p>
            <a:r>
              <a:rPr lang="en-US" dirty="0"/>
              <a:t>Question #2: What reliability, error-handling, and operational concerns must be addressed when serving an ML model through an API? </a:t>
            </a:r>
          </a:p>
        </p:txBody>
      </p:sp>
    </p:spTree>
    <p:extLst>
      <p:ext uri="{BB962C8B-B14F-4D97-AF65-F5344CB8AC3E}">
        <p14:creationId xmlns:p14="http://schemas.microsoft.com/office/powerpoint/2010/main" val="251321405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B025F-AFC3-05B1-6C9E-7C5D7EB21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1DBFC-B990-BA05-A51A-B2625C8D604E}"/>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ACF7205E-2DA2-37D7-4079-DA8F8F91C02B}"/>
              </a:ext>
            </a:extLst>
          </p:cNvPr>
          <p:cNvSpPr>
            <a:spLocks noGrp="1"/>
          </p:cNvSpPr>
          <p:nvPr>
            <p:ph idx="1"/>
          </p:nvPr>
        </p:nvSpPr>
        <p:spPr/>
        <p:txBody>
          <a:bodyPr/>
          <a:lstStyle/>
          <a:p>
            <a:r>
              <a:rPr lang="en-US" dirty="0"/>
              <a:t>Answer #2: </a:t>
            </a:r>
          </a:p>
        </p:txBody>
      </p:sp>
      <p:pic>
        <p:nvPicPr>
          <p:cNvPr id="7" name="Picture 6">
            <a:extLst>
              <a:ext uri="{FF2B5EF4-FFF2-40B4-BE49-F238E27FC236}">
                <a16:creationId xmlns:a16="http://schemas.microsoft.com/office/drawing/2014/main" id="{3E5AD5D0-195F-B0BD-5163-035155C85CDE}"/>
              </a:ext>
            </a:extLst>
          </p:cNvPr>
          <p:cNvPicPr>
            <a:picLocks noChangeAspect="1"/>
          </p:cNvPicPr>
          <p:nvPr/>
        </p:nvPicPr>
        <p:blipFill>
          <a:blip r:embed="rId2"/>
          <a:stretch>
            <a:fillRect/>
          </a:stretch>
        </p:blipFill>
        <p:spPr>
          <a:xfrm>
            <a:off x="7322087" y="0"/>
            <a:ext cx="4869913" cy="5167312"/>
          </a:xfrm>
          <a:prstGeom prst="rect">
            <a:avLst/>
          </a:prstGeom>
        </p:spPr>
      </p:pic>
      <p:pic>
        <p:nvPicPr>
          <p:cNvPr id="8" name="Picture 7">
            <a:extLst>
              <a:ext uri="{FF2B5EF4-FFF2-40B4-BE49-F238E27FC236}">
                <a16:creationId xmlns:a16="http://schemas.microsoft.com/office/drawing/2014/main" id="{D2E52912-D5E7-9B0A-B430-F5532E5732BA}"/>
              </a:ext>
            </a:extLst>
          </p:cNvPr>
          <p:cNvPicPr>
            <a:picLocks noChangeAspect="1"/>
          </p:cNvPicPr>
          <p:nvPr/>
        </p:nvPicPr>
        <p:blipFill>
          <a:blip r:embed="rId3"/>
          <a:stretch>
            <a:fillRect/>
          </a:stretch>
        </p:blipFill>
        <p:spPr>
          <a:xfrm>
            <a:off x="0" y="3429000"/>
            <a:ext cx="6170690" cy="3429000"/>
          </a:xfrm>
          <a:prstGeom prst="rect">
            <a:avLst/>
          </a:prstGeom>
        </p:spPr>
      </p:pic>
    </p:spTree>
    <p:extLst>
      <p:ext uri="{BB962C8B-B14F-4D97-AF65-F5344CB8AC3E}">
        <p14:creationId xmlns:p14="http://schemas.microsoft.com/office/powerpoint/2010/main" val="103476806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715AEE4-C809-70B6-5D56-953024CF4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3AF27-7B5E-E0C5-02B3-BE840B711549}"/>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9188683D-9846-E6AE-1077-08AEC7597235}"/>
              </a:ext>
            </a:extLst>
          </p:cNvPr>
          <p:cNvSpPr>
            <a:spLocks noGrp="1"/>
          </p:cNvSpPr>
          <p:nvPr>
            <p:ph idx="1"/>
          </p:nvPr>
        </p:nvSpPr>
        <p:spPr/>
        <p:txBody>
          <a:bodyPr>
            <a:normAutofit lnSpcReduction="10000"/>
          </a:bodyPr>
          <a:lstStyle/>
          <a:p>
            <a:pPr marL="0" indent="0">
              <a:buNone/>
            </a:pPr>
            <a:r>
              <a:rPr lang="en-US" b="1" dirty="0"/>
              <a:t>Phase 2.3 — Automated Testing</a:t>
            </a:r>
            <a:endParaRPr lang="en-US" dirty="0"/>
          </a:p>
          <a:p>
            <a:pPr lvl="0"/>
            <a:r>
              <a:rPr lang="en-US" dirty="0"/>
              <a:t>Data/schema-validation tests. </a:t>
            </a:r>
          </a:p>
          <a:p>
            <a:pPr lvl="0"/>
            <a:r>
              <a:rPr lang="en-US" dirty="0"/>
              <a:t>Temporal-feature tests. </a:t>
            </a:r>
          </a:p>
          <a:p>
            <a:pPr lvl="0"/>
            <a:r>
              <a:rPr lang="en-US" dirty="0"/>
              <a:t>Causality / engine-isolation regression tests. </a:t>
            </a:r>
          </a:p>
          <a:p>
            <a:pPr lvl="0"/>
            <a:r>
              <a:rPr lang="en-US" dirty="0"/>
              <a:t>Insufficient-history tests. </a:t>
            </a:r>
          </a:p>
          <a:p>
            <a:pPr lvl="0"/>
            <a:r>
              <a:rPr lang="en-US" dirty="0"/>
              <a:t>Model-loading and artifact-integrity tests. </a:t>
            </a:r>
          </a:p>
          <a:p>
            <a:pPr lvl="0"/>
            <a:r>
              <a:rPr lang="en-US" dirty="0"/>
              <a:t>Inference-pipeline tests. </a:t>
            </a:r>
          </a:p>
          <a:p>
            <a:pPr lvl="0"/>
            <a:r>
              <a:rPr lang="en-US" dirty="0" err="1"/>
              <a:t>FastAPI</a:t>
            </a:r>
            <a:r>
              <a:rPr lang="en-US" dirty="0"/>
              <a:t> endpoint tests. </a:t>
            </a:r>
          </a:p>
          <a:p>
            <a:pPr lvl="0"/>
            <a:r>
              <a:rPr lang="en-US" dirty="0"/>
              <a:t>Known-input → known-output regression test.</a:t>
            </a:r>
          </a:p>
        </p:txBody>
      </p:sp>
    </p:spTree>
    <p:extLst>
      <p:ext uri="{BB962C8B-B14F-4D97-AF65-F5344CB8AC3E}">
        <p14:creationId xmlns:p14="http://schemas.microsoft.com/office/powerpoint/2010/main" val="4012933743"/>
      </p:ext>
    </p:extLst>
  </p:cSld>
  <p:clrMapOvr>
    <a:overrideClrMapping bg1="lt1" tx1="dk1" bg2="lt2" tx2="dk2" accent1="accent1" accent2="accent2" accent3="accent3" accent4="accent4" accent5="accent5" accent6="accent6" hlink="hlink" folHlink="folHlink"/>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B76B-234F-F554-8A6C-B6CE2B478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BF8F9-4742-C166-73AA-FD2FDAFB5A39}"/>
              </a:ext>
            </a:extLst>
          </p:cNvPr>
          <p:cNvSpPr>
            <a:spLocks noGrp="1"/>
          </p:cNvSpPr>
          <p:nvPr>
            <p:ph type="title"/>
          </p:nvPr>
        </p:nvSpPr>
        <p:spPr/>
        <p:txBody>
          <a:bodyPr/>
          <a:lstStyle/>
          <a:p>
            <a:r>
              <a:rPr lang="en-US" dirty="0"/>
              <a:t>Phase 2.3: Containerization and Environment Management</a:t>
            </a:r>
          </a:p>
        </p:txBody>
      </p:sp>
      <p:sp>
        <p:nvSpPr>
          <p:cNvPr id="3" name="Content Placeholder 2">
            <a:extLst>
              <a:ext uri="{FF2B5EF4-FFF2-40B4-BE49-F238E27FC236}">
                <a16:creationId xmlns:a16="http://schemas.microsoft.com/office/drawing/2014/main" id="{2400289F-D454-FB93-4C77-8FD74AF0759C}"/>
              </a:ext>
            </a:extLst>
          </p:cNvPr>
          <p:cNvSpPr>
            <a:spLocks noGrp="1"/>
          </p:cNvSpPr>
          <p:nvPr>
            <p:ph idx="1"/>
          </p:nvPr>
        </p:nvSpPr>
        <p:spPr/>
        <p:txBody>
          <a:bodyPr/>
          <a:lstStyle/>
          <a:p>
            <a:r>
              <a:rPr lang="en-US" dirty="0"/>
              <a:t>Question #1: Why did you containerize the prediction service, what does the Docker image contain, and what problems does containerization solve–or not solve? </a:t>
            </a:r>
          </a:p>
        </p:txBody>
      </p:sp>
    </p:spTree>
    <p:extLst>
      <p:ext uri="{BB962C8B-B14F-4D97-AF65-F5344CB8AC3E}">
        <p14:creationId xmlns:p14="http://schemas.microsoft.com/office/powerpoint/2010/main" val="13074172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C78B-94C8-9278-D7CF-BFC32F902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BC5BD-3B50-A372-151F-F53146D525FB}"/>
              </a:ext>
            </a:extLst>
          </p:cNvPr>
          <p:cNvSpPr>
            <a:spLocks noGrp="1"/>
          </p:cNvSpPr>
          <p:nvPr>
            <p:ph type="title"/>
          </p:nvPr>
        </p:nvSpPr>
        <p:spPr/>
        <p:txBody>
          <a:bodyPr/>
          <a:lstStyle/>
          <a:p>
            <a:r>
              <a:rPr lang="en-US" dirty="0"/>
              <a:t>Phase 2.3: Containerization and Environment Management</a:t>
            </a:r>
          </a:p>
        </p:txBody>
      </p:sp>
      <p:sp>
        <p:nvSpPr>
          <p:cNvPr id="3" name="Content Placeholder 2">
            <a:extLst>
              <a:ext uri="{FF2B5EF4-FFF2-40B4-BE49-F238E27FC236}">
                <a16:creationId xmlns:a16="http://schemas.microsoft.com/office/drawing/2014/main" id="{C9266A67-0362-256F-6368-59B4A3FE1245}"/>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35D91FEE-7D36-D375-2B42-FCD28B742FC1}"/>
              </a:ext>
            </a:extLst>
          </p:cNvPr>
          <p:cNvPicPr>
            <a:picLocks noChangeAspect="1"/>
          </p:cNvPicPr>
          <p:nvPr/>
        </p:nvPicPr>
        <p:blipFill>
          <a:blip r:embed="rId2"/>
          <a:stretch>
            <a:fillRect/>
          </a:stretch>
        </p:blipFill>
        <p:spPr>
          <a:xfrm>
            <a:off x="7404672" y="1488237"/>
            <a:ext cx="4787328" cy="5369763"/>
          </a:xfrm>
          <a:prstGeom prst="rect">
            <a:avLst/>
          </a:prstGeom>
        </p:spPr>
      </p:pic>
      <p:pic>
        <p:nvPicPr>
          <p:cNvPr id="5" name="Picture 4">
            <a:extLst>
              <a:ext uri="{FF2B5EF4-FFF2-40B4-BE49-F238E27FC236}">
                <a16:creationId xmlns:a16="http://schemas.microsoft.com/office/drawing/2014/main" id="{68A2FB8E-08C0-E1B3-DA22-D2D9238D6B8F}"/>
              </a:ext>
            </a:extLst>
          </p:cNvPr>
          <p:cNvPicPr>
            <a:picLocks noChangeAspect="1"/>
          </p:cNvPicPr>
          <p:nvPr/>
        </p:nvPicPr>
        <p:blipFill>
          <a:blip r:embed="rId3"/>
          <a:stretch>
            <a:fillRect/>
          </a:stretch>
        </p:blipFill>
        <p:spPr>
          <a:xfrm>
            <a:off x="0" y="2448335"/>
            <a:ext cx="5366294" cy="4409665"/>
          </a:xfrm>
          <a:prstGeom prst="rect">
            <a:avLst/>
          </a:prstGeom>
        </p:spPr>
      </p:pic>
    </p:spTree>
    <p:extLst>
      <p:ext uri="{BB962C8B-B14F-4D97-AF65-F5344CB8AC3E}">
        <p14:creationId xmlns:p14="http://schemas.microsoft.com/office/powerpoint/2010/main" val="284694183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8AE45E24-3D3A-4BB3-3DF1-FF68315A0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41182-2242-C8CC-E138-CD943CEE970C}"/>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D1592CEF-80EB-082C-223A-3FB1099FCAAB}"/>
              </a:ext>
            </a:extLst>
          </p:cNvPr>
          <p:cNvSpPr>
            <a:spLocks noGrp="1"/>
          </p:cNvSpPr>
          <p:nvPr>
            <p:ph idx="1"/>
          </p:nvPr>
        </p:nvSpPr>
        <p:spPr/>
        <p:txBody>
          <a:bodyPr>
            <a:normAutofit fontScale="92500" lnSpcReduction="10000"/>
          </a:bodyPr>
          <a:lstStyle/>
          <a:p>
            <a:pPr marL="0" indent="0">
              <a:buNone/>
            </a:pPr>
            <a:r>
              <a:rPr lang="en-US" b="1" dirty="0"/>
              <a:t>Phase 2.4 — Containerization, Environment Management, &amp; CI</a:t>
            </a:r>
            <a:endParaRPr lang="en-US" dirty="0"/>
          </a:p>
          <a:p>
            <a:pPr lvl="0"/>
            <a:r>
              <a:rPr lang="en-US" dirty="0"/>
              <a:t>Pin runtime dependencies. </a:t>
            </a:r>
          </a:p>
          <a:p>
            <a:pPr lvl="0"/>
            <a:r>
              <a:rPr lang="en-US" dirty="0"/>
              <a:t>Separate development/test dependencies from runtime requirements. </a:t>
            </a:r>
          </a:p>
          <a:p>
            <a:pPr lvl="0"/>
            <a:r>
              <a:rPr lang="en-US" dirty="0"/>
              <a:t>Create </a:t>
            </a:r>
            <a:r>
              <a:rPr lang="en-US" dirty="0" err="1"/>
              <a:t>Dockerfile</a:t>
            </a:r>
            <a:r>
              <a:rPr lang="en-US" dirty="0"/>
              <a:t>. </a:t>
            </a:r>
          </a:p>
          <a:p>
            <a:pPr lvl="0"/>
            <a:r>
              <a:rPr lang="en-US" dirty="0"/>
              <a:t>Run the </a:t>
            </a:r>
            <a:r>
              <a:rPr lang="en-US" dirty="0" err="1"/>
              <a:t>FastAPI</a:t>
            </a:r>
            <a:r>
              <a:rPr lang="en-US" dirty="0"/>
              <a:t> service inside Docker. </a:t>
            </a:r>
          </a:p>
          <a:p>
            <a:pPr lvl="0"/>
            <a:r>
              <a:rPr lang="en-US" dirty="0"/>
              <a:t>Confirm reproducible startup from a clean environment. </a:t>
            </a:r>
          </a:p>
          <a:p>
            <a:pPr lvl="0"/>
            <a:r>
              <a:rPr lang="en-US" dirty="0"/>
              <a:t>Add container health/smoke test. </a:t>
            </a:r>
          </a:p>
          <a:p>
            <a:pPr lvl="0"/>
            <a:r>
              <a:rPr lang="en-US" dirty="0"/>
              <a:t>Add CI workflow that runs unit/API tests and ideally builds the container. </a:t>
            </a:r>
          </a:p>
          <a:p>
            <a:pPr lvl="0"/>
            <a:r>
              <a:rPr lang="en-US" dirty="0"/>
              <a:t>Verify the container loads the exact Phase 1 artifact successfully. </a:t>
            </a:r>
          </a:p>
        </p:txBody>
      </p:sp>
    </p:spTree>
    <p:extLst>
      <p:ext uri="{BB962C8B-B14F-4D97-AF65-F5344CB8AC3E}">
        <p14:creationId xmlns:p14="http://schemas.microsoft.com/office/powerpoint/2010/main" val="3530044692"/>
      </p:ext>
    </p:extLst>
  </p:cSld>
  <p:clrMapOvr>
    <a:overrideClrMapping bg1="lt1" tx1="dk1" bg2="lt2" tx2="dk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98621-4B49-A349-E2BE-4B38A8767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6B3B7-82AE-466C-F165-279D93BCA06B}"/>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7176DDC5-DD95-5933-C51C-9F57FE6BEEEF}"/>
              </a:ext>
            </a:extLst>
          </p:cNvPr>
          <p:cNvSpPr>
            <a:spLocks noGrp="1"/>
          </p:cNvSpPr>
          <p:nvPr>
            <p:ph idx="1"/>
          </p:nvPr>
        </p:nvSpPr>
        <p:spPr/>
        <p:txBody>
          <a:bodyPr/>
          <a:lstStyle/>
          <a:p>
            <a:r>
              <a:rPr lang="en-US" dirty="0"/>
              <a:t>Question #1: What layers of the predictive-maintenance system should be tested, and what kinds of failures should those tests detect?  </a:t>
            </a:r>
          </a:p>
        </p:txBody>
      </p:sp>
    </p:spTree>
    <p:extLst>
      <p:ext uri="{BB962C8B-B14F-4D97-AF65-F5344CB8AC3E}">
        <p14:creationId xmlns:p14="http://schemas.microsoft.com/office/powerpoint/2010/main" val="45558001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04D8-EF66-1DFF-909C-583B9CDF6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06204-75B5-6498-3563-184C0E25ECAD}"/>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C84DA8D1-304F-88F2-02B2-5A658714E9A3}"/>
              </a:ext>
            </a:extLst>
          </p:cNvPr>
          <p:cNvSpPr>
            <a:spLocks noGrp="1"/>
          </p:cNvSpPr>
          <p:nvPr>
            <p:ph idx="1"/>
          </p:nvPr>
        </p:nvSpPr>
        <p:spPr/>
        <p:txBody>
          <a:bodyPr/>
          <a:lstStyle/>
          <a:p>
            <a:r>
              <a:rPr lang="en-US" dirty="0"/>
              <a:t>Answer #1: </a:t>
            </a:r>
          </a:p>
        </p:txBody>
      </p:sp>
      <p:pic>
        <p:nvPicPr>
          <p:cNvPr id="4" name="Picture 3">
            <a:extLst>
              <a:ext uri="{FF2B5EF4-FFF2-40B4-BE49-F238E27FC236}">
                <a16:creationId xmlns:a16="http://schemas.microsoft.com/office/drawing/2014/main" id="{E768AE14-9376-67A3-52E4-440656866535}"/>
              </a:ext>
            </a:extLst>
          </p:cNvPr>
          <p:cNvPicPr>
            <a:picLocks noChangeAspect="1"/>
          </p:cNvPicPr>
          <p:nvPr/>
        </p:nvPicPr>
        <p:blipFill>
          <a:blip r:embed="rId2"/>
          <a:stretch>
            <a:fillRect/>
          </a:stretch>
        </p:blipFill>
        <p:spPr>
          <a:xfrm>
            <a:off x="7469832" y="0"/>
            <a:ext cx="4722168" cy="5455920"/>
          </a:xfrm>
          <a:prstGeom prst="rect">
            <a:avLst/>
          </a:prstGeom>
        </p:spPr>
      </p:pic>
      <p:pic>
        <p:nvPicPr>
          <p:cNvPr id="5" name="Picture 4">
            <a:extLst>
              <a:ext uri="{FF2B5EF4-FFF2-40B4-BE49-F238E27FC236}">
                <a16:creationId xmlns:a16="http://schemas.microsoft.com/office/drawing/2014/main" id="{CADB6AFD-CAC2-38D2-D708-5D5FF2A2C0C3}"/>
              </a:ext>
            </a:extLst>
          </p:cNvPr>
          <p:cNvPicPr>
            <a:picLocks noChangeAspect="1"/>
          </p:cNvPicPr>
          <p:nvPr/>
        </p:nvPicPr>
        <p:blipFill>
          <a:blip r:embed="rId3"/>
          <a:stretch>
            <a:fillRect/>
          </a:stretch>
        </p:blipFill>
        <p:spPr>
          <a:xfrm>
            <a:off x="0" y="2661547"/>
            <a:ext cx="5776378" cy="4196453"/>
          </a:xfrm>
          <a:prstGeom prst="rect">
            <a:avLst/>
          </a:prstGeom>
        </p:spPr>
      </p:pic>
    </p:spTree>
    <p:extLst>
      <p:ext uri="{BB962C8B-B14F-4D97-AF65-F5344CB8AC3E}">
        <p14:creationId xmlns:p14="http://schemas.microsoft.com/office/powerpoint/2010/main" val="379586244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B2AB-D927-2364-A05C-CCEB81FF0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CCC88-C409-F9BC-E1A3-6AA0A8EB3A71}"/>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C299688F-EBE8-2CFF-A153-83A84387C889}"/>
              </a:ext>
            </a:extLst>
          </p:cNvPr>
          <p:cNvSpPr>
            <a:spLocks noGrp="1"/>
          </p:cNvSpPr>
          <p:nvPr>
            <p:ph idx="1"/>
          </p:nvPr>
        </p:nvSpPr>
        <p:spPr/>
        <p:txBody>
          <a:bodyPr/>
          <a:lstStyle/>
          <a:p>
            <a:r>
              <a:rPr lang="en-US" dirty="0"/>
              <a:t>Question #2: What happens in the CI workflow when code changes, and what does passing CI prove–or fail to prove–about the ML system? </a:t>
            </a:r>
          </a:p>
        </p:txBody>
      </p:sp>
    </p:spTree>
    <p:extLst>
      <p:ext uri="{BB962C8B-B14F-4D97-AF65-F5344CB8AC3E}">
        <p14:creationId xmlns:p14="http://schemas.microsoft.com/office/powerpoint/2010/main" val="328777684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3A21C-81A3-293D-BE60-34108F0FB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0B99F-B8C1-946C-38D8-15691E67348F}"/>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F599C761-F08E-1992-5CA1-C581E33C9D01}"/>
              </a:ext>
            </a:extLst>
          </p:cNvPr>
          <p:cNvSpPr>
            <a:spLocks noGrp="1"/>
          </p:cNvSpPr>
          <p:nvPr>
            <p:ph idx="1"/>
          </p:nvPr>
        </p:nvSpPr>
        <p:spPr/>
        <p:txBody>
          <a:bodyPr/>
          <a:lstStyle/>
          <a:p>
            <a:r>
              <a:rPr lang="en-US" dirty="0"/>
              <a:t>Answer #2: </a:t>
            </a:r>
          </a:p>
        </p:txBody>
      </p:sp>
      <p:pic>
        <p:nvPicPr>
          <p:cNvPr id="4" name="Picture 3">
            <a:extLst>
              <a:ext uri="{FF2B5EF4-FFF2-40B4-BE49-F238E27FC236}">
                <a16:creationId xmlns:a16="http://schemas.microsoft.com/office/drawing/2014/main" id="{B009F37E-F820-EDA8-9B6D-F0AE98591BB5}"/>
              </a:ext>
            </a:extLst>
          </p:cNvPr>
          <p:cNvPicPr>
            <a:picLocks noChangeAspect="1"/>
          </p:cNvPicPr>
          <p:nvPr/>
        </p:nvPicPr>
        <p:blipFill>
          <a:blip r:embed="rId2"/>
          <a:stretch>
            <a:fillRect/>
          </a:stretch>
        </p:blipFill>
        <p:spPr>
          <a:xfrm>
            <a:off x="6257018" y="1027906"/>
            <a:ext cx="5934982" cy="5812971"/>
          </a:xfrm>
          <a:prstGeom prst="rect">
            <a:avLst/>
          </a:prstGeom>
        </p:spPr>
      </p:pic>
      <p:pic>
        <p:nvPicPr>
          <p:cNvPr id="5" name="Picture 4">
            <a:extLst>
              <a:ext uri="{FF2B5EF4-FFF2-40B4-BE49-F238E27FC236}">
                <a16:creationId xmlns:a16="http://schemas.microsoft.com/office/drawing/2014/main" id="{37C117C5-ABCE-D5AB-B671-EDF2E5689C59}"/>
              </a:ext>
            </a:extLst>
          </p:cNvPr>
          <p:cNvPicPr>
            <a:picLocks noChangeAspect="1"/>
          </p:cNvPicPr>
          <p:nvPr/>
        </p:nvPicPr>
        <p:blipFill>
          <a:blip r:embed="rId3"/>
          <a:stretch>
            <a:fillRect/>
          </a:stretch>
        </p:blipFill>
        <p:spPr>
          <a:xfrm>
            <a:off x="0" y="4189257"/>
            <a:ext cx="6257017" cy="2650487"/>
          </a:xfrm>
          <a:prstGeom prst="rect">
            <a:avLst/>
          </a:prstGeom>
        </p:spPr>
      </p:pic>
    </p:spTree>
    <p:extLst>
      <p:ext uri="{BB962C8B-B14F-4D97-AF65-F5344CB8AC3E}">
        <p14:creationId xmlns:p14="http://schemas.microsoft.com/office/powerpoint/2010/main" val="340316744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160418E-F8CB-718C-75B5-C15516C45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67052-DA51-5212-1473-538A4A95DD9C}"/>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DD21CD36-7AC3-A094-D27C-E982135A4BEC}"/>
              </a:ext>
            </a:extLst>
          </p:cNvPr>
          <p:cNvSpPr>
            <a:spLocks noGrp="1"/>
          </p:cNvSpPr>
          <p:nvPr>
            <p:ph idx="1"/>
          </p:nvPr>
        </p:nvSpPr>
        <p:spPr/>
        <p:txBody>
          <a:bodyPr>
            <a:normAutofit fontScale="92500" lnSpcReduction="20000"/>
          </a:bodyPr>
          <a:lstStyle/>
          <a:p>
            <a:pPr marL="0" indent="0">
              <a:buNone/>
            </a:pPr>
            <a:r>
              <a:rPr lang="en-US" b="1" dirty="0"/>
              <a:t>Phase 2.5 — Minimal Demo Layer</a:t>
            </a:r>
            <a:endParaRPr lang="en-US" dirty="0"/>
          </a:p>
          <a:p>
            <a:pPr lvl="0"/>
            <a:r>
              <a:rPr lang="en-US" dirty="0" err="1"/>
              <a:t>Streamlit</a:t>
            </a:r>
            <a:r>
              <a:rPr lang="en-US" dirty="0"/>
              <a:t> remains perfectly reasonable. </a:t>
            </a:r>
          </a:p>
          <a:p>
            <a:pPr lvl="0"/>
            <a:r>
              <a:rPr lang="en-US" dirty="0"/>
              <a:t>Submit/upload an engine trajectory. </a:t>
            </a:r>
          </a:p>
          <a:p>
            <a:pPr lvl="0"/>
            <a:r>
              <a:rPr lang="en-US" dirty="0"/>
              <a:t>Show latest predicted RUL. </a:t>
            </a:r>
          </a:p>
          <a:p>
            <a:pPr lvl="0"/>
            <a:r>
              <a:rPr lang="en-US" dirty="0"/>
              <a:t>Show current cycle and available history length. </a:t>
            </a:r>
          </a:p>
          <a:p>
            <a:pPr lvl="0"/>
            <a:r>
              <a:rPr lang="en-US" dirty="0"/>
              <a:t>Plot recent sensor behavior. </a:t>
            </a:r>
          </a:p>
          <a:p>
            <a:pPr lvl="0"/>
            <a:r>
              <a:rPr lang="en-US" dirty="0"/>
              <a:t>Clearly show insufficient-history / invalid-input feedback. </a:t>
            </a:r>
          </a:p>
          <a:p>
            <a:pPr lvl="0"/>
            <a:r>
              <a:rPr lang="en-US" dirty="0"/>
              <a:t>Explain what the prediction means. </a:t>
            </a:r>
          </a:p>
          <a:p>
            <a:pPr lvl="0"/>
            <a:r>
              <a:rPr lang="en-US" dirty="0"/>
              <a:t>Explain important limitations. </a:t>
            </a:r>
          </a:p>
          <a:p>
            <a:pPr lvl="0"/>
            <a:r>
              <a:rPr lang="en-US" dirty="0"/>
              <a:t>Call the </a:t>
            </a:r>
            <a:r>
              <a:rPr lang="en-US" dirty="0" err="1"/>
              <a:t>FastAPI</a:t>
            </a:r>
            <a:r>
              <a:rPr lang="en-US" dirty="0"/>
              <a:t> service rather than bypassing it and importing the model directly.</a:t>
            </a:r>
          </a:p>
        </p:txBody>
      </p:sp>
    </p:spTree>
    <p:extLst>
      <p:ext uri="{BB962C8B-B14F-4D97-AF65-F5344CB8AC3E}">
        <p14:creationId xmlns:p14="http://schemas.microsoft.com/office/powerpoint/2010/main" val="1141453726"/>
      </p:ext>
    </p:extLst>
  </p:cSld>
  <p:clrMapOvr>
    <a:overrideClrMapping bg1="lt1" tx1="dk1" bg2="lt2" tx2="dk2" accent1="accent1" accent2="accent2" accent3="accent3" accent4="accent4" accent5="accent5" accent6="accent6" hlink="hlink" folHlink="folHlink"/>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79740-F6FA-CA39-0B44-6DC2C4326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1F65F-93E0-9B9D-1319-CAFBD2AD559C}"/>
              </a:ext>
            </a:extLst>
          </p:cNvPr>
          <p:cNvSpPr>
            <a:spLocks noGrp="1"/>
          </p:cNvSpPr>
          <p:nvPr>
            <p:ph type="title"/>
          </p:nvPr>
        </p:nvSpPr>
        <p:spPr/>
        <p:txBody>
          <a:bodyPr/>
          <a:lstStyle/>
          <a:p>
            <a:r>
              <a:rPr lang="en-US" dirty="0"/>
              <a:t>Phase 2.5: Minimal Demo Layer</a:t>
            </a:r>
          </a:p>
        </p:txBody>
      </p:sp>
      <p:sp>
        <p:nvSpPr>
          <p:cNvPr id="3" name="Content Placeholder 2">
            <a:extLst>
              <a:ext uri="{FF2B5EF4-FFF2-40B4-BE49-F238E27FC236}">
                <a16:creationId xmlns:a16="http://schemas.microsoft.com/office/drawing/2014/main" id="{DC2BD1E4-ABAE-131D-E3C5-D602CEBE31D9}"/>
              </a:ext>
            </a:extLst>
          </p:cNvPr>
          <p:cNvSpPr>
            <a:spLocks noGrp="1"/>
          </p:cNvSpPr>
          <p:nvPr>
            <p:ph idx="1"/>
          </p:nvPr>
        </p:nvSpPr>
        <p:spPr/>
        <p:txBody>
          <a:bodyPr/>
          <a:lstStyle/>
          <a:p>
            <a:r>
              <a:rPr lang="en-US" dirty="0"/>
              <a:t>Question #1: What does the minimal demo allow a user to do, and how does it communicate prediction without overstating the model’s reliability? </a:t>
            </a:r>
          </a:p>
        </p:txBody>
      </p:sp>
    </p:spTree>
    <p:extLst>
      <p:ext uri="{BB962C8B-B14F-4D97-AF65-F5344CB8AC3E}">
        <p14:creationId xmlns:p14="http://schemas.microsoft.com/office/powerpoint/2010/main" val="196062189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7640F-843C-96FB-8046-8A8079E43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DFC20-2FF5-B27A-BC40-E8AFCB05703E}"/>
              </a:ext>
            </a:extLst>
          </p:cNvPr>
          <p:cNvSpPr>
            <a:spLocks noGrp="1"/>
          </p:cNvSpPr>
          <p:nvPr>
            <p:ph type="title"/>
          </p:nvPr>
        </p:nvSpPr>
        <p:spPr/>
        <p:txBody>
          <a:bodyPr/>
          <a:lstStyle/>
          <a:p>
            <a:r>
              <a:rPr lang="en-US" dirty="0"/>
              <a:t>Phase 2.5: Minimal Demo Layer</a:t>
            </a:r>
          </a:p>
        </p:txBody>
      </p:sp>
      <p:sp>
        <p:nvSpPr>
          <p:cNvPr id="3" name="Content Placeholder 2">
            <a:extLst>
              <a:ext uri="{FF2B5EF4-FFF2-40B4-BE49-F238E27FC236}">
                <a16:creationId xmlns:a16="http://schemas.microsoft.com/office/drawing/2014/main" id="{AC273786-8C6A-0FCC-A799-A91ACEB6402B}"/>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4563AFC9-DFED-6B6F-B318-C86222ABBD77}"/>
              </a:ext>
            </a:extLst>
          </p:cNvPr>
          <p:cNvPicPr>
            <a:picLocks noChangeAspect="1"/>
          </p:cNvPicPr>
          <p:nvPr/>
        </p:nvPicPr>
        <p:blipFill>
          <a:blip r:embed="rId2"/>
          <a:stretch>
            <a:fillRect/>
          </a:stretch>
        </p:blipFill>
        <p:spPr>
          <a:xfrm>
            <a:off x="6664778" y="1436914"/>
            <a:ext cx="5527222" cy="5421086"/>
          </a:xfrm>
          <a:prstGeom prst="rect">
            <a:avLst/>
          </a:prstGeom>
        </p:spPr>
      </p:pic>
      <p:pic>
        <p:nvPicPr>
          <p:cNvPr id="5" name="Picture 4">
            <a:extLst>
              <a:ext uri="{FF2B5EF4-FFF2-40B4-BE49-F238E27FC236}">
                <a16:creationId xmlns:a16="http://schemas.microsoft.com/office/drawing/2014/main" id="{7939EB8A-0217-310B-1822-5139AF22FEED}"/>
              </a:ext>
            </a:extLst>
          </p:cNvPr>
          <p:cNvPicPr>
            <a:picLocks noChangeAspect="1"/>
          </p:cNvPicPr>
          <p:nvPr/>
        </p:nvPicPr>
        <p:blipFill>
          <a:blip r:embed="rId3"/>
          <a:stretch>
            <a:fillRect/>
          </a:stretch>
        </p:blipFill>
        <p:spPr>
          <a:xfrm>
            <a:off x="0" y="0"/>
            <a:ext cx="6014196" cy="3796461"/>
          </a:xfrm>
          <a:prstGeom prst="rect">
            <a:avLst/>
          </a:prstGeom>
        </p:spPr>
      </p:pic>
      <p:pic>
        <p:nvPicPr>
          <p:cNvPr id="6" name="Picture 5">
            <a:extLst>
              <a:ext uri="{FF2B5EF4-FFF2-40B4-BE49-F238E27FC236}">
                <a16:creationId xmlns:a16="http://schemas.microsoft.com/office/drawing/2014/main" id="{7124EB45-498B-6D11-8F82-1E2D939A7C12}"/>
              </a:ext>
            </a:extLst>
          </p:cNvPr>
          <p:cNvPicPr>
            <a:picLocks noChangeAspect="1"/>
          </p:cNvPicPr>
          <p:nvPr/>
        </p:nvPicPr>
        <p:blipFill>
          <a:blip r:embed="rId4"/>
          <a:stretch>
            <a:fillRect/>
          </a:stretch>
        </p:blipFill>
        <p:spPr>
          <a:xfrm>
            <a:off x="0" y="4497251"/>
            <a:ext cx="6176554" cy="2360749"/>
          </a:xfrm>
          <a:prstGeom prst="rect">
            <a:avLst/>
          </a:prstGeom>
        </p:spPr>
      </p:pic>
    </p:spTree>
    <p:extLst>
      <p:ext uri="{BB962C8B-B14F-4D97-AF65-F5344CB8AC3E}">
        <p14:creationId xmlns:p14="http://schemas.microsoft.com/office/powerpoint/2010/main" val="26354237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5A3BB11F-2B60-0048-6CAE-E68D2AEF4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E4224-4010-A1A3-A9E3-6F4F89B28749}"/>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64BB3DB3-0221-D9E4-291E-FC338184AF42}"/>
              </a:ext>
            </a:extLst>
          </p:cNvPr>
          <p:cNvSpPr>
            <a:spLocks noGrp="1"/>
          </p:cNvSpPr>
          <p:nvPr>
            <p:ph idx="1"/>
          </p:nvPr>
        </p:nvSpPr>
        <p:spPr/>
        <p:txBody>
          <a:bodyPr/>
          <a:lstStyle/>
          <a:p>
            <a:r>
              <a:rPr lang="en-US" dirty="0"/>
              <a:t>Phase 3.1: Advanced Modeling Experimentation</a:t>
            </a:r>
          </a:p>
          <a:p>
            <a:pPr lvl="1"/>
            <a:r>
              <a:rPr lang="en-US" dirty="0"/>
              <a:t>Compare stronger tree-based models</a:t>
            </a:r>
          </a:p>
          <a:p>
            <a:pPr lvl="1"/>
            <a:r>
              <a:rPr lang="en-US" dirty="0"/>
              <a:t>Tune hyperparameters</a:t>
            </a:r>
          </a:p>
          <a:p>
            <a:pPr lvl="1"/>
            <a:r>
              <a:rPr lang="en-US" dirty="0"/>
              <a:t>Compare capped and uncapped targets</a:t>
            </a:r>
          </a:p>
          <a:p>
            <a:pPr lvl="1"/>
            <a:r>
              <a:rPr lang="en-US" dirty="0"/>
              <a:t>Test engine-balanced weighting</a:t>
            </a:r>
          </a:p>
          <a:p>
            <a:pPr lvl="1"/>
            <a:r>
              <a:rPr lang="en-US" dirty="0"/>
              <a:t>Add and ablate temporal features</a:t>
            </a:r>
          </a:p>
          <a:p>
            <a:pPr lvl="1"/>
            <a:r>
              <a:rPr lang="en-US" dirty="0"/>
              <a:t>Evaluate error by RUL region</a:t>
            </a:r>
          </a:p>
        </p:txBody>
      </p:sp>
    </p:spTree>
    <p:extLst>
      <p:ext uri="{BB962C8B-B14F-4D97-AF65-F5344CB8AC3E}">
        <p14:creationId xmlns:p14="http://schemas.microsoft.com/office/powerpoint/2010/main" val="2355653866"/>
      </p:ext>
    </p:extLst>
  </p:cSld>
  <p:clrMapOvr>
    <a:overrideClrMapping bg1="lt1" tx1="dk1" bg2="lt2" tx2="dk2" accent1="accent1" accent2="accent2" accent3="accent3" accent4="accent4" accent5="accent5" accent6="accent6" hlink="hlink" folHlink="folHlink"/>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151B6-9F61-F5F0-8D10-B645B928E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A7D1-96EF-1277-93F2-D67B130BF2BF}"/>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A92737AA-CED8-99E2-9B3A-EBEC3F63047D}"/>
              </a:ext>
            </a:extLst>
          </p:cNvPr>
          <p:cNvSpPr>
            <a:spLocks noGrp="1"/>
          </p:cNvSpPr>
          <p:nvPr>
            <p:ph idx="1"/>
          </p:nvPr>
        </p:nvSpPr>
        <p:spPr/>
        <p:txBody>
          <a:bodyPr/>
          <a:lstStyle/>
          <a:p>
            <a:r>
              <a:rPr lang="en-US" dirty="0"/>
              <a:t>Question #1: How did you structure advanced modeling experiments to determine whether gains came from the model, feature engineering, target definition, or training strategy? </a:t>
            </a:r>
          </a:p>
        </p:txBody>
      </p:sp>
    </p:spTree>
    <p:extLst>
      <p:ext uri="{BB962C8B-B14F-4D97-AF65-F5344CB8AC3E}">
        <p14:creationId xmlns:p14="http://schemas.microsoft.com/office/powerpoint/2010/main" val="35254840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F1FF7-142B-BB47-215D-1AA53E1B6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5E982-C2EC-77B8-A6F8-797F5F8ED1E4}"/>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C3FD0F8F-3573-3494-B9EA-812F061707F6}"/>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871A7AED-1C21-33F3-974F-ED3AA18978DB}"/>
              </a:ext>
            </a:extLst>
          </p:cNvPr>
          <p:cNvPicPr>
            <a:picLocks noChangeAspect="1"/>
          </p:cNvPicPr>
          <p:nvPr/>
        </p:nvPicPr>
        <p:blipFill>
          <a:blip r:embed="rId2"/>
          <a:stretch>
            <a:fillRect/>
          </a:stretch>
        </p:blipFill>
        <p:spPr>
          <a:xfrm>
            <a:off x="7163389" y="0"/>
            <a:ext cx="5028611" cy="6858000"/>
          </a:xfrm>
          <a:prstGeom prst="rect">
            <a:avLst/>
          </a:prstGeom>
        </p:spPr>
      </p:pic>
      <p:pic>
        <p:nvPicPr>
          <p:cNvPr id="5" name="Picture 4">
            <a:extLst>
              <a:ext uri="{FF2B5EF4-FFF2-40B4-BE49-F238E27FC236}">
                <a16:creationId xmlns:a16="http://schemas.microsoft.com/office/drawing/2014/main" id="{AFC8F2A1-E4C3-686F-1AF2-7AF7F9647034}"/>
              </a:ext>
            </a:extLst>
          </p:cNvPr>
          <p:cNvPicPr>
            <a:picLocks noChangeAspect="1"/>
          </p:cNvPicPr>
          <p:nvPr/>
        </p:nvPicPr>
        <p:blipFill>
          <a:blip r:embed="rId3"/>
          <a:stretch>
            <a:fillRect/>
          </a:stretch>
        </p:blipFill>
        <p:spPr>
          <a:xfrm>
            <a:off x="0" y="2288072"/>
            <a:ext cx="5479869" cy="4569928"/>
          </a:xfrm>
          <a:prstGeom prst="rect">
            <a:avLst/>
          </a:prstGeom>
        </p:spPr>
      </p:pic>
    </p:spTree>
    <p:extLst>
      <p:ext uri="{BB962C8B-B14F-4D97-AF65-F5344CB8AC3E}">
        <p14:creationId xmlns:p14="http://schemas.microsoft.com/office/powerpoint/2010/main" val="173961189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3040A-AD7B-D44C-D291-8F942F4DB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E31D0-D31C-244B-A882-B70E13312A8E}"/>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DBA0B157-640D-0D96-DC84-BBFB2863AB48}"/>
              </a:ext>
            </a:extLst>
          </p:cNvPr>
          <p:cNvSpPr>
            <a:spLocks noGrp="1"/>
          </p:cNvSpPr>
          <p:nvPr>
            <p:ph idx="1"/>
          </p:nvPr>
        </p:nvSpPr>
        <p:spPr/>
        <p:txBody>
          <a:bodyPr/>
          <a:lstStyle/>
          <a:p>
            <a:r>
              <a:rPr lang="en-US" dirty="0"/>
              <a:t>Question #2: What evidence would justify replacing the baseline model with a more advanced model? </a:t>
            </a:r>
          </a:p>
        </p:txBody>
      </p:sp>
    </p:spTree>
    <p:extLst>
      <p:ext uri="{BB962C8B-B14F-4D97-AF65-F5344CB8AC3E}">
        <p14:creationId xmlns:p14="http://schemas.microsoft.com/office/powerpoint/2010/main" val="98105324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48652-2D4D-BCE9-FDBA-AD9F329C3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D0157-3F15-8813-5E8B-1DF76C8CFC27}"/>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9BB6EEBF-6111-60F5-E51A-437CB5352157}"/>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F28ED932-95BA-1A8F-B87A-BA89BA97C710}"/>
              </a:ext>
            </a:extLst>
          </p:cNvPr>
          <p:cNvPicPr>
            <a:picLocks noChangeAspect="1"/>
          </p:cNvPicPr>
          <p:nvPr/>
        </p:nvPicPr>
        <p:blipFill>
          <a:blip r:embed="rId2"/>
          <a:stretch>
            <a:fillRect/>
          </a:stretch>
        </p:blipFill>
        <p:spPr>
          <a:xfrm>
            <a:off x="6343315" y="0"/>
            <a:ext cx="5848685" cy="5839097"/>
          </a:xfrm>
          <a:prstGeom prst="rect">
            <a:avLst/>
          </a:prstGeom>
        </p:spPr>
      </p:pic>
      <p:pic>
        <p:nvPicPr>
          <p:cNvPr id="5" name="Picture 4">
            <a:extLst>
              <a:ext uri="{FF2B5EF4-FFF2-40B4-BE49-F238E27FC236}">
                <a16:creationId xmlns:a16="http://schemas.microsoft.com/office/drawing/2014/main" id="{52DEE57D-9AA6-CD14-CA22-171BE6A20C47}"/>
              </a:ext>
            </a:extLst>
          </p:cNvPr>
          <p:cNvPicPr>
            <a:picLocks noChangeAspect="1"/>
          </p:cNvPicPr>
          <p:nvPr/>
        </p:nvPicPr>
        <p:blipFill>
          <a:blip r:embed="rId3"/>
          <a:stretch>
            <a:fillRect/>
          </a:stretch>
        </p:blipFill>
        <p:spPr>
          <a:xfrm>
            <a:off x="0" y="0"/>
            <a:ext cx="5964128" cy="3683726"/>
          </a:xfrm>
          <a:prstGeom prst="rect">
            <a:avLst/>
          </a:prstGeom>
        </p:spPr>
      </p:pic>
      <p:pic>
        <p:nvPicPr>
          <p:cNvPr id="6" name="Picture 5">
            <a:extLst>
              <a:ext uri="{FF2B5EF4-FFF2-40B4-BE49-F238E27FC236}">
                <a16:creationId xmlns:a16="http://schemas.microsoft.com/office/drawing/2014/main" id="{A3667810-C355-7999-2C51-4C611C2BEAF7}"/>
              </a:ext>
            </a:extLst>
          </p:cNvPr>
          <p:cNvPicPr>
            <a:picLocks noChangeAspect="1"/>
          </p:cNvPicPr>
          <p:nvPr/>
        </p:nvPicPr>
        <p:blipFill>
          <a:blip r:embed="rId4"/>
          <a:stretch>
            <a:fillRect/>
          </a:stretch>
        </p:blipFill>
        <p:spPr>
          <a:xfrm>
            <a:off x="0" y="4345232"/>
            <a:ext cx="5848685" cy="2512768"/>
          </a:xfrm>
          <a:prstGeom prst="rect">
            <a:avLst/>
          </a:prstGeom>
        </p:spPr>
      </p:pic>
    </p:spTree>
    <p:extLst>
      <p:ext uri="{BB962C8B-B14F-4D97-AF65-F5344CB8AC3E}">
        <p14:creationId xmlns:p14="http://schemas.microsoft.com/office/powerpoint/2010/main" val="20634934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E66DD65-0F1D-6D14-4D71-7AC527BDB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D784A-045C-6273-E016-1128AC6EAE72}"/>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00188BA8-06B3-E1F5-B081-CD679A849916}"/>
              </a:ext>
            </a:extLst>
          </p:cNvPr>
          <p:cNvSpPr>
            <a:spLocks noGrp="1"/>
          </p:cNvSpPr>
          <p:nvPr>
            <p:ph idx="1"/>
          </p:nvPr>
        </p:nvSpPr>
        <p:spPr/>
        <p:txBody>
          <a:bodyPr/>
          <a:lstStyle/>
          <a:p>
            <a:r>
              <a:rPr lang="en-US" dirty="0"/>
              <a:t>Phase 3.2: Model Selection, Versioning, and Promotion</a:t>
            </a:r>
          </a:p>
          <a:p>
            <a:pPr lvl="1"/>
            <a:r>
              <a:rPr lang="en-US" dirty="0"/>
              <a:t>Compare candidate models consistently</a:t>
            </a:r>
          </a:p>
          <a:p>
            <a:pPr lvl="1"/>
            <a:r>
              <a:rPr lang="en-US" dirty="0"/>
              <a:t>Register model artifacts</a:t>
            </a:r>
          </a:p>
          <a:p>
            <a:pPr lvl="1"/>
            <a:r>
              <a:rPr lang="en-US" dirty="0"/>
              <a:t>Track model versions</a:t>
            </a:r>
          </a:p>
          <a:p>
            <a:pPr lvl="1"/>
            <a:r>
              <a:rPr lang="en-US" dirty="0"/>
              <a:t>Define promotion criteria</a:t>
            </a:r>
          </a:p>
          <a:p>
            <a:pPr lvl="1"/>
            <a:r>
              <a:rPr lang="en-US" dirty="0"/>
              <a:t>Preserve the ability to roll back</a:t>
            </a:r>
          </a:p>
        </p:txBody>
      </p:sp>
    </p:spTree>
    <p:extLst>
      <p:ext uri="{BB962C8B-B14F-4D97-AF65-F5344CB8AC3E}">
        <p14:creationId xmlns:p14="http://schemas.microsoft.com/office/powerpoint/2010/main" val="832193869"/>
      </p:ext>
    </p:extLst>
  </p:cSld>
  <p:clrMapOvr>
    <a:overrideClrMapping bg1="lt1" tx1="dk1" bg2="lt2" tx2="dk2" accent1="accent1" accent2="accent2" accent3="accent3" accent4="accent4" accent5="accent5" accent6="accent6" hlink="hlink" folHlink="folHlink"/>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B7206-6EC9-1CDD-01F7-7DB2FF79B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09D35-D035-1F4B-332C-25D05F94DD94}"/>
              </a:ext>
            </a:extLst>
          </p:cNvPr>
          <p:cNvSpPr>
            <a:spLocks noGrp="1"/>
          </p:cNvSpPr>
          <p:nvPr>
            <p:ph type="title"/>
          </p:nvPr>
        </p:nvSpPr>
        <p:spPr/>
        <p:txBody>
          <a:bodyPr/>
          <a:lstStyle/>
          <a:p>
            <a:r>
              <a:rPr lang="en-US" dirty="0"/>
              <a:t>Phase 3.2: Model Selection, Versioning, and Promotion</a:t>
            </a:r>
          </a:p>
        </p:txBody>
      </p:sp>
      <p:sp>
        <p:nvSpPr>
          <p:cNvPr id="3" name="Content Placeholder 2">
            <a:extLst>
              <a:ext uri="{FF2B5EF4-FFF2-40B4-BE49-F238E27FC236}">
                <a16:creationId xmlns:a16="http://schemas.microsoft.com/office/drawing/2014/main" id="{E8776F33-E8BF-C8D5-CBA1-40819E00217E}"/>
              </a:ext>
            </a:extLst>
          </p:cNvPr>
          <p:cNvSpPr>
            <a:spLocks noGrp="1"/>
          </p:cNvSpPr>
          <p:nvPr>
            <p:ph idx="1"/>
          </p:nvPr>
        </p:nvSpPr>
        <p:spPr/>
        <p:txBody>
          <a:bodyPr/>
          <a:lstStyle/>
          <a:p>
            <a:r>
              <a:rPr lang="en-US" dirty="0"/>
              <a:t>Question #1: How did you decide which model should become the deployed version, and how would you version, promote, and roll it back safely? </a:t>
            </a:r>
          </a:p>
        </p:txBody>
      </p:sp>
    </p:spTree>
    <p:extLst>
      <p:ext uri="{BB962C8B-B14F-4D97-AF65-F5344CB8AC3E}">
        <p14:creationId xmlns:p14="http://schemas.microsoft.com/office/powerpoint/2010/main" val="204931235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2BC6F-FA97-652D-926C-5D36CDE69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5A393-127D-FEEE-A675-0D6EE0C100C4}"/>
              </a:ext>
            </a:extLst>
          </p:cNvPr>
          <p:cNvSpPr>
            <a:spLocks noGrp="1"/>
          </p:cNvSpPr>
          <p:nvPr>
            <p:ph type="title"/>
          </p:nvPr>
        </p:nvSpPr>
        <p:spPr/>
        <p:txBody>
          <a:bodyPr/>
          <a:lstStyle/>
          <a:p>
            <a:r>
              <a:rPr lang="en-US" dirty="0"/>
              <a:t>Phase 3.2: Model Selection, Versioning, and Promotion</a:t>
            </a:r>
          </a:p>
        </p:txBody>
      </p:sp>
      <p:sp>
        <p:nvSpPr>
          <p:cNvPr id="3" name="Content Placeholder 2">
            <a:extLst>
              <a:ext uri="{FF2B5EF4-FFF2-40B4-BE49-F238E27FC236}">
                <a16:creationId xmlns:a16="http://schemas.microsoft.com/office/drawing/2014/main" id="{666A87F5-2E32-5292-EB7A-0818FB9E5384}"/>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9E037375-09C4-D6AA-8FB3-2CD899C9D673}"/>
              </a:ext>
            </a:extLst>
          </p:cNvPr>
          <p:cNvPicPr>
            <a:picLocks noChangeAspect="1"/>
          </p:cNvPicPr>
          <p:nvPr/>
        </p:nvPicPr>
        <p:blipFill>
          <a:blip r:embed="rId2"/>
          <a:stretch>
            <a:fillRect/>
          </a:stretch>
        </p:blipFill>
        <p:spPr>
          <a:xfrm>
            <a:off x="0" y="0"/>
            <a:ext cx="3670678" cy="3518263"/>
          </a:xfrm>
          <a:prstGeom prst="rect">
            <a:avLst/>
          </a:prstGeom>
        </p:spPr>
      </p:pic>
      <p:pic>
        <p:nvPicPr>
          <p:cNvPr id="5" name="Picture 4">
            <a:extLst>
              <a:ext uri="{FF2B5EF4-FFF2-40B4-BE49-F238E27FC236}">
                <a16:creationId xmlns:a16="http://schemas.microsoft.com/office/drawing/2014/main" id="{18AFB4D2-7BA1-80C7-A905-2FF158497E82}"/>
              </a:ext>
            </a:extLst>
          </p:cNvPr>
          <p:cNvPicPr>
            <a:picLocks noChangeAspect="1"/>
          </p:cNvPicPr>
          <p:nvPr/>
        </p:nvPicPr>
        <p:blipFill>
          <a:blip r:embed="rId3"/>
          <a:stretch>
            <a:fillRect/>
          </a:stretch>
        </p:blipFill>
        <p:spPr>
          <a:xfrm>
            <a:off x="6237742" y="0"/>
            <a:ext cx="5954258" cy="3300549"/>
          </a:xfrm>
          <a:prstGeom prst="rect">
            <a:avLst/>
          </a:prstGeom>
        </p:spPr>
      </p:pic>
      <p:pic>
        <p:nvPicPr>
          <p:cNvPr id="6" name="Picture 5">
            <a:extLst>
              <a:ext uri="{FF2B5EF4-FFF2-40B4-BE49-F238E27FC236}">
                <a16:creationId xmlns:a16="http://schemas.microsoft.com/office/drawing/2014/main" id="{7F1E8821-5794-24F7-389A-E007147D04B2}"/>
              </a:ext>
            </a:extLst>
          </p:cNvPr>
          <p:cNvPicPr>
            <a:picLocks noChangeAspect="1"/>
          </p:cNvPicPr>
          <p:nvPr/>
        </p:nvPicPr>
        <p:blipFill>
          <a:blip r:embed="rId4"/>
          <a:stretch>
            <a:fillRect/>
          </a:stretch>
        </p:blipFill>
        <p:spPr>
          <a:xfrm>
            <a:off x="0" y="3983789"/>
            <a:ext cx="4643846" cy="2874211"/>
          </a:xfrm>
          <a:prstGeom prst="rect">
            <a:avLst/>
          </a:prstGeom>
        </p:spPr>
      </p:pic>
      <p:pic>
        <p:nvPicPr>
          <p:cNvPr id="7" name="Picture 6">
            <a:extLst>
              <a:ext uri="{FF2B5EF4-FFF2-40B4-BE49-F238E27FC236}">
                <a16:creationId xmlns:a16="http://schemas.microsoft.com/office/drawing/2014/main" id="{97942F58-8A5B-06AB-7177-A8682920D9BA}"/>
              </a:ext>
            </a:extLst>
          </p:cNvPr>
          <p:cNvPicPr>
            <a:picLocks noChangeAspect="1"/>
          </p:cNvPicPr>
          <p:nvPr/>
        </p:nvPicPr>
        <p:blipFill>
          <a:blip r:embed="rId5"/>
          <a:stretch>
            <a:fillRect/>
          </a:stretch>
        </p:blipFill>
        <p:spPr>
          <a:xfrm>
            <a:off x="7925257" y="2506662"/>
            <a:ext cx="4266743" cy="4351338"/>
          </a:xfrm>
          <a:prstGeom prst="rect">
            <a:avLst/>
          </a:prstGeom>
        </p:spPr>
      </p:pic>
    </p:spTree>
    <p:extLst>
      <p:ext uri="{BB962C8B-B14F-4D97-AF65-F5344CB8AC3E}">
        <p14:creationId xmlns:p14="http://schemas.microsoft.com/office/powerpoint/2010/main" val="30632721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A5CDF2B-D515-5ECD-7BC4-ABA55C42E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529D9-C5EF-0EE8-2834-F7C46D3A2A51}"/>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689CC7C4-0862-B455-F442-95B0CB18F8C1}"/>
              </a:ext>
            </a:extLst>
          </p:cNvPr>
          <p:cNvSpPr>
            <a:spLocks noGrp="1"/>
          </p:cNvSpPr>
          <p:nvPr>
            <p:ph idx="1"/>
          </p:nvPr>
        </p:nvSpPr>
        <p:spPr/>
        <p:txBody>
          <a:bodyPr/>
          <a:lstStyle/>
          <a:p>
            <a:r>
              <a:rPr lang="en-US" dirty="0"/>
              <a:t>Phase 3.3: Monitoring and Logging</a:t>
            </a:r>
          </a:p>
          <a:p>
            <a:pPr lvl="1"/>
            <a:r>
              <a:rPr lang="en-US" dirty="0"/>
              <a:t>Request and prediction logging</a:t>
            </a:r>
          </a:p>
          <a:p>
            <a:pPr lvl="1"/>
            <a:r>
              <a:rPr lang="en-US" dirty="0"/>
              <a:t>Input-schema monitoring</a:t>
            </a:r>
          </a:p>
          <a:p>
            <a:pPr lvl="1"/>
            <a:r>
              <a:rPr lang="en-US" dirty="0"/>
              <a:t>Data-quality monitoring</a:t>
            </a:r>
          </a:p>
          <a:p>
            <a:pPr lvl="1"/>
            <a:r>
              <a:rPr lang="en-US" dirty="0"/>
              <a:t>Feature drift</a:t>
            </a:r>
          </a:p>
          <a:p>
            <a:pPr lvl="1"/>
            <a:r>
              <a:rPr lang="en-US" dirty="0"/>
              <a:t>Prediction drift</a:t>
            </a:r>
          </a:p>
          <a:p>
            <a:pPr lvl="1"/>
            <a:r>
              <a:rPr lang="en-US" dirty="0"/>
              <a:t>Latency and error rates</a:t>
            </a:r>
          </a:p>
          <a:p>
            <a:pPr lvl="1"/>
            <a:r>
              <a:rPr lang="en-US" dirty="0"/>
              <a:t>Delayed performance monitoring when ground truth becomes available</a:t>
            </a:r>
          </a:p>
        </p:txBody>
      </p:sp>
    </p:spTree>
    <p:extLst>
      <p:ext uri="{BB962C8B-B14F-4D97-AF65-F5344CB8AC3E}">
        <p14:creationId xmlns:p14="http://schemas.microsoft.com/office/powerpoint/2010/main" val="1953088371"/>
      </p:ext>
    </p:extLst>
  </p:cSld>
  <p:clrMapOvr>
    <a:overrideClrMapping bg1="lt1" tx1="dk1" bg2="lt2" tx2="dk2" accent1="accent1" accent2="accent2" accent3="accent3" accent4="accent4" accent5="accent5" accent6="accent6" hlink="hlink" folHlink="folHlink"/>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7DB8E-721F-A19B-5678-886B09DF4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046D4-5374-5D75-CF7A-6671ED2A9B66}"/>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189452D9-101C-F104-DFFB-DEA1BA1D9D28}"/>
              </a:ext>
            </a:extLst>
          </p:cNvPr>
          <p:cNvSpPr>
            <a:spLocks noGrp="1"/>
          </p:cNvSpPr>
          <p:nvPr>
            <p:ph idx="1"/>
          </p:nvPr>
        </p:nvSpPr>
        <p:spPr/>
        <p:txBody>
          <a:bodyPr/>
          <a:lstStyle/>
          <a:p>
            <a:r>
              <a:rPr lang="en-US" dirty="0"/>
              <a:t>Question #1: What information should the prediction service log and monitor, and how do logging and monitoring serve different purposes? </a:t>
            </a:r>
          </a:p>
        </p:txBody>
      </p:sp>
    </p:spTree>
    <p:extLst>
      <p:ext uri="{BB962C8B-B14F-4D97-AF65-F5344CB8AC3E}">
        <p14:creationId xmlns:p14="http://schemas.microsoft.com/office/powerpoint/2010/main" val="39491266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72473-CE0A-4E2D-A01D-EAA4EA6A3B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D3E06-C0B8-CD6A-6569-8F78E659FA2B}"/>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2A222ABD-879E-975E-9577-5C2B4EF9745B}"/>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0F1BA328-9D3C-57CB-1BB6-6071923077C5}"/>
              </a:ext>
            </a:extLst>
          </p:cNvPr>
          <p:cNvPicPr>
            <a:picLocks noChangeAspect="1"/>
          </p:cNvPicPr>
          <p:nvPr/>
        </p:nvPicPr>
        <p:blipFill>
          <a:blip r:embed="rId2"/>
          <a:stretch>
            <a:fillRect/>
          </a:stretch>
        </p:blipFill>
        <p:spPr>
          <a:xfrm>
            <a:off x="0" y="0"/>
            <a:ext cx="5834552" cy="3039291"/>
          </a:xfrm>
          <a:prstGeom prst="rect">
            <a:avLst/>
          </a:prstGeom>
        </p:spPr>
      </p:pic>
      <p:pic>
        <p:nvPicPr>
          <p:cNvPr id="5" name="Picture 4">
            <a:extLst>
              <a:ext uri="{FF2B5EF4-FFF2-40B4-BE49-F238E27FC236}">
                <a16:creationId xmlns:a16="http://schemas.microsoft.com/office/drawing/2014/main" id="{007DB5B3-CE84-A59C-98BD-60A788A5590B}"/>
              </a:ext>
            </a:extLst>
          </p:cNvPr>
          <p:cNvPicPr>
            <a:picLocks noChangeAspect="1"/>
          </p:cNvPicPr>
          <p:nvPr/>
        </p:nvPicPr>
        <p:blipFill>
          <a:blip r:embed="rId3"/>
          <a:stretch>
            <a:fillRect/>
          </a:stretch>
        </p:blipFill>
        <p:spPr>
          <a:xfrm>
            <a:off x="5944757" y="0"/>
            <a:ext cx="6247243" cy="3352800"/>
          </a:xfrm>
          <a:prstGeom prst="rect">
            <a:avLst/>
          </a:prstGeom>
        </p:spPr>
      </p:pic>
      <p:pic>
        <p:nvPicPr>
          <p:cNvPr id="6" name="Picture 5">
            <a:extLst>
              <a:ext uri="{FF2B5EF4-FFF2-40B4-BE49-F238E27FC236}">
                <a16:creationId xmlns:a16="http://schemas.microsoft.com/office/drawing/2014/main" id="{4355B154-AF75-C1B5-AD69-ED89B103DC86}"/>
              </a:ext>
            </a:extLst>
          </p:cNvPr>
          <p:cNvPicPr>
            <a:picLocks noChangeAspect="1"/>
          </p:cNvPicPr>
          <p:nvPr/>
        </p:nvPicPr>
        <p:blipFill>
          <a:blip r:embed="rId4"/>
          <a:stretch>
            <a:fillRect/>
          </a:stretch>
        </p:blipFill>
        <p:spPr>
          <a:xfrm>
            <a:off x="1617617" y="3767998"/>
            <a:ext cx="7772400" cy="3090002"/>
          </a:xfrm>
          <a:prstGeom prst="rect">
            <a:avLst/>
          </a:prstGeom>
        </p:spPr>
      </p:pic>
    </p:spTree>
    <p:extLst>
      <p:ext uri="{BB962C8B-B14F-4D97-AF65-F5344CB8AC3E}">
        <p14:creationId xmlns:p14="http://schemas.microsoft.com/office/powerpoint/2010/main" val="260972076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74173-F37A-1924-C47E-BACB6CCDF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49035-6647-C3DC-9C85-29100561AFC5}"/>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B1020B86-0E12-F53E-0DA7-C367982C208C}"/>
              </a:ext>
            </a:extLst>
          </p:cNvPr>
          <p:cNvSpPr>
            <a:spLocks noGrp="1"/>
          </p:cNvSpPr>
          <p:nvPr>
            <p:ph idx="1"/>
          </p:nvPr>
        </p:nvSpPr>
        <p:spPr/>
        <p:txBody>
          <a:bodyPr/>
          <a:lstStyle/>
          <a:p>
            <a:r>
              <a:rPr lang="en-US" dirty="0"/>
              <a:t>Question #2: How would you monitor model health when ground-truth RUL labels are delayed or unavailable, and what actions should different alerts trigger? </a:t>
            </a:r>
          </a:p>
        </p:txBody>
      </p:sp>
    </p:spTree>
    <p:extLst>
      <p:ext uri="{BB962C8B-B14F-4D97-AF65-F5344CB8AC3E}">
        <p14:creationId xmlns:p14="http://schemas.microsoft.com/office/powerpoint/2010/main" val="335550715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0DE4-219D-89F3-4852-EC2E124A3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16CD4-006E-82E4-A0E2-E602340CE904}"/>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741DAC67-B7F1-E6FE-844D-31D810E3672F}"/>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2E4EB0E2-4A5B-FA3F-B3C1-CFEC5148A7C3}"/>
              </a:ext>
            </a:extLst>
          </p:cNvPr>
          <p:cNvPicPr>
            <a:picLocks noChangeAspect="1"/>
          </p:cNvPicPr>
          <p:nvPr/>
        </p:nvPicPr>
        <p:blipFill>
          <a:blip r:embed="rId2"/>
          <a:stretch>
            <a:fillRect/>
          </a:stretch>
        </p:blipFill>
        <p:spPr>
          <a:xfrm>
            <a:off x="0" y="0"/>
            <a:ext cx="4925903" cy="5042263"/>
          </a:xfrm>
          <a:prstGeom prst="rect">
            <a:avLst/>
          </a:prstGeom>
        </p:spPr>
      </p:pic>
      <p:pic>
        <p:nvPicPr>
          <p:cNvPr id="5" name="Picture 4">
            <a:extLst>
              <a:ext uri="{FF2B5EF4-FFF2-40B4-BE49-F238E27FC236}">
                <a16:creationId xmlns:a16="http://schemas.microsoft.com/office/drawing/2014/main" id="{798190CF-4305-F6FE-2FF6-7235235436E6}"/>
              </a:ext>
            </a:extLst>
          </p:cNvPr>
          <p:cNvPicPr>
            <a:picLocks noChangeAspect="1"/>
          </p:cNvPicPr>
          <p:nvPr/>
        </p:nvPicPr>
        <p:blipFill>
          <a:blip r:embed="rId3"/>
          <a:stretch>
            <a:fillRect/>
          </a:stretch>
        </p:blipFill>
        <p:spPr>
          <a:xfrm>
            <a:off x="6297148" y="0"/>
            <a:ext cx="5894852" cy="4705474"/>
          </a:xfrm>
          <a:prstGeom prst="rect">
            <a:avLst/>
          </a:prstGeom>
        </p:spPr>
      </p:pic>
      <p:pic>
        <p:nvPicPr>
          <p:cNvPr id="6" name="Picture 5">
            <a:extLst>
              <a:ext uri="{FF2B5EF4-FFF2-40B4-BE49-F238E27FC236}">
                <a16:creationId xmlns:a16="http://schemas.microsoft.com/office/drawing/2014/main" id="{DD41FB3C-A310-0584-37D0-1CB2B8329B58}"/>
              </a:ext>
            </a:extLst>
          </p:cNvPr>
          <p:cNvPicPr>
            <a:picLocks noChangeAspect="1"/>
          </p:cNvPicPr>
          <p:nvPr/>
        </p:nvPicPr>
        <p:blipFill>
          <a:blip r:embed="rId4"/>
          <a:stretch>
            <a:fillRect/>
          </a:stretch>
        </p:blipFill>
        <p:spPr>
          <a:xfrm>
            <a:off x="4925902" y="4701221"/>
            <a:ext cx="3669457" cy="2162745"/>
          </a:xfrm>
          <a:prstGeom prst="rect">
            <a:avLst/>
          </a:prstGeom>
        </p:spPr>
      </p:pic>
    </p:spTree>
    <p:extLst>
      <p:ext uri="{BB962C8B-B14F-4D97-AF65-F5344CB8AC3E}">
        <p14:creationId xmlns:p14="http://schemas.microsoft.com/office/powerpoint/2010/main" val="429267778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9F78758C-461F-D672-B532-F655D8DD9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48300-E642-E948-7FDE-2ECDA2DBD164}"/>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65992BB6-850E-AE91-91C2-1F7D4860E46A}"/>
              </a:ext>
            </a:extLst>
          </p:cNvPr>
          <p:cNvSpPr>
            <a:spLocks noGrp="1"/>
          </p:cNvSpPr>
          <p:nvPr>
            <p:ph idx="1"/>
          </p:nvPr>
        </p:nvSpPr>
        <p:spPr/>
        <p:txBody>
          <a:bodyPr/>
          <a:lstStyle/>
          <a:p>
            <a:r>
              <a:rPr lang="en-US" dirty="0"/>
              <a:t>Phase 3.4: Retraining and Production Failure Modes</a:t>
            </a:r>
          </a:p>
          <a:p>
            <a:pPr lvl="1"/>
            <a:r>
              <a:rPr lang="en-US" dirty="0"/>
              <a:t>Define retraining triggers</a:t>
            </a:r>
          </a:p>
          <a:p>
            <a:pPr lvl="1"/>
            <a:r>
              <a:rPr lang="en-US" dirty="0"/>
              <a:t>Consider delayed labels</a:t>
            </a:r>
          </a:p>
          <a:p>
            <a:pPr lvl="1"/>
            <a:r>
              <a:rPr lang="en-US" dirty="0"/>
              <a:t>Handle distribution shifts</a:t>
            </a:r>
          </a:p>
          <a:p>
            <a:pPr lvl="1"/>
            <a:r>
              <a:rPr lang="en-US" dirty="0"/>
              <a:t>Document fallback behavior</a:t>
            </a:r>
          </a:p>
          <a:p>
            <a:pPr lvl="1"/>
            <a:r>
              <a:rPr lang="en-US" dirty="0"/>
              <a:t>Discuss model degradation and rollback</a:t>
            </a:r>
          </a:p>
        </p:txBody>
      </p:sp>
    </p:spTree>
    <p:extLst>
      <p:ext uri="{BB962C8B-B14F-4D97-AF65-F5344CB8AC3E}">
        <p14:creationId xmlns:p14="http://schemas.microsoft.com/office/powerpoint/2010/main" val="1695138918"/>
      </p:ext>
    </p:extLst>
  </p:cSld>
  <p:clrMapOvr>
    <a:overrideClrMapping bg1="lt1" tx1="dk1" bg2="lt2" tx2="dk2" accent1="accent1" accent2="accent2" accent3="accent3" accent4="accent4" accent5="accent5" accent6="accent6" hlink="hlink" folHlink="folHlink"/>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2AEA-6C46-4054-EA8F-9066EE710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17C3B-B516-D349-338C-506D39820EE1}"/>
              </a:ext>
            </a:extLst>
          </p:cNvPr>
          <p:cNvSpPr>
            <a:spLocks noGrp="1"/>
          </p:cNvSpPr>
          <p:nvPr>
            <p:ph type="title"/>
          </p:nvPr>
        </p:nvSpPr>
        <p:spPr/>
        <p:txBody>
          <a:bodyPr/>
          <a:lstStyle/>
          <a:p>
            <a:r>
              <a:rPr lang="en-US" dirty="0"/>
              <a:t>Phase 3.4: Retraining and Production Failure Modes</a:t>
            </a:r>
          </a:p>
        </p:txBody>
      </p:sp>
      <p:sp>
        <p:nvSpPr>
          <p:cNvPr id="3" name="Content Placeholder 2">
            <a:extLst>
              <a:ext uri="{FF2B5EF4-FFF2-40B4-BE49-F238E27FC236}">
                <a16:creationId xmlns:a16="http://schemas.microsoft.com/office/drawing/2014/main" id="{85C03925-E5A5-A83F-1D18-1A9994A5B05E}"/>
              </a:ext>
            </a:extLst>
          </p:cNvPr>
          <p:cNvSpPr>
            <a:spLocks noGrp="1"/>
          </p:cNvSpPr>
          <p:nvPr>
            <p:ph idx="1"/>
          </p:nvPr>
        </p:nvSpPr>
        <p:spPr/>
        <p:txBody>
          <a:bodyPr/>
          <a:lstStyle/>
          <a:p>
            <a:r>
              <a:rPr lang="en-US" dirty="0"/>
              <a:t>Question #1: What conditions would justify retraining the model, and how would you respond to production failures without automatically assuming retraining is the solution? </a:t>
            </a:r>
          </a:p>
        </p:txBody>
      </p:sp>
    </p:spTree>
    <p:extLst>
      <p:ext uri="{BB962C8B-B14F-4D97-AF65-F5344CB8AC3E}">
        <p14:creationId xmlns:p14="http://schemas.microsoft.com/office/powerpoint/2010/main" val="80106178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D3AC1-AF09-9F51-782C-07C989B38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D0CFD-CEA3-E933-001E-EDC9CCC449E2}"/>
              </a:ext>
            </a:extLst>
          </p:cNvPr>
          <p:cNvSpPr>
            <a:spLocks noGrp="1"/>
          </p:cNvSpPr>
          <p:nvPr>
            <p:ph type="title"/>
          </p:nvPr>
        </p:nvSpPr>
        <p:spPr/>
        <p:txBody>
          <a:bodyPr/>
          <a:lstStyle/>
          <a:p>
            <a:r>
              <a:rPr lang="en-US" dirty="0"/>
              <a:t>Phase 3.4: Retraining and Production Failure Modes</a:t>
            </a:r>
          </a:p>
        </p:txBody>
      </p:sp>
      <p:sp>
        <p:nvSpPr>
          <p:cNvPr id="3" name="Content Placeholder 2">
            <a:extLst>
              <a:ext uri="{FF2B5EF4-FFF2-40B4-BE49-F238E27FC236}">
                <a16:creationId xmlns:a16="http://schemas.microsoft.com/office/drawing/2014/main" id="{B96FB0D9-D506-D22C-9855-6D6A49CBB04A}"/>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750D3C29-A42B-87A4-FF9E-E5BE3B8085DB}"/>
              </a:ext>
            </a:extLst>
          </p:cNvPr>
          <p:cNvPicPr>
            <a:picLocks noChangeAspect="1"/>
          </p:cNvPicPr>
          <p:nvPr/>
        </p:nvPicPr>
        <p:blipFill>
          <a:blip r:embed="rId2"/>
          <a:stretch>
            <a:fillRect/>
          </a:stretch>
        </p:blipFill>
        <p:spPr>
          <a:xfrm>
            <a:off x="911" y="0"/>
            <a:ext cx="6095089" cy="5124389"/>
          </a:xfrm>
          <a:prstGeom prst="rect">
            <a:avLst/>
          </a:prstGeom>
        </p:spPr>
      </p:pic>
      <p:pic>
        <p:nvPicPr>
          <p:cNvPr id="5" name="Picture 4">
            <a:extLst>
              <a:ext uri="{FF2B5EF4-FFF2-40B4-BE49-F238E27FC236}">
                <a16:creationId xmlns:a16="http://schemas.microsoft.com/office/drawing/2014/main" id="{F41713E3-FE68-66D0-9F3B-C27E4677D239}"/>
              </a:ext>
            </a:extLst>
          </p:cNvPr>
          <p:cNvPicPr>
            <a:picLocks noChangeAspect="1"/>
          </p:cNvPicPr>
          <p:nvPr/>
        </p:nvPicPr>
        <p:blipFill>
          <a:blip r:embed="rId3"/>
          <a:stretch>
            <a:fillRect/>
          </a:stretch>
        </p:blipFill>
        <p:spPr>
          <a:xfrm>
            <a:off x="6557555" y="0"/>
            <a:ext cx="5634446" cy="3206303"/>
          </a:xfrm>
          <a:prstGeom prst="rect">
            <a:avLst/>
          </a:prstGeom>
        </p:spPr>
      </p:pic>
      <p:pic>
        <p:nvPicPr>
          <p:cNvPr id="6" name="Picture 5">
            <a:extLst>
              <a:ext uri="{FF2B5EF4-FFF2-40B4-BE49-F238E27FC236}">
                <a16:creationId xmlns:a16="http://schemas.microsoft.com/office/drawing/2014/main" id="{F06FF767-2D82-7DFD-8E42-212D6563FB6D}"/>
              </a:ext>
            </a:extLst>
          </p:cNvPr>
          <p:cNvPicPr>
            <a:picLocks noChangeAspect="1"/>
          </p:cNvPicPr>
          <p:nvPr/>
        </p:nvPicPr>
        <p:blipFill>
          <a:blip r:embed="rId4"/>
          <a:stretch>
            <a:fillRect/>
          </a:stretch>
        </p:blipFill>
        <p:spPr>
          <a:xfrm>
            <a:off x="7438293" y="3429001"/>
            <a:ext cx="4753708" cy="3429000"/>
          </a:xfrm>
          <a:prstGeom prst="rect">
            <a:avLst/>
          </a:prstGeom>
        </p:spPr>
      </p:pic>
    </p:spTree>
    <p:extLst>
      <p:ext uri="{BB962C8B-B14F-4D97-AF65-F5344CB8AC3E}">
        <p14:creationId xmlns:p14="http://schemas.microsoft.com/office/powerpoint/2010/main" val="51784492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01188232-886C-D63D-9F1F-EABC30BDF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0FE94-7FEE-CD68-0C38-2B9C841CE8D7}"/>
              </a:ext>
            </a:extLst>
          </p:cNvPr>
          <p:cNvSpPr>
            <a:spLocks noGrp="1"/>
          </p:cNvSpPr>
          <p:nvPr>
            <p:ph type="title"/>
          </p:nvPr>
        </p:nvSpPr>
        <p:spPr/>
        <p:txBody>
          <a:bodyPr/>
          <a:lstStyle/>
          <a:p>
            <a:r>
              <a:rPr lang="en-US" dirty="0"/>
              <a:t>Part 4: Portfolio Presentation and Final Polish</a:t>
            </a:r>
          </a:p>
        </p:txBody>
      </p:sp>
      <p:sp>
        <p:nvSpPr>
          <p:cNvPr id="3" name="Content Placeholder 2">
            <a:extLst>
              <a:ext uri="{FF2B5EF4-FFF2-40B4-BE49-F238E27FC236}">
                <a16:creationId xmlns:a16="http://schemas.microsoft.com/office/drawing/2014/main" id="{881FD49C-D513-DF71-3670-333D964AA988}"/>
              </a:ext>
            </a:extLst>
          </p:cNvPr>
          <p:cNvSpPr>
            <a:spLocks noGrp="1"/>
          </p:cNvSpPr>
          <p:nvPr>
            <p:ph idx="1"/>
          </p:nvPr>
        </p:nvSpPr>
        <p:spPr/>
        <p:txBody>
          <a:bodyPr/>
          <a:lstStyle/>
          <a:p>
            <a:r>
              <a:rPr lang="en-US" dirty="0"/>
              <a:t>Phase 4.1: Documentation and Technical Storytelling</a:t>
            </a:r>
          </a:p>
          <a:p>
            <a:pPr lvl="1"/>
            <a:r>
              <a:rPr lang="en-US" dirty="0"/>
              <a:t>High-quality README</a:t>
            </a:r>
          </a:p>
          <a:p>
            <a:pPr lvl="1"/>
            <a:r>
              <a:rPr lang="en-US" dirty="0"/>
              <a:t>Architecture diagram</a:t>
            </a:r>
          </a:p>
          <a:p>
            <a:pPr lvl="1"/>
            <a:r>
              <a:rPr lang="en-US" dirty="0"/>
              <a:t>Data-flow diagram</a:t>
            </a:r>
          </a:p>
          <a:p>
            <a:pPr lvl="1"/>
            <a:r>
              <a:rPr lang="en-US" dirty="0"/>
              <a:t>Model-development narrative</a:t>
            </a:r>
          </a:p>
          <a:p>
            <a:pPr lvl="1"/>
            <a:r>
              <a:rPr lang="en-US" dirty="0"/>
              <a:t>Model card</a:t>
            </a:r>
          </a:p>
          <a:p>
            <a:pPr lvl="1"/>
            <a:r>
              <a:rPr lang="en-US" dirty="0"/>
              <a:t>Data assumptions and limitations</a:t>
            </a:r>
          </a:p>
          <a:p>
            <a:pPr lvl="1"/>
            <a:r>
              <a:rPr lang="en-US" dirty="0"/>
              <a:t>Reproduction instructions </a:t>
            </a:r>
          </a:p>
        </p:txBody>
      </p:sp>
    </p:spTree>
    <p:extLst>
      <p:ext uri="{BB962C8B-B14F-4D97-AF65-F5344CB8AC3E}">
        <p14:creationId xmlns:p14="http://schemas.microsoft.com/office/powerpoint/2010/main" val="3799832400"/>
      </p:ext>
    </p:extLst>
  </p:cSld>
  <p:clrMapOvr>
    <a:overrideClrMapping bg1="lt1" tx1="dk1" bg2="lt2" tx2="dk2" accent1="accent1" accent2="accent2" accent3="accent3" accent4="accent4" accent5="accent5" accent6="accent6" hlink="hlink" folHlink="folHlink"/>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9B965719-0F72-7657-389F-BF51E2160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2FF28-983A-AC04-B11E-37EED7E87529}"/>
              </a:ext>
            </a:extLst>
          </p:cNvPr>
          <p:cNvSpPr>
            <a:spLocks noGrp="1"/>
          </p:cNvSpPr>
          <p:nvPr>
            <p:ph type="title"/>
          </p:nvPr>
        </p:nvSpPr>
        <p:spPr/>
        <p:txBody>
          <a:bodyPr/>
          <a:lstStyle/>
          <a:p>
            <a:r>
              <a:rPr lang="en-US" dirty="0"/>
              <a:t>Part 4: Portfolio Presentation and Final Polish</a:t>
            </a:r>
          </a:p>
        </p:txBody>
      </p:sp>
      <p:sp>
        <p:nvSpPr>
          <p:cNvPr id="3" name="Content Placeholder 2">
            <a:extLst>
              <a:ext uri="{FF2B5EF4-FFF2-40B4-BE49-F238E27FC236}">
                <a16:creationId xmlns:a16="http://schemas.microsoft.com/office/drawing/2014/main" id="{FBE5B7E0-D329-5CA7-DA0D-2E0F2575DD73}"/>
              </a:ext>
            </a:extLst>
          </p:cNvPr>
          <p:cNvSpPr>
            <a:spLocks noGrp="1"/>
          </p:cNvSpPr>
          <p:nvPr>
            <p:ph idx="1"/>
          </p:nvPr>
        </p:nvSpPr>
        <p:spPr/>
        <p:txBody>
          <a:bodyPr/>
          <a:lstStyle/>
          <a:p>
            <a:r>
              <a:rPr lang="en-US" dirty="0"/>
              <a:t>Phase 4.2: Demo and Visual Presentation</a:t>
            </a:r>
          </a:p>
          <a:p>
            <a:pPr lvl="1"/>
            <a:r>
              <a:rPr lang="en-US" dirty="0"/>
              <a:t>Screenshots or short demo video</a:t>
            </a:r>
          </a:p>
          <a:p>
            <a:pPr lvl="1"/>
            <a:r>
              <a:rPr lang="en-US" dirty="0"/>
              <a:t>Clear example prediction</a:t>
            </a:r>
          </a:p>
          <a:p>
            <a:pPr lvl="1"/>
            <a:r>
              <a:rPr lang="en-US" dirty="0"/>
              <a:t>EDA highlights</a:t>
            </a:r>
          </a:p>
          <a:p>
            <a:pPr lvl="1"/>
            <a:r>
              <a:rPr lang="en-US" dirty="0"/>
              <a:t>Model-comparison visuals</a:t>
            </a:r>
          </a:p>
          <a:p>
            <a:pPr lvl="1"/>
            <a:r>
              <a:rPr lang="en-US" dirty="0"/>
              <a:t>Monitoring dashboard examples</a:t>
            </a:r>
          </a:p>
          <a:p>
            <a:pPr lvl="1"/>
            <a:r>
              <a:rPr lang="en-US" dirty="0"/>
              <a:t>Business interpretation</a:t>
            </a:r>
          </a:p>
        </p:txBody>
      </p:sp>
    </p:spTree>
    <p:extLst>
      <p:ext uri="{BB962C8B-B14F-4D97-AF65-F5344CB8AC3E}">
        <p14:creationId xmlns:p14="http://schemas.microsoft.com/office/powerpoint/2010/main" val="2789416317"/>
      </p:ext>
    </p:extLst>
  </p:cSld>
  <p:clrMapOvr>
    <a:overrideClrMapping bg1="lt1" tx1="dk1" bg2="lt2" tx2="dk2" accent1="accent1" accent2="accent2" accent3="accent3" accent4="accent4" accent5="accent5" accent6="accent6" hlink="hlink" folHlink="folHlink"/>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366DFB82-5F60-EA44-B221-8B2753ED1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BF50B-BCF4-0143-6B90-8C4C6B9AA485}"/>
              </a:ext>
            </a:extLst>
          </p:cNvPr>
          <p:cNvSpPr>
            <a:spLocks noGrp="1"/>
          </p:cNvSpPr>
          <p:nvPr>
            <p:ph type="title"/>
          </p:nvPr>
        </p:nvSpPr>
        <p:spPr/>
        <p:txBody>
          <a:bodyPr/>
          <a:lstStyle/>
          <a:p>
            <a:r>
              <a:rPr lang="en-US" dirty="0"/>
              <a:t>Part 4: Portfolio Presentation and Final Polish</a:t>
            </a:r>
          </a:p>
        </p:txBody>
      </p:sp>
      <p:sp>
        <p:nvSpPr>
          <p:cNvPr id="3" name="Content Placeholder 2">
            <a:extLst>
              <a:ext uri="{FF2B5EF4-FFF2-40B4-BE49-F238E27FC236}">
                <a16:creationId xmlns:a16="http://schemas.microsoft.com/office/drawing/2014/main" id="{E33EDEB2-47CC-36F4-C0CC-5EB1B542691B}"/>
              </a:ext>
            </a:extLst>
          </p:cNvPr>
          <p:cNvSpPr>
            <a:spLocks noGrp="1"/>
          </p:cNvSpPr>
          <p:nvPr>
            <p:ph idx="1"/>
          </p:nvPr>
        </p:nvSpPr>
        <p:spPr/>
        <p:txBody>
          <a:bodyPr/>
          <a:lstStyle/>
          <a:p>
            <a:r>
              <a:rPr lang="en-US" dirty="0"/>
              <a:t>Phase 4.3: Repository and Portfolio Polish</a:t>
            </a:r>
          </a:p>
          <a:p>
            <a:pPr lvl="1"/>
            <a:r>
              <a:rPr lang="en-US" dirty="0"/>
              <a:t>Clean project structure</a:t>
            </a:r>
          </a:p>
          <a:p>
            <a:pPr lvl="1"/>
            <a:r>
              <a:rPr lang="en-US" dirty="0"/>
              <a:t>Remove exploratory clutter</a:t>
            </a:r>
          </a:p>
          <a:p>
            <a:pPr lvl="1"/>
            <a:r>
              <a:rPr lang="en-US" dirty="0"/>
              <a:t>Improve naming and comments</a:t>
            </a:r>
          </a:p>
          <a:p>
            <a:pPr lvl="1"/>
            <a:r>
              <a:rPr lang="en-US" dirty="0"/>
              <a:t>Confirm tests and CI pass</a:t>
            </a:r>
          </a:p>
          <a:p>
            <a:pPr lvl="1"/>
            <a:r>
              <a:rPr lang="en-US" dirty="0"/>
              <a:t>Add resume bullets </a:t>
            </a:r>
          </a:p>
          <a:p>
            <a:pPr lvl="1"/>
            <a:r>
              <a:rPr lang="en-US" dirty="0"/>
              <a:t>Prepare interview explanations</a:t>
            </a:r>
          </a:p>
        </p:txBody>
      </p:sp>
    </p:spTree>
    <p:extLst>
      <p:ext uri="{BB962C8B-B14F-4D97-AF65-F5344CB8AC3E}">
        <p14:creationId xmlns:p14="http://schemas.microsoft.com/office/powerpoint/2010/main" val="720306970"/>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2628</TotalTime>
  <Words>8697</Words>
  <Application>Microsoft Macintosh PowerPoint</Application>
  <PresentationFormat>Widescreen</PresentationFormat>
  <Paragraphs>473</Paragraphs>
  <Slides>152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152</vt:i4>
      </vt:variant>
    </vt:vector>
  </HeadingPairs>
  <TitlesOfParts>
    <vt:vector size="156" baseType="lpstr">
      <vt:lpstr>Aptos</vt:lpstr>
      <vt:lpstr>Aptos Display</vt:lpstr>
      <vt:lpstr>Arial</vt:lpstr>
      <vt:lpstr>Office Theme</vt:lpstr>
      <vt:lpstr>Predictive Maintenance + MLOps</vt:lpstr>
      <vt:lpstr>Part 1: ML Foundations and Baseline System</vt:lpstr>
      <vt:lpstr>Phase 1.1: Project Framing and Problem Definition</vt:lpstr>
      <vt:lpstr>PowerPoint Presentation</vt:lpstr>
      <vt:lpstr>Phase 1.1: Project Framing and Problem Definition</vt:lpstr>
      <vt:lpstr>What problem is this project solving, and why did you frame it as remaining-useful-life regression rather than failure classification?</vt:lpstr>
      <vt:lpstr>What problem is this project solving, and why did you frame it as remaining-useful-life regression rather than failure classification?</vt:lpstr>
      <vt:lpstr>Phase 1.1: Project Framing and Problem Definition</vt:lpstr>
      <vt:lpstr>PowerPoint Presentation</vt:lpstr>
      <vt:lpstr>Phase 1.1: Project Framing and Problem Definition</vt:lpstr>
      <vt:lpstr>What does one row in the training data represent, and what information should the model be allowed to use when making a prediction?</vt:lpstr>
      <vt:lpstr>Phase 1.1: Project Framing and Problem Definition</vt:lpstr>
      <vt:lpstr>PowerPoint Presentation</vt:lpstr>
      <vt:lpstr>Phase 1.1: Project Framing and Problem Definition</vt:lpstr>
      <vt:lpstr>How could an RUL prediction support a real maintenance decision, and what are the consequences of overestimating versus underestimating RUL?</vt:lpstr>
      <vt:lpstr>How could an RUL prediction support a real maintenance decision, and what are the consequences of overestimating versus underestimating RUL?</vt:lpstr>
      <vt:lpstr>Phase 1.1: Project Framing and Problem Definition</vt:lpstr>
      <vt:lpstr>PowerPoint Presentation</vt:lpstr>
      <vt:lpstr>Phase 1.1: Project Framing and Problem Definition</vt:lpstr>
      <vt:lpstr>How did you define success for this project, both as a machine-learning system and as a portfolio project?</vt:lpstr>
      <vt:lpstr>How did you define success for this project, both as a machine-learning system and as a portfolio project?</vt:lpstr>
      <vt:lpstr>Phase 1.1: Project Framing and Problem Definition</vt:lpstr>
      <vt:lpstr>PowerPoint Presentation</vt:lpstr>
      <vt:lpstr>Phase 1.1: Project Framing and Problem Definition</vt:lpstr>
      <vt:lpstr>What assumptions does the FD001 project make, and why should the resulting model be treated as a prototype rather than a production-ready maintenance system?</vt:lpstr>
      <vt:lpstr>What assumptions does the FD001 project make, and why should the resulting model be treated as a prototype rather than a production-ready maintenance system?</vt:lpstr>
      <vt:lpstr>Part 1: ML Foundations and Baseline System</vt:lpstr>
      <vt:lpstr>Phase 1.2: Data Understanding and Exploratory Analysis</vt:lpstr>
      <vt:lpstr>PowerPoint Presentation</vt:lpstr>
      <vt:lpstr>Phase 1.2: Data Understanding and Exploratory Analysis</vt:lpstr>
      <vt:lpstr>How do the FD001 training data, test data, and test RUL labels differ, and how do they work together?</vt:lpstr>
      <vt:lpstr>How do the FD001 training data, test data, and test RUL labels differ, and how do they work together?</vt:lpstr>
      <vt:lpstr>Phase 1.2: Data Understanding and Exploratory Analysis</vt:lpstr>
      <vt:lpstr>PowerPoint Presentation</vt:lpstr>
      <vt:lpstr>Phase 1.2: Data Understanding and Exploratory Analysis</vt:lpstr>
      <vt:lpstr>How did you construct the training RUL target, and what checks confirmed that it was correct for every engine?</vt:lpstr>
      <vt:lpstr>PowerPoint Presentation</vt:lpstr>
      <vt:lpstr>Phase 1.2: Data Understanding and Exploratory Analysis</vt:lpstr>
      <vt:lpstr>PowerPoint Presentation</vt:lpstr>
      <vt:lpstr>Phase 1.2: Data Understanding and Exploratory Analysis</vt:lpstr>
      <vt:lpstr>What sequence-integrity checks did you perform, and why are they necessary before modeling time-series engine data?</vt:lpstr>
      <vt:lpstr>PowerPoint Presentation</vt:lpstr>
      <vt:lpstr>Phase 1.2: Data Understanding and Exploratory Analysis</vt:lpstr>
      <vt:lpstr>PowerPoint Presentation</vt:lpstr>
      <vt:lpstr>Phase 1.2: Data Understanding and Exploratory Analysis</vt:lpstr>
      <vt:lpstr>What data-quality checks did you perform, what did you find, and why was it important not to “clean” legitimate degradation behavior?</vt:lpstr>
      <vt:lpstr>PowerPoint Presentation</vt:lpstr>
      <vt:lpstr>Phase 1.2: Data Understanding and Exploratory Analysis</vt:lpstr>
      <vt:lpstr>PowerPoint Presentation</vt:lpstr>
      <vt:lpstr>Phase 1.2: Data Understanding and Exploratory Analysis</vt:lpstr>
      <vt:lpstr>How did you identify constant and near-constant features, and how did those findings affect the feature plan?</vt:lpstr>
      <vt:lpstr>Phase 1.2: Data Understanding and Exploratory Analysis</vt:lpstr>
      <vt:lpstr>PowerPoint Presentation</vt:lpstr>
      <vt:lpstr>Phase 1.2: Data Understanding and Exploratory Analysis</vt:lpstr>
      <vt:lpstr>Why did you examine both overall sensor behavior and within-engine sensor trajectories, and what different information did those views provide?</vt:lpstr>
      <vt:lpstr>Phase 1.2: Data Understanding and Exploratory Analysis</vt:lpstr>
      <vt:lpstr>PowerPoint Presentation</vt:lpstr>
      <vt:lpstr>How did you determine whether FD001 contained multiple operating regimes, and why does that matter for modeling?</vt:lpstr>
      <vt:lpstr>How did you determine whether FD001 contained multiple operating regimes, and why does that matter for modeling?</vt:lpstr>
      <vt:lpstr>Phase 1.2: Data Understanding and Exploratory Analysis</vt:lpstr>
      <vt:lpstr>PowerPoint Presentation</vt:lpstr>
      <vt:lpstr>What were the most important modeling decisions produced by the EDA?</vt:lpstr>
      <vt:lpstr>What were the most important modeling decisions produced by the EDA?</vt:lpstr>
      <vt:lpstr>PowerPoint Presentation</vt:lpstr>
      <vt:lpstr>Part 1: ML Foundations and Baseline System</vt:lpstr>
      <vt:lpstr>Phase 1.3: Baseline Data Pipeline and Feature Engineering</vt:lpstr>
      <vt:lpstr>PowerPoint Presentation</vt:lpstr>
      <vt:lpstr>Phase 1.3: Baseline Data Pipeline and Feature Engineering</vt:lpstr>
      <vt:lpstr>Which columns were included in the baseline feature set, which were excluded, and why?</vt:lpstr>
      <vt:lpstr>Phase 1.3: Baseline Data Pipeline and Feature Engineering</vt:lpstr>
      <vt:lpstr>PowerPoint Presentation</vt:lpstr>
      <vt:lpstr>Phase 1.3: Baseline Data Pipeline and Feature Engineering</vt:lpstr>
      <vt:lpstr>What is the correct order of operations in the baseline data pipeline, and what would go wrong if preprocessing were performed before splitting the engines?</vt:lpstr>
      <vt:lpstr>Phase 1.3: Baseline Data Pipeline and Feature Engineering</vt:lpstr>
      <vt:lpstr>PowerPoint Presentation</vt:lpstr>
      <vt:lpstr>Phase 1.3: Baseline Data Pipeline and Feature Engineering</vt:lpstr>
      <vt:lpstr>What temporal features could improve RUL prediction, and how would you construct them without introducing future-data leakage?</vt:lpstr>
      <vt:lpstr>Part 1: ML Foundations and Baseline System</vt:lpstr>
      <vt:lpstr>Phase 1.4: Baseline Modeling and Evaluation</vt:lpstr>
      <vt:lpstr>PowerPoint Presentation</vt:lpstr>
      <vt:lpstr>Phase 1.4: Baseline Modeling and Evaluation</vt:lpstr>
      <vt:lpstr>Which baseline models did you compare, and what does each baseline tell you about the difficulty of the RUL prediction problem?</vt:lpstr>
      <vt:lpstr>Phase 1.4: Baseline Modeling and Evaluation</vt:lpstr>
      <vt:lpstr>PowerPoint Presentation</vt:lpstr>
      <vt:lpstr>Phase 1.4: Baseline Modeling and Evaluation</vt:lpstr>
      <vt:lpstr>How was the validation strategy designed, and why would randomly splitting individual rows produce misleading results?</vt:lpstr>
      <vt:lpstr>Phase 1.4: Baseline Modeling and Evaluation</vt:lpstr>
      <vt:lpstr>PowerPoint Presentation</vt:lpstr>
      <vt:lpstr>Phase 1.4: Baseline Modeling and Evaluation</vt:lpstr>
      <vt:lpstr>Which metrics did you use to evaluate RUL predictions, and why should performance be examined at more than one level?</vt:lpstr>
      <vt:lpstr>Phase 1.4: Baseline Modeling and Evaluation</vt:lpstr>
      <vt:lpstr>PowerPoint Presentation</vt:lpstr>
      <vt:lpstr>Phase 1.4: Baseline Modeling and Evaluation</vt:lpstr>
      <vt:lpstr>How did you select the baseline model, and what kinds of errors or failure patterns did you examine beyond the overall score?</vt:lpstr>
      <vt:lpstr>Part 1: ML Foundations and Baseline System</vt:lpstr>
      <vt:lpstr>Phase 1.5: Controlled Modeling Experiments</vt:lpstr>
      <vt:lpstr>PowerPoint Presentation</vt:lpstr>
      <vt:lpstr>Phase 1.5: Controlled Modeling Experiments</vt:lpstr>
      <vt:lpstr>Why should a controlled modeling experiment change one deliberate factor while keeping the target, observation population, model conditions, and evaluation method fixed as much as possible?</vt:lpstr>
      <vt:lpstr>Phase 1.5: Controlled Modeling Experiments</vt:lpstr>
      <vt:lpstr>PowerPoint Presentation</vt:lpstr>
      <vt:lpstr>Phase 1.5: Controlled Modeling Experiments</vt:lpstr>
      <vt:lpstr>Why can’t you assume that two modeling changes that improve validation performance individually will produce the sum of those improvements when combined?</vt:lpstr>
      <vt:lpstr>Part 1: ML Foundations and Baseline System</vt:lpstr>
      <vt:lpstr>Phase 1.6: Grouped Cross-validation and final model selection</vt:lpstr>
      <vt:lpstr>PowerPoint Presentation</vt:lpstr>
      <vt:lpstr>Phase 1.6: Grouped Cross-validation and final model selection</vt:lpstr>
      <vt:lpstr>Why is grouped cross-validation by engine stronger evidence than choosing the final model from a single train/validation split?</vt:lpstr>
      <vt:lpstr>Phase 1.6: Grouped Cross-validation and final model selection</vt:lpstr>
      <vt:lpstr>PowerPoint Presentation</vt:lpstr>
      <vt:lpstr>Phase 1.6: Grouped Cross-validation and final model selection</vt:lpstr>
      <vt:lpstr>What different information do pooled out-of-fold RMSE and fold-to-fold RMSE variability provide when comparing candidate models?</vt:lpstr>
      <vt:lpstr>Part 2: Shippable MVP</vt:lpstr>
      <vt:lpstr>Phase 2.1: Inference Pipeline</vt:lpstr>
      <vt:lpstr>Phase 2.1: Inference Pipeline</vt:lpstr>
      <vt:lpstr>Phase 2.1: Inference Pipeline</vt:lpstr>
      <vt:lpstr>Phase 2.1: Inference Pipeline</vt:lpstr>
      <vt:lpstr>Part 2: Shippable MVP</vt:lpstr>
      <vt:lpstr>Phase 2.2: Model Serving</vt:lpstr>
      <vt:lpstr>Phase 2.2: Model Serving</vt:lpstr>
      <vt:lpstr>Phase 2.2: Model Serving</vt:lpstr>
      <vt:lpstr>Phase 2.2: Model Serving</vt:lpstr>
      <vt:lpstr>Part 2: Shippable MVP</vt:lpstr>
      <vt:lpstr>Phase 2.3: Containerization and Environment Management</vt:lpstr>
      <vt:lpstr>Phase 2.3: Containerization and Environment Management</vt:lpstr>
      <vt:lpstr>Part 2: Shippable MVP</vt:lpstr>
      <vt:lpstr>Phase 2.4: Automated Testing and CI</vt:lpstr>
      <vt:lpstr>Phase 2.4: Automated Testing and CI</vt:lpstr>
      <vt:lpstr>Phase 2.4: Automated Testing and CI</vt:lpstr>
      <vt:lpstr>Phase 2.4: Automated Testing and CI</vt:lpstr>
      <vt:lpstr>Part 2: Shippable MVP</vt:lpstr>
      <vt:lpstr>Phase 2.5: Minimal Demo Layer</vt:lpstr>
      <vt:lpstr>Phase 2.5: Minimal Demo Layer</vt:lpstr>
      <vt:lpstr>Part 3: Model Improvement and Production Thinking</vt:lpstr>
      <vt:lpstr>Phase 3.1: Advanced Modeling Experimentation</vt:lpstr>
      <vt:lpstr>Phase 3.1: Advanced Modeling Experimentation</vt:lpstr>
      <vt:lpstr>Phase 3.1: Advanced Modeling Experimentation</vt:lpstr>
      <vt:lpstr>Phase 3.1: Advanced Modeling Experimentation</vt:lpstr>
      <vt:lpstr>Part 3: Model Improvement and Production Thinking</vt:lpstr>
      <vt:lpstr>Phase 3.2: Model Selection, Versioning, and Promotion</vt:lpstr>
      <vt:lpstr>Phase 3.2: Model Selection, Versioning, and Promotion</vt:lpstr>
      <vt:lpstr>Part 3: Model Improvement and Production Thinking</vt:lpstr>
      <vt:lpstr>Phase 3.3: Monitoring and Logging</vt:lpstr>
      <vt:lpstr>Phase 3.3: Monitoring and Logging</vt:lpstr>
      <vt:lpstr>Phase 3.3: Monitoring and Logging</vt:lpstr>
      <vt:lpstr>Phase 3.3: Monitoring and Logging</vt:lpstr>
      <vt:lpstr>Part 3: Model Improvement and Production Thinking</vt:lpstr>
      <vt:lpstr>Phase 3.4: Retraining and Production Failure Modes</vt:lpstr>
      <vt:lpstr>Phase 3.4: Retraining and Production Failure Modes</vt:lpstr>
      <vt:lpstr>Part 4: Portfolio Presentation and Final Polish</vt:lpstr>
      <vt:lpstr>Part 4: Portfolio Presentation and Final Polish</vt:lpstr>
      <vt:lpstr>Part 4: Portfolio Presentation and Final Polish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Stuart Spackman</dc:creator>
  <cp:lastModifiedBy>Stuart Spackman</cp:lastModifiedBy>
  <cp:revision>12</cp:revision>
  <dcterms:created xsi:type="dcterms:W3CDTF">2026-07-27T20:06:09Z</dcterms:created>
  <dcterms:modified xsi:type="dcterms:W3CDTF">2026-09-22T22:24:37Z</dcterms:modified>
</cp:coreProperties>
</file>