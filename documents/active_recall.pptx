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6" r:id="rId4"/>
    <p:sldId id="277" r:id="rId5"/>
    <p:sldId id="353" r:id="rId6"/>
    <p:sldId id="352" r:id="rId7"/>
    <p:sldId id="354" r:id="rId8"/>
    <p:sldId id="278" r:id="rId9"/>
    <p:sldId id="279" r:id="rId10"/>
    <p:sldId id="355" r:id="rId11"/>
    <p:sldId id="356" r:id="rId12"/>
    <p:sldId id="357" r:id="rId13"/>
    <p:sldId id="280" r:id="rId14"/>
    <p:sldId id="281" r:id="rId15"/>
    <p:sldId id="359" r:id="rId16"/>
    <p:sldId id="360" r:id="rId17"/>
    <p:sldId id="361" r:id="rId18"/>
    <p:sldId id="282" r:id="rId19"/>
    <p:sldId id="283" r:id="rId20"/>
    <p:sldId id="362" r:id="rId21"/>
    <p:sldId id="364" r:id="rId22"/>
    <p:sldId id="363" r:id="rId23"/>
    <p:sldId id="284" r:id="rId24"/>
    <p:sldId id="285" r:id="rId25"/>
    <p:sldId id="365" r:id="rId26"/>
    <p:sldId id="366" r:id="rId27"/>
    <p:sldId id="367" r:id="rId28"/>
    <p:sldId id="258" r:id="rId29"/>
    <p:sldId id="289" r:id="rId30"/>
    <p:sldId id="290" r:id="rId31"/>
    <p:sldId id="275" r:id="rId32"/>
    <p:sldId id="286" r:id="rId33"/>
    <p:sldId id="287" r:id="rId34"/>
    <p:sldId id="288" r:id="rId35"/>
    <p:sldId id="291" r:id="rId36"/>
    <p:sldId id="292" r:id="rId37"/>
    <p:sldId id="293" r:id="rId38"/>
    <p:sldId id="294" r:id="rId39"/>
    <p:sldId id="295" r:id="rId40"/>
    <p:sldId id="296" r:id="rId41"/>
    <p:sldId id="297" r:id="rId42"/>
    <p:sldId id="298" r:id="rId43"/>
    <p:sldId id="299" r:id="rId44"/>
    <p:sldId id="300" r:id="rId45"/>
    <p:sldId id="259" r:id="rId46"/>
    <p:sldId id="260" r:id="rId47"/>
    <p:sldId id="301" r:id="rId48"/>
    <p:sldId id="302" r:id="rId49"/>
    <p:sldId id="303" r:id="rId50"/>
    <p:sldId id="304" r:id="rId51"/>
    <p:sldId id="305" r:id="rId52"/>
    <p:sldId id="261" r:id="rId53"/>
    <p:sldId id="306" r:id="rId54"/>
    <p:sldId id="307" r:id="rId55"/>
    <p:sldId id="308" r:id="rId56"/>
    <p:sldId id="309" r:id="rId57"/>
    <p:sldId id="310" r:id="rId58"/>
    <p:sldId id="311" r:id="rId59"/>
    <p:sldId id="312" r:id="rId60"/>
    <p:sldId id="313" r:id="rId61"/>
    <p:sldId id="262" r:id="rId62"/>
    <p:sldId id="314" r:id="rId63"/>
    <p:sldId id="315" r:id="rId64"/>
    <p:sldId id="316" r:id="rId65"/>
    <p:sldId id="317" r:id="rId66"/>
    <p:sldId id="263" r:id="rId67"/>
    <p:sldId id="318" r:id="rId68"/>
    <p:sldId id="330" r:id="rId69"/>
    <p:sldId id="342" r:id="rId70"/>
    <p:sldId id="343" r:id="rId71"/>
    <p:sldId id="264" r:id="rId72"/>
    <p:sldId id="319" r:id="rId73"/>
    <p:sldId id="331" r:id="rId74"/>
    <p:sldId id="344" r:id="rId75"/>
    <p:sldId id="345" r:id="rId76"/>
    <p:sldId id="265" r:id="rId77"/>
    <p:sldId id="320" r:id="rId78"/>
    <p:sldId id="332" r:id="rId79"/>
    <p:sldId id="266" r:id="rId80"/>
    <p:sldId id="321" r:id="rId81"/>
    <p:sldId id="333" r:id="rId82"/>
    <p:sldId id="346" r:id="rId83"/>
    <p:sldId id="347" r:id="rId84"/>
    <p:sldId id="267" r:id="rId85"/>
    <p:sldId id="322" r:id="rId86"/>
    <p:sldId id="334" r:id="rId87"/>
    <p:sldId id="268" r:id="rId88"/>
    <p:sldId id="323" r:id="rId89"/>
    <p:sldId id="335" r:id="rId90"/>
    <p:sldId id="348" r:id="rId91"/>
    <p:sldId id="349" r:id="rId92"/>
    <p:sldId id="269" r:id="rId93"/>
    <p:sldId id="324" r:id="rId94"/>
    <p:sldId id="336" r:id="rId95"/>
    <p:sldId id="270" r:id="rId96"/>
    <p:sldId id="325" r:id="rId97"/>
    <p:sldId id="337" r:id="rId98"/>
    <p:sldId id="350" r:id="rId99"/>
    <p:sldId id="351" r:id="rId100"/>
    <p:sldId id="271" r:id="rId101"/>
    <p:sldId id="326" r:id="rId102"/>
    <p:sldId id="338" r:id="rId103"/>
    <p:sldId id="272" r:id="rId104"/>
    <p:sldId id="273" r:id="rId105"/>
    <p:sldId id="274" r:id="rId10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BEBEB"/>
    <a:srgbClr val="FFFD78"/>
    <a:srgbClr val="FF2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755"/>
    <p:restoredTop sz="94659"/>
  </p:normalViewPr>
  <p:slideViewPr>
    <p:cSldViewPr snapToGrid="0">
      <p:cViewPr varScale="1">
        <p:scale>
          <a:sx n="146" d="100"/>
          <a:sy n="146" d="100"/>
        </p:scale>
        <p:origin x="67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heme" Target="theme/theme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F67D7D-B323-AF7A-3FAC-1D1B48AAD50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960CC13-38AE-FB6E-8FF5-4DB1134AB3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7700C0E-D596-B0BD-7A56-03A96ED916BB}"/>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5" name="Footer Placeholder 4">
            <a:extLst>
              <a:ext uri="{FF2B5EF4-FFF2-40B4-BE49-F238E27FC236}">
                <a16:creationId xmlns:a16="http://schemas.microsoft.com/office/drawing/2014/main" id="{934FB9DB-7546-CCF1-4068-C6AC8C0000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2EFF57-F72C-E312-AB12-860D61D61AEA}"/>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16207914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12CAD6-E315-0F04-DA05-BF1F12E8982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F1C74DC-E585-B175-E3E6-F22F6421DD4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EC416A-5FB9-7395-5DF2-272260B567D4}"/>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5" name="Footer Placeholder 4">
            <a:extLst>
              <a:ext uri="{FF2B5EF4-FFF2-40B4-BE49-F238E27FC236}">
                <a16:creationId xmlns:a16="http://schemas.microsoft.com/office/drawing/2014/main" id="{CE6E2DF6-5DAB-9F30-FFF4-A5D05684C2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F9B1316-C137-D921-BD97-9F156A23B0E3}"/>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21341985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D43AC6-7CBF-F257-1C3F-DDFD52920F9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4996FA6-C3BB-7299-F85C-5099AD35354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23F4929-BE2D-E02A-3474-A02D35B262BA}"/>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5" name="Footer Placeholder 4">
            <a:extLst>
              <a:ext uri="{FF2B5EF4-FFF2-40B4-BE49-F238E27FC236}">
                <a16:creationId xmlns:a16="http://schemas.microsoft.com/office/drawing/2014/main" id="{85DA58F4-A547-CB54-A9F0-576AB8BEE0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7B1824-1583-8162-DA11-B4B11C88D808}"/>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36859890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E9F31-6E19-7BCC-F045-3187BBD09C3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A8B3AC6-99C6-B131-5F9E-26DD30C8780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88966AE-2D2A-2EDF-FEA4-EB5151F4A6E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BA008AA-2544-C1AF-BF62-07B6BD228D73}"/>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6" name="Footer Placeholder 5">
            <a:extLst>
              <a:ext uri="{FF2B5EF4-FFF2-40B4-BE49-F238E27FC236}">
                <a16:creationId xmlns:a16="http://schemas.microsoft.com/office/drawing/2014/main" id="{745B9CC5-B5B0-7607-0A54-83262341299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CBE2AD6-7361-ABD6-531D-BBC984F63275}"/>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3764600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BC707D-2EB7-C130-9478-0541F8B36ED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8F26091-C19E-6C9F-96DA-8DE5492FF3D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30F5433-1DBE-54A5-FC1E-7F0082B128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ED914F2-E245-E184-963F-E845B9F6436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6E26F75-D5D5-BF57-DFCE-BCEFCFDEC39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266A1DC-44B5-621C-147F-58EDE37F17C1}"/>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8" name="Footer Placeholder 7">
            <a:extLst>
              <a:ext uri="{FF2B5EF4-FFF2-40B4-BE49-F238E27FC236}">
                <a16:creationId xmlns:a16="http://schemas.microsoft.com/office/drawing/2014/main" id="{F23DA3F5-C618-5C3D-5BB3-3830577E1AB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F38BA56-1902-F757-617C-5BDFF6952797}"/>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644665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FA6813-90E8-CE99-FB2F-187057F92F9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C1BED43-AC22-0EE2-0803-F94A170D5288}"/>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4" name="Footer Placeholder 3">
            <a:extLst>
              <a:ext uri="{FF2B5EF4-FFF2-40B4-BE49-F238E27FC236}">
                <a16:creationId xmlns:a16="http://schemas.microsoft.com/office/drawing/2014/main" id="{0B94BFC2-76E1-09CA-F221-DE39D4B4798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B703F44-F4A0-FB23-11BA-8CD826227DD5}"/>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25043562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FE50EBD-F4BC-C3FB-975A-6FDD262F9919}"/>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3" name="Footer Placeholder 2">
            <a:extLst>
              <a:ext uri="{FF2B5EF4-FFF2-40B4-BE49-F238E27FC236}">
                <a16:creationId xmlns:a16="http://schemas.microsoft.com/office/drawing/2014/main" id="{AC3A3B75-7C1F-AD33-BA29-9D7BC11C423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B5CC73B-8F0C-AF68-97E2-95A3D4E4AEB2}"/>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12849295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043258-9128-92CC-6E87-15D28C65664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74ABA-DD60-4B93-9548-8B35FE289DA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6EDFD32-99A9-E057-D4D3-BD77E72BC3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56D249-3A70-685E-8227-2EB33C8C4F62}"/>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6" name="Footer Placeholder 5">
            <a:extLst>
              <a:ext uri="{FF2B5EF4-FFF2-40B4-BE49-F238E27FC236}">
                <a16:creationId xmlns:a16="http://schemas.microsoft.com/office/drawing/2014/main" id="{0E4AB829-C5E8-DED2-24A6-E7C4E859DC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DA0D026-59B1-219E-2DD7-2DCDE6D8B781}"/>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17274112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5A25CC-31C5-CEEE-9005-D2C8EA55E78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24FD51C-A79F-1888-87C9-43E3718C340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B23594A-4FE4-24F2-AE25-5C78D52272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A63690B-BAD1-A410-CABC-ADF0CC7AE6D0}"/>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6" name="Footer Placeholder 5">
            <a:extLst>
              <a:ext uri="{FF2B5EF4-FFF2-40B4-BE49-F238E27FC236}">
                <a16:creationId xmlns:a16="http://schemas.microsoft.com/office/drawing/2014/main" id="{94C6DC12-1EDB-1A24-F35F-631C6C2A110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62B474C-B370-FABC-70EE-87D8D0B20C60}"/>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17777687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DEA85-C6BC-E1AC-1D6C-3CAAD46BF33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FFA19E2-2CE6-8020-5B22-9211F54C85C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F9B27D-E902-6D8B-C25D-94428EB42C4C}"/>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5" name="Footer Placeholder 4">
            <a:extLst>
              <a:ext uri="{FF2B5EF4-FFF2-40B4-BE49-F238E27FC236}">
                <a16:creationId xmlns:a16="http://schemas.microsoft.com/office/drawing/2014/main" id="{C66209D3-7A9D-482A-E550-6CA8ED23C0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6A65C3-B9C0-43EF-772C-2E83EF1EAB12}"/>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13212472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D5C3211-1133-ECC9-AD56-2C3F94E5FF8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BF8F5FC-F5A3-9AA5-DC48-FC66CF6A288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7B4FDA-9B7D-0903-6CCE-40B2DEFAE8BB}"/>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5" name="Footer Placeholder 4">
            <a:extLst>
              <a:ext uri="{FF2B5EF4-FFF2-40B4-BE49-F238E27FC236}">
                <a16:creationId xmlns:a16="http://schemas.microsoft.com/office/drawing/2014/main" id="{B846F90B-14BE-5443-92F3-F98C71DC85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2989A1-37D3-E44A-F10C-46FDD510C462}"/>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729274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8FDDB9-7D01-9312-DF76-49FE5D6409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48758BB-603F-BA5A-CEFF-A27F1CD5188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4135994-2F77-264A-BB40-C3ADE7210D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F10614C-E570-B440-B986-8532FC75E6E7}" type="datetimeFigureOut">
              <a:rPr lang="en-US" smtClean="0"/>
              <a:t>8/11/26</a:t>
            </a:fld>
            <a:endParaRPr lang="en-US"/>
          </a:p>
        </p:txBody>
      </p:sp>
      <p:sp>
        <p:nvSpPr>
          <p:cNvPr id="5" name="Footer Placeholder 4">
            <a:extLst>
              <a:ext uri="{FF2B5EF4-FFF2-40B4-BE49-F238E27FC236}">
                <a16:creationId xmlns:a16="http://schemas.microsoft.com/office/drawing/2014/main" id="{F7580363-9D1E-C89F-3443-813444C0A3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D0BAD79-F348-9596-A133-8E710E7761C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E4F60CB-3587-3745-9641-BA4093BF587D}" type="slidenum">
              <a:rPr lang="en-US" smtClean="0"/>
              <a:t>‹#›</a:t>
            </a:fld>
            <a:endParaRPr lang="en-US"/>
          </a:p>
        </p:txBody>
      </p:sp>
    </p:spTree>
    <p:extLst>
      <p:ext uri="{BB962C8B-B14F-4D97-AF65-F5344CB8AC3E}">
        <p14:creationId xmlns:p14="http://schemas.microsoft.com/office/powerpoint/2010/main" val="24550744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slideLayout" Target="../slideLayouts/slideLayout2.xml"/><Relationship Id="rId1" Type="http://schemas.openxmlformats.org/officeDocument/2006/relationships/themeOverride" Target="../theme/themeOverride7.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8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9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 Id="rId5" Type="http://schemas.openxmlformats.org/officeDocument/2006/relationships/image" Target="../media/image60.png"/><Relationship Id="rId4" Type="http://schemas.openxmlformats.org/officeDocument/2006/relationships/image" Target="../media/image59.png"/></Relationships>
</file>

<file path=ppt/slides/_rels/slide9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9.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10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 Id="rId4" Type="http://schemas.openxmlformats.org/officeDocument/2006/relationships/image" Target="../media/image69.png"/></Relationships>
</file>

<file path=ppt/slides/_rels/slide10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1.xml"/></Relationships>
</file>

<file path=ppt/slides/_rels/slide10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2.xml"/></Relationships>
</file>

<file path=ppt/slides/_rels/slide10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C7CF124-6500-4969-1F48-988B8F689079}"/>
              </a:ext>
            </a:extLst>
          </p:cNvPr>
          <p:cNvSpPr>
            <a:spLocks noGrp="1"/>
          </p:cNvSpPr>
          <p:nvPr>
            <p:ph type="title"/>
          </p:nvPr>
        </p:nvSpPr>
        <p:spPr/>
        <p:txBody>
          <a:bodyPr/>
          <a:lstStyle/>
          <a:p>
            <a:r>
              <a:rPr lang="en-US" dirty="0"/>
              <a:t>Predictive Maintenance + </a:t>
            </a:r>
            <a:r>
              <a:rPr lang="en-US" dirty="0" err="1"/>
              <a:t>MLOps</a:t>
            </a:r>
            <a:endParaRPr lang="en-US" dirty="0"/>
          </a:p>
        </p:txBody>
      </p:sp>
      <p:sp>
        <p:nvSpPr>
          <p:cNvPr id="5" name="Content Placeholder 4">
            <a:extLst>
              <a:ext uri="{FF2B5EF4-FFF2-40B4-BE49-F238E27FC236}">
                <a16:creationId xmlns:a16="http://schemas.microsoft.com/office/drawing/2014/main" id="{D953C9C2-FDBA-01EF-4FFB-4A0A7A33EF9E}"/>
              </a:ext>
            </a:extLst>
          </p:cNvPr>
          <p:cNvSpPr>
            <a:spLocks noGrp="1"/>
          </p:cNvSpPr>
          <p:nvPr>
            <p:ph idx="1"/>
          </p:nvPr>
        </p:nvSpPr>
        <p:spPr/>
        <p:txBody>
          <a:bodyPr/>
          <a:lstStyle/>
          <a:p>
            <a:r>
              <a:rPr lang="en-US" dirty="0"/>
              <a:t>Part 1: ML Foundations and Baseline System</a:t>
            </a:r>
          </a:p>
          <a:p>
            <a:r>
              <a:rPr lang="en-US" dirty="0"/>
              <a:t>Part 2: Shippable MVP</a:t>
            </a:r>
          </a:p>
          <a:p>
            <a:r>
              <a:rPr lang="en-US" dirty="0"/>
              <a:t>Part 3: Model Improvement and Production Thinking</a:t>
            </a:r>
          </a:p>
          <a:p>
            <a:r>
              <a:rPr lang="en-US" dirty="0"/>
              <a:t>Part 4: Portfolio Presentation and Final Polish</a:t>
            </a:r>
          </a:p>
        </p:txBody>
      </p:sp>
    </p:spTree>
    <p:extLst>
      <p:ext uri="{BB962C8B-B14F-4D97-AF65-F5344CB8AC3E}">
        <p14:creationId xmlns:p14="http://schemas.microsoft.com/office/powerpoint/2010/main" val="1748415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182CF-7967-7958-7992-78FAE63C6436}"/>
              </a:ext>
            </a:extLst>
          </p:cNvPr>
          <p:cNvSpPr>
            <a:spLocks noGrp="1"/>
          </p:cNvSpPr>
          <p:nvPr>
            <p:ph type="title"/>
          </p:nvPr>
        </p:nvSpPr>
        <p:spPr/>
        <p:txBody>
          <a:bodyPr/>
          <a:lstStyle/>
          <a:p>
            <a:r>
              <a:rPr lang="en-US" dirty="0"/>
              <a:t>Part 1: ML Foundations and Baseline System</a:t>
            </a:r>
          </a:p>
        </p:txBody>
      </p:sp>
      <p:sp>
        <p:nvSpPr>
          <p:cNvPr id="3" name="Content Placeholder 2">
            <a:extLst>
              <a:ext uri="{FF2B5EF4-FFF2-40B4-BE49-F238E27FC236}">
                <a16:creationId xmlns:a16="http://schemas.microsoft.com/office/drawing/2014/main" id="{A5979F1E-7E0A-77DE-B158-64B33EF1EC95}"/>
              </a:ext>
            </a:extLst>
          </p:cNvPr>
          <p:cNvSpPr>
            <a:spLocks noGrp="1"/>
          </p:cNvSpPr>
          <p:nvPr>
            <p:ph idx="1"/>
          </p:nvPr>
        </p:nvSpPr>
        <p:spPr/>
        <p:txBody>
          <a:bodyPr/>
          <a:lstStyle/>
          <a:p>
            <a:r>
              <a:rPr lang="en-US" dirty="0"/>
              <a:t>Phase 1.1: Project Framing and Problem Definition</a:t>
            </a:r>
          </a:p>
          <a:p>
            <a:pPr lvl="1"/>
            <a:r>
              <a:rPr lang="en-US" dirty="0"/>
              <a:t>Define the prediction problem</a:t>
            </a:r>
          </a:p>
          <a:p>
            <a:pPr lvl="1"/>
            <a:r>
              <a:rPr lang="en-US" dirty="0"/>
              <a:t>Define the prediction unit</a:t>
            </a:r>
          </a:p>
          <a:p>
            <a:pPr lvl="1"/>
            <a:r>
              <a:rPr lang="en-US" dirty="0"/>
              <a:t>Define the target</a:t>
            </a:r>
          </a:p>
          <a:p>
            <a:pPr lvl="1"/>
            <a:r>
              <a:rPr lang="en-US" dirty="0"/>
              <a:t>Define success metrics</a:t>
            </a:r>
          </a:p>
          <a:p>
            <a:pPr lvl="1"/>
            <a:r>
              <a:rPr lang="en-US" dirty="0"/>
              <a:t>Identify practical constraints and leakage risks</a:t>
            </a:r>
          </a:p>
        </p:txBody>
      </p:sp>
    </p:spTree>
    <p:extLst>
      <p:ext uri="{BB962C8B-B14F-4D97-AF65-F5344CB8AC3E}">
        <p14:creationId xmlns:p14="http://schemas.microsoft.com/office/powerpoint/2010/main" val="30613196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7E1D0-B81B-9964-625B-5DC3C4CF5EFD}"/>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390A8860-FD28-5320-90A2-92574C382F2D}"/>
              </a:ext>
            </a:extLst>
          </p:cNvPr>
          <p:cNvSpPr>
            <a:spLocks noGrp="1"/>
          </p:cNvSpPr>
          <p:nvPr>
            <p:ph idx="1"/>
          </p:nvPr>
        </p:nvSpPr>
        <p:spPr/>
        <p:txBody>
          <a:bodyPr/>
          <a:lstStyle/>
          <a:p>
            <a:r>
              <a:rPr lang="en-US" b="1" dirty="0"/>
              <a:t>Question #1:</a:t>
            </a:r>
            <a:r>
              <a:rPr lang="en-US" dirty="0"/>
              <a:t> What problem is this project solving, and why did you frame it as remaining-useful-life regression rather than failure classification? </a:t>
            </a:r>
          </a:p>
        </p:txBody>
      </p:sp>
    </p:spTree>
    <p:extLst>
      <p:ext uri="{BB962C8B-B14F-4D97-AF65-F5344CB8AC3E}">
        <p14:creationId xmlns:p14="http://schemas.microsoft.com/office/powerpoint/2010/main" val="4253726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C358E-78FF-A961-D5F7-9C879AF696E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000AE3DD-D5E8-695F-6491-7BF2FD0AAF2A}"/>
              </a:ext>
            </a:extLst>
          </p:cNvPr>
          <p:cNvPicPr>
            <a:picLocks noChangeAspect="1"/>
          </p:cNvPicPr>
          <p:nvPr/>
        </p:nvPicPr>
        <p:blipFill>
          <a:blip r:embed="rId2"/>
          <a:stretch>
            <a:fillRect/>
          </a:stretch>
        </p:blipFill>
        <p:spPr>
          <a:xfrm>
            <a:off x="531628" y="925031"/>
            <a:ext cx="11030338" cy="4157331"/>
          </a:xfrm>
          <a:prstGeom prst="rect">
            <a:avLst/>
          </a:prstGeom>
        </p:spPr>
      </p:pic>
    </p:spTree>
    <p:extLst>
      <p:ext uri="{BB962C8B-B14F-4D97-AF65-F5344CB8AC3E}">
        <p14:creationId xmlns:p14="http://schemas.microsoft.com/office/powerpoint/2010/main" val="38595380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a:extLst>
            <a:ext uri="{FF2B5EF4-FFF2-40B4-BE49-F238E27FC236}">
              <a16:creationId xmlns:a16="http://schemas.microsoft.com/office/drawing/2014/main" id="{87F8404B-39CD-0433-BCD2-F274FE3D0B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70A1B7-8AAB-3E8E-EE0E-6C56ED0AF4DB}"/>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A5C2C4E8-15CB-2006-9F97-A27745BB5F56}"/>
              </a:ext>
            </a:extLst>
          </p:cNvPr>
          <p:cNvSpPr>
            <a:spLocks noGrp="1"/>
          </p:cNvSpPr>
          <p:nvPr>
            <p:ph idx="1"/>
          </p:nvPr>
        </p:nvSpPr>
        <p:spPr/>
        <p:txBody>
          <a:bodyPr>
            <a:normAutofit/>
          </a:bodyPr>
          <a:lstStyle/>
          <a:p>
            <a:pPr marL="0" indent="0">
              <a:buNone/>
            </a:pPr>
            <a:r>
              <a:rPr lang="en-US" sz="2400" b="1" dirty="0"/>
              <a:t>Answer #1:</a:t>
            </a:r>
            <a:r>
              <a:rPr lang="en-US" sz="2400" dirty="0"/>
              <a:t> This project is solving the problem of predicting RUL given an engine’s current cycle and historical sensor data. I chose to frame it as predicting RUL instead of failure classification because the goal could be described as “time remaining until failure.” Time is a continuous rather than discreet variable, so this problem lends itself to regression rather than classification. Framing this as a regression problem allows for precise predictions about how far away failure is, rather than just saying “healthy” or “kind of healthy” or “close to failure.” It’s worth noting that classification could still be useful in this situation, such as discerning that there are less than 30 cycles until failure and classifying an engine as “in need of preventative maintenance.” </a:t>
            </a:r>
          </a:p>
        </p:txBody>
      </p:sp>
    </p:spTree>
    <p:extLst>
      <p:ext uri="{BB962C8B-B14F-4D97-AF65-F5344CB8AC3E}">
        <p14:creationId xmlns:p14="http://schemas.microsoft.com/office/powerpoint/2010/main" val="2830368409"/>
      </p:ext>
    </p:extLst>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7B467C7F-A7C8-604C-4ED5-FD731C2353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F49469-1532-EFB2-1C54-9F1523088B46}"/>
              </a:ext>
            </a:extLst>
          </p:cNvPr>
          <p:cNvSpPr>
            <a:spLocks noGrp="1"/>
          </p:cNvSpPr>
          <p:nvPr>
            <p:ph type="title"/>
          </p:nvPr>
        </p:nvSpPr>
        <p:spPr/>
        <p:txBody>
          <a:bodyPr>
            <a:normAutofit/>
          </a:bodyPr>
          <a:lstStyle/>
          <a:p>
            <a:r>
              <a:rPr lang="en-US" sz="2800" dirty="0"/>
              <a:t>What problem is this project solving, and why did you frame it as remaining-useful-life regression rather than failure classification?</a:t>
            </a:r>
          </a:p>
        </p:txBody>
      </p:sp>
      <p:sp>
        <p:nvSpPr>
          <p:cNvPr id="3" name="Content Placeholder 2">
            <a:extLst>
              <a:ext uri="{FF2B5EF4-FFF2-40B4-BE49-F238E27FC236}">
                <a16:creationId xmlns:a16="http://schemas.microsoft.com/office/drawing/2014/main" id="{6EBAB54E-4E6F-5F6F-8CAF-8D6AF3691D40}"/>
              </a:ext>
            </a:extLst>
          </p:cNvPr>
          <p:cNvSpPr>
            <a:spLocks noGrp="1"/>
          </p:cNvSpPr>
          <p:nvPr>
            <p:ph idx="1"/>
          </p:nvPr>
        </p:nvSpPr>
        <p:spPr/>
        <p:txBody>
          <a:bodyPr>
            <a:normAutofit/>
          </a:bodyPr>
          <a:lstStyle/>
          <a:p>
            <a:pPr marL="0" indent="0">
              <a:buNone/>
            </a:pPr>
            <a:r>
              <a:rPr lang="en-US" sz="1800" dirty="0"/>
              <a:t>This project predicts an engine’s remaining useful life from its current cycle and available sensor history. The purpose is to support predictive maintenance by estimating how much operating life remains before failure, which can help avoid both unexpected breakdowns and unnecessarily early maintenance. </a:t>
            </a:r>
          </a:p>
          <a:p>
            <a:pPr marL="0" indent="0">
              <a:buNone/>
            </a:pPr>
            <a:endParaRPr lang="en-US" sz="1800" dirty="0"/>
          </a:p>
          <a:p>
            <a:pPr marL="0" indent="0">
              <a:buNone/>
            </a:pPr>
            <a:r>
              <a:rPr lang="en-US" sz="1800" dirty="0"/>
              <a:t>I formulated it as a regression problem because RUL is a numeric, ordered quantity. Although the C-MAPPS target is measured in whole cycles, the distance between predictions matters: predicting 10 remaining cycles is meaningfully different from predicting 80. Regression preserves that information and provide a more granular estimate than assigning the engine to broad categories such as healthy, warning, or critical. </a:t>
            </a:r>
          </a:p>
          <a:p>
            <a:pPr marL="0" indent="0">
              <a:buNone/>
            </a:pPr>
            <a:endParaRPr lang="en-US" sz="1800" dirty="0"/>
          </a:p>
          <a:p>
            <a:pPr marL="0" indent="0">
              <a:buNone/>
            </a:pPr>
            <a:r>
              <a:rPr lang="en-US" sz="1800" dirty="0"/>
              <a:t>Classification could still be useful as a downstream decision layer. For example, the predicted RUL could be converted into a maintenance alert when it falls below 30 cycles. But regression gives the system more flexibility because different users can apply different maintenance thresholds to the same prediction. </a:t>
            </a:r>
          </a:p>
        </p:txBody>
      </p:sp>
    </p:spTree>
    <p:extLst>
      <p:ext uri="{BB962C8B-B14F-4D97-AF65-F5344CB8AC3E}">
        <p14:creationId xmlns:p14="http://schemas.microsoft.com/office/powerpoint/2010/main" val="9033572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6839CF08-9803-9049-42D3-5B51C9ED6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2D0BBF-96F3-B3C8-7576-0D63F1FD14F2}"/>
              </a:ext>
            </a:extLst>
          </p:cNvPr>
          <p:cNvSpPr>
            <a:spLocks noGrp="1"/>
          </p:cNvSpPr>
          <p:nvPr>
            <p:ph type="title"/>
          </p:nvPr>
        </p:nvSpPr>
        <p:spPr/>
        <p:txBody>
          <a:bodyPr>
            <a:noAutofit/>
          </a:bodyPr>
          <a:lstStyle/>
          <a:p>
            <a:r>
              <a:rPr lang="en-US" sz="2800" dirty="0"/>
              <a:t>What problem is this project solving, and why did you frame it as remaining-useful-life regression rather than failure classification?</a:t>
            </a:r>
          </a:p>
        </p:txBody>
      </p:sp>
      <p:pic>
        <p:nvPicPr>
          <p:cNvPr id="4" name="Picture 3">
            <a:extLst>
              <a:ext uri="{FF2B5EF4-FFF2-40B4-BE49-F238E27FC236}">
                <a16:creationId xmlns:a16="http://schemas.microsoft.com/office/drawing/2014/main" id="{6F493F2A-1ED5-A5FB-E163-7189E831D8BE}"/>
              </a:ext>
            </a:extLst>
          </p:cNvPr>
          <p:cNvPicPr>
            <a:picLocks noChangeAspect="1"/>
          </p:cNvPicPr>
          <p:nvPr/>
        </p:nvPicPr>
        <p:blipFill>
          <a:blip r:embed="rId2"/>
          <a:stretch>
            <a:fillRect/>
          </a:stretch>
        </p:blipFill>
        <p:spPr>
          <a:xfrm>
            <a:off x="2201825" y="2109677"/>
            <a:ext cx="7086600" cy="2362200"/>
          </a:xfrm>
          <a:prstGeom prst="rect">
            <a:avLst/>
          </a:prstGeom>
        </p:spPr>
      </p:pic>
    </p:spTree>
    <p:extLst>
      <p:ext uri="{BB962C8B-B14F-4D97-AF65-F5344CB8AC3E}">
        <p14:creationId xmlns:p14="http://schemas.microsoft.com/office/powerpoint/2010/main" val="8466828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DC9097-CB39-E358-98C6-8DE441F913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AC03F6-2172-EB9D-1A8F-9FC24D47A876}"/>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BE9ED61F-EF68-827F-CB33-04AC54F0CE71}"/>
              </a:ext>
            </a:extLst>
          </p:cNvPr>
          <p:cNvSpPr>
            <a:spLocks noGrp="1"/>
          </p:cNvSpPr>
          <p:nvPr>
            <p:ph idx="1"/>
          </p:nvPr>
        </p:nvSpPr>
        <p:spPr/>
        <p:txBody>
          <a:bodyPr/>
          <a:lstStyle/>
          <a:p>
            <a:r>
              <a:rPr lang="en-US" dirty="0"/>
              <a:t>Question #2: What does one row in the training data represent, and what information should the model be allowed to use when making a prediction? </a:t>
            </a:r>
          </a:p>
        </p:txBody>
      </p:sp>
    </p:spTree>
    <p:extLst>
      <p:ext uri="{BB962C8B-B14F-4D97-AF65-F5344CB8AC3E}">
        <p14:creationId xmlns:p14="http://schemas.microsoft.com/office/powerpoint/2010/main" val="5889225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B90F1-E0F3-9847-D4C8-0DDAAA4CC255}"/>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2C4ED781-F151-D003-9495-56985E447D51}"/>
              </a:ext>
            </a:extLst>
          </p:cNvPr>
          <p:cNvPicPr>
            <a:picLocks noChangeAspect="1"/>
          </p:cNvPicPr>
          <p:nvPr/>
        </p:nvPicPr>
        <p:blipFill>
          <a:blip r:embed="rId2"/>
          <a:stretch>
            <a:fillRect/>
          </a:stretch>
        </p:blipFill>
        <p:spPr>
          <a:xfrm>
            <a:off x="318976" y="802101"/>
            <a:ext cx="11095098" cy="3408391"/>
          </a:xfrm>
          <a:prstGeom prst="rect">
            <a:avLst/>
          </a:prstGeom>
        </p:spPr>
      </p:pic>
    </p:spTree>
    <p:extLst>
      <p:ext uri="{BB962C8B-B14F-4D97-AF65-F5344CB8AC3E}">
        <p14:creationId xmlns:p14="http://schemas.microsoft.com/office/powerpoint/2010/main" val="3677280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21052-2A89-6637-3AEC-DC705979C6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979861-D355-9AA8-58C6-C0DB0C1BAB5A}"/>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D53FBA8B-1D48-A8B8-8294-B0EABB69ED39}"/>
              </a:ext>
            </a:extLst>
          </p:cNvPr>
          <p:cNvSpPr>
            <a:spLocks noGrp="1"/>
          </p:cNvSpPr>
          <p:nvPr>
            <p:ph idx="1"/>
          </p:nvPr>
        </p:nvSpPr>
        <p:spPr/>
        <p:txBody>
          <a:bodyPr/>
          <a:lstStyle/>
          <a:p>
            <a:pPr marL="0" indent="0">
              <a:buNone/>
            </a:pPr>
            <a:r>
              <a:rPr lang="en-US" b="1" dirty="0"/>
              <a:t>Answer #2:</a:t>
            </a:r>
            <a:r>
              <a:rPr lang="en-US" dirty="0"/>
              <a:t> One row in the training data represents all of an engine’s available information at one operating cycle. This includes cycle number, sensor readings, and other bits of data. Rows associated with the same engine form a time-ordered sequence. This leads to being able map inputs in the form of information available at the current cycle or earlier cycles to an output in the form of RUL at that particular cycle. Future measurements and eventual engine lifetime are assumed to be unavailable at inference time. </a:t>
            </a:r>
          </a:p>
        </p:txBody>
      </p:sp>
    </p:spTree>
    <p:extLst>
      <p:ext uri="{BB962C8B-B14F-4D97-AF65-F5344CB8AC3E}">
        <p14:creationId xmlns:p14="http://schemas.microsoft.com/office/powerpoint/2010/main" val="35561016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B797493D-2019-9E48-3BC2-EC0C082853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2030D2-EFF3-40BE-2D1F-633034B37E30}"/>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What does one row in the training data represent, and what information should the model be allowed to use when making a prediction?</a:t>
            </a:r>
            <a:endParaRPr lang="en-US" dirty="0"/>
          </a:p>
        </p:txBody>
      </p:sp>
      <p:sp>
        <p:nvSpPr>
          <p:cNvPr id="3" name="Content Placeholder 2">
            <a:extLst>
              <a:ext uri="{FF2B5EF4-FFF2-40B4-BE49-F238E27FC236}">
                <a16:creationId xmlns:a16="http://schemas.microsoft.com/office/drawing/2014/main" id="{5BE7025D-70C2-951F-C778-0D65A1845D5A}"/>
              </a:ext>
            </a:extLst>
          </p:cNvPr>
          <p:cNvSpPr>
            <a:spLocks noGrp="1"/>
          </p:cNvSpPr>
          <p:nvPr>
            <p:ph idx="1"/>
          </p:nvPr>
        </p:nvSpPr>
        <p:spPr/>
        <p:txBody>
          <a:bodyPr>
            <a:normAutofit/>
          </a:bodyPr>
          <a:lstStyle/>
          <a:p>
            <a:pPr marL="0" indent="0">
              <a:buNone/>
            </a:pPr>
            <a:r>
              <a:rPr lang="en-US" sz="2000" dirty="0"/>
              <a:t>One prediction is associated with one engine at one operating cycle. The raw row contains that engine’s cycle number, operating settings, and sensor measurements at that moment. Rows belonging to the same engine form a time-ordered sequence. </a:t>
            </a:r>
          </a:p>
          <a:p>
            <a:pPr marL="0" indent="0">
              <a:buNone/>
            </a:pPr>
            <a:endParaRPr lang="en-US" sz="2000" dirty="0"/>
          </a:p>
          <a:p>
            <a:pPr marL="0" indent="0">
              <a:buNone/>
            </a:pPr>
            <a:r>
              <a:rPr lang="en-US" sz="2000" dirty="0"/>
              <a:t>The model is allowed to use information available at the current cycle and, when temporal features are included, measurements from earlier cycles for that same engine. For example, it could use lagged sensor values, trailing rolling statistics, or trends calculated only from cycles up through the prediction point. </a:t>
            </a:r>
          </a:p>
          <a:p>
            <a:pPr marL="0" indent="0">
              <a:buNone/>
            </a:pPr>
            <a:endParaRPr lang="en-US" sz="2000" dirty="0"/>
          </a:p>
          <a:p>
            <a:pPr marL="0" indent="0">
              <a:buNone/>
            </a:pPr>
            <a:r>
              <a:rPr lang="en-US" sz="2000" dirty="0"/>
              <a:t>The target is the RUL at that engine-cycle. Future sensor measurements, the engine’s eventual final cycle, and the true RUL cannot be used as input features because none would be available during real inference. The engine identifier may be use for grouping and sequence management, but not as a meaningful predictive feature. </a:t>
            </a:r>
          </a:p>
        </p:txBody>
      </p:sp>
    </p:spTree>
    <p:extLst>
      <p:ext uri="{BB962C8B-B14F-4D97-AF65-F5344CB8AC3E}">
        <p14:creationId xmlns:p14="http://schemas.microsoft.com/office/powerpoint/2010/main" val="444974024"/>
      </p:ext>
    </p:extLst>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D95D60AA-E3DA-9526-4E2E-73348D57EE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8F1008-BB1D-A02B-4310-B9153DC70791}"/>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What does one row in the training data represent, and what information should the model be allowed to use when making a prediction?</a:t>
            </a:r>
            <a:endParaRPr lang="en-US" dirty="0"/>
          </a:p>
        </p:txBody>
      </p:sp>
      <p:sp>
        <p:nvSpPr>
          <p:cNvPr id="3" name="Content Placeholder 2">
            <a:extLst>
              <a:ext uri="{FF2B5EF4-FFF2-40B4-BE49-F238E27FC236}">
                <a16:creationId xmlns:a16="http://schemas.microsoft.com/office/drawing/2014/main" id="{D65FB2B4-AFC8-490C-2721-AB39039737BD}"/>
              </a:ext>
            </a:extLst>
          </p:cNvPr>
          <p:cNvSpPr>
            <a:spLocks noGrp="1"/>
          </p:cNvSpPr>
          <p:nvPr>
            <p:ph idx="1"/>
          </p:nvPr>
        </p:nvSpPr>
        <p:spPr/>
        <p:txBody>
          <a:bodyPr>
            <a:normAutofit/>
          </a:bodyPr>
          <a:lstStyle/>
          <a:p>
            <a:pPr marL="0" indent="0">
              <a:buNone/>
            </a:pPr>
            <a:r>
              <a:rPr lang="en-US" sz="2400" dirty="0"/>
              <a:t>The prediction unit is an engine at cycle </a:t>
            </a:r>
            <a:r>
              <a:rPr lang="en-US" sz="2400" i="1" dirty="0"/>
              <a:t>t</a:t>
            </a:r>
            <a:r>
              <a:rPr lang="en-US" sz="2400" dirty="0"/>
              <a:t>. The model may use current measurements and casual summaries of that engine’s history through cycle </a:t>
            </a:r>
            <a:r>
              <a:rPr lang="en-US" sz="2400" i="1" dirty="0"/>
              <a:t>t</a:t>
            </a:r>
            <a:r>
              <a:rPr lang="en-US" sz="2400" dirty="0"/>
              <a:t>, but nothing from later cycles or the engine’s eventual lifetime. </a:t>
            </a:r>
          </a:p>
        </p:txBody>
      </p:sp>
    </p:spTree>
    <p:extLst>
      <p:ext uri="{BB962C8B-B14F-4D97-AF65-F5344CB8AC3E}">
        <p14:creationId xmlns:p14="http://schemas.microsoft.com/office/powerpoint/2010/main" val="2737357822"/>
      </p:ext>
    </p:extLst>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4B8C5-82B5-6262-0AB7-BD0ED71EBD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A98D61-2414-F61D-69A1-50B605EA9D61}"/>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5D867079-B0BB-DAD2-AD2F-983F54418E38}"/>
              </a:ext>
            </a:extLst>
          </p:cNvPr>
          <p:cNvSpPr>
            <a:spLocks noGrp="1"/>
          </p:cNvSpPr>
          <p:nvPr>
            <p:ph idx="1"/>
          </p:nvPr>
        </p:nvSpPr>
        <p:spPr/>
        <p:txBody>
          <a:bodyPr/>
          <a:lstStyle/>
          <a:p>
            <a:r>
              <a:rPr lang="en-US" dirty="0"/>
              <a:t>Question #3: How could an RUL prediction support a real maintenance decision, and what are the consequences of overestimating versus underestimating RUL?</a:t>
            </a:r>
          </a:p>
        </p:txBody>
      </p:sp>
    </p:spTree>
    <p:extLst>
      <p:ext uri="{BB962C8B-B14F-4D97-AF65-F5344CB8AC3E}">
        <p14:creationId xmlns:p14="http://schemas.microsoft.com/office/powerpoint/2010/main" val="34724896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1C7921-DABF-651E-7C6D-EE3155843E53}"/>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FCE41830-1FEE-B169-0CC1-79E73D67BCA0}"/>
              </a:ext>
            </a:extLst>
          </p:cNvPr>
          <p:cNvPicPr>
            <a:picLocks noChangeAspect="1"/>
          </p:cNvPicPr>
          <p:nvPr/>
        </p:nvPicPr>
        <p:blipFill>
          <a:blip r:embed="rId2"/>
          <a:stretch>
            <a:fillRect/>
          </a:stretch>
        </p:blipFill>
        <p:spPr>
          <a:xfrm>
            <a:off x="627017" y="663041"/>
            <a:ext cx="9083040" cy="5016985"/>
          </a:xfrm>
          <a:prstGeom prst="rect">
            <a:avLst/>
          </a:prstGeom>
        </p:spPr>
      </p:pic>
    </p:spTree>
    <p:extLst>
      <p:ext uri="{BB962C8B-B14F-4D97-AF65-F5344CB8AC3E}">
        <p14:creationId xmlns:p14="http://schemas.microsoft.com/office/powerpoint/2010/main" val="31617028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E3731-811A-6528-2C37-76CBC134CA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19BBAA-6FD1-082B-B63D-8F420D4B9A57}"/>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EDD81AE6-30AF-F1BE-9622-488CC440B271}"/>
              </a:ext>
            </a:extLst>
          </p:cNvPr>
          <p:cNvSpPr>
            <a:spLocks noGrp="1"/>
          </p:cNvSpPr>
          <p:nvPr>
            <p:ph idx="1"/>
          </p:nvPr>
        </p:nvSpPr>
        <p:spPr/>
        <p:txBody>
          <a:bodyPr>
            <a:normAutofit/>
          </a:bodyPr>
          <a:lstStyle/>
          <a:p>
            <a:pPr marL="0" indent="0">
              <a:buNone/>
            </a:pPr>
            <a:r>
              <a:rPr lang="en-US" sz="2400" b="1" dirty="0"/>
              <a:t>Answer #3: </a:t>
            </a:r>
            <a:r>
              <a:rPr lang="en-US" sz="2400" dirty="0"/>
              <a:t>Upon obtaining an RUL estimate, various decisions relating to maintenance decisions can be made. If RUL is found to be very high, then maintenance can be delayed. If RUL is found to be very low, then maintenance must happen soon. When a group of RUL predictions is made, then maintenance scheduling can be done, inspection priorities can be decided, and spare parts planning can be done. All this aids in the process of reducing costs and decreasing the amount of unexpected downtime. </a:t>
            </a:r>
          </a:p>
          <a:p>
            <a:pPr marL="0" indent="0">
              <a:buNone/>
            </a:pPr>
            <a:endParaRPr lang="en-US" sz="2400" dirty="0"/>
          </a:p>
          <a:p>
            <a:pPr marL="0" indent="0">
              <a:buNone/>
            </a:pPr>
            <a:r>
              <a:rPr lang="en-US" sz="2400" dirty="0"/>
              <a:t>As for the consequences of bad predictions, overestimating RUL can result in unexpected failures, and thereby more costly repairs. Meanwhile, underestimating RUL can result in unnecessary maintenance activities. From this we can infer than overestimating RUL would be more costly. </a:t>
            </a:r>
            <a:endParaRPr lang="en-US" sz="2400" b="1" dirty="0"/>
          </a:p>
        </p:txBody>
      </p:sp>
    </p:spTree>
    <p:extLst>
      <p:ext uri="{BB962C8B-B14F-4D97-AF65-F5344CB8AC3E}">
        <p14:creationId xmlns:p14="http://schemas.microsoft.com/office/powerpoint/2010/main" val="6585813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5583AC67-D776-610A-7433-27227AF801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1D8CE3-7B5A-A663-0E9D-44D48CB49F46}"/>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How could an RUL prediction support a real maintenance decision, and what are the consequences of overestimating versus underestimating RUL?</a:t>
            </a:r>
            <a:endParaRPr lang="en-US" dirty="0"/>
          </a:p>
        </p:txBody>
      </p:sp>
      <p:sp>
        <p:nvSpPr>
          <p:cNvPr id="3" name="Content Placeholder 2">
            <a:extLst>
              <a:ext uri="{FF2B5EF4-FFF2-40B4-BE49-F238E27FC236}">
                <a16:creationId xmlns:a16="http://schemas.microsoft.com/office/drawing/2014/main" id="{D96C7049-81CE-5C54-EC11-98E16AD9B004}"/>
              </a:ext>
            </a:extLst>
          </p:cNvPr>
          <p:cNvSpPr>
            <a:spLocks noGrp="1"/>
          </p:cNvSpPr>
          <p:nvPr>
            <p:ph idx="1"/>
          </p:nvPr>
        </p:nvSpPr>
        <p:spPr/>
        <p:txBody>
          <a:bodyPr>
            <a:normAutofit lnSpcReduction="10000"/>
          </a:bodyPr>
          <a:lstStyle/>
          <a:p>
            <a:pPr marL="0" indent="0">
              <a:buNone/>
            </a:pPr>
            <a:r>
              <a:rPr lang="en-US" sz="2000" dirty="0"/>
              <a:t>An RUL estimate can support several maintenance decisions. At the individual engine level, a low predicted RUL could trigger inspection, increased monitoring, or scheduled maintenance. Meanwhile, a high predicted RUL may justify continuing operation. Across a fleet, predictions can help prioritize inspections, schedule maintenance windows, allocate technicians, and plan spare parts inventory. The overall value is reducing unexpected downtime while avoiding unnecessarily early component replacement. </a:t>
            </a:r>
          </a:p>
          <a:p>
            <a:pPr marL="0" indent="0">
              <a:buNone/>
            </a:pPr>
            <a:endParaRPr lang="en-US" sz="2000" dirty="0"/>
          </a:p>
          <a:p>
            <a:pPr marL="0" indent="0">
              <a:buNone/>
            </a:pPr>
            <a:r>
              <a:rPr lang="en-US" sz="2000" dirty="0"/>
              <a:t>The prediction errors are symmetric. If the model overestimates RUL, the organization may delay maintenance too long, potentially causing an unexpected failure, emergency repair, secondary damage, or safety risk. If it underestimates RUL, maintenance may happen prematurely, wasting useful component life and creating unnecessary labor and downtime. </a:t>
            </a:r>
          </a:p>
          <a:p>
            <a:pPr marL="0" indent="0">
              <a:buNone/>
            </a:pPr>
            <a:endParaRPr lang="en-US" sz="2000" dirty="0"/>
          </a:p>
          <a:p>
            <a:pPr marL="0" indent="0">
              <a:buNone/>
            </a:pPr>
            <a:r>
              <a:rPr lang="en-US" sz="2000" dirty="0"/>
              <a:t>In a safety-critical application, overestimation would often be treated as the more serious error, although the exact cost balance should be defined with domain stakeholders. The asymmetry could also influence the evaluation metric and maintenance threshold. </a:t>
            </a:r>
          </a:p>
        </p:txBody>
      </p:sp>
    </p:spTree>
    <p:extLst>
      <p:ext uri="{BB962C8B-B14F-4D97-AF65-F5344CB8AC3E}">
        <p14:creationId xmlns:p14="http://schemas.microsoft.com/office/powerpoint/2010/main" val="29529233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FFE89EF8-5135-21F6-6908-0BB630A412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400395-8502-07C6-098F-6276114B1F36}"/>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How could an RUL prediction support a real maintenance decision, and what are the consequences of overestimating versus underestimating RUL?</a:t>
            </a:r>
            <a:endParaRPr lang="en-US" dirty="0"/>
          </a:p>
        </p:txBody>
      </p:sp>
      <p:pic>
        <p:nvPicPr>
          <p:cNvPr id="4" name="Picture 3">
            <a:extLst>
              <a:ext uri="{FF2B5EF4-FFF2-40B4-BE49-F238E27FC236}">
                <a16:creationId xmlns:a16="http://schemas.microsoft.com/office/drawing/2014/main" id="{FBF0DF50-0309-68DC-A0E0-EFCEB0187182}"/>
              </a:ext>
            </a:extLst>
          </p:cNvPr>
          <p:cNvPicPr>
            <a:picLocks noChangeAspect="1"/>
          </p:cNvPicPr>
          <p:nvPr/>
        </p:nvPicPr>
        <p:blipFill>
          <a:blip r:embed="rId2"/>
          <a:stretch>
            <a:fillRect/>
          </a:stretch>
        </p:blipFill>
        <p:spPr>
          <a:xfrm>
            <a:off x="2209800" y="1962978"/>
            <a:ext cx="7772400" cy="2932043"/>
          </a:xfrm>
          <a:prstGeom prst="rect">
            <a:avLst/>
          </a:prstGeom>
        </p:spPr>
      </p:pic>
    </p:spTree>
    <p:extLst>
      <p:ext uri="{BB962C8B-B14F-4D97-AF65-F5344CB8AC3E}">
        <p14:creationId xmlns:p14="http://schemas.microsoft.com/office/powerpoint/2010/main" val="10985478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41D55-847E-5468-F15F-161C206A1C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D85E04-E592-0B37-FF7C-A8E128958071}"/>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F98FE3BC-11E6-96D1-D9C0-C14134E5F8D5}"/>
              </a:ext>
            </a:extLst>
          </p:cNvPr>
          <p:cNvSpPr>
            <a:spLocks noGrp="1"/>
          </p:cNvSpPr>
          <p:nvPr>
            <p:ph idx="1"/>
          </p:nvPr>
        </p:nvSpPr>
        <p:spPr/>
        <p:txBody>
          <a:bodyPr/>
          <a:lstStyle/>
          <a:p>
            <a:r>
              <a:rPr lang="en-US" dirty="0"/>
              <a:t>Question #4: How did you define success for this project, both as a machine-learning system and as a portfolio project? </a:t>
            </a:r>
          </a:p>
        </p:txBody>
      </p:sp>
    </p:spTree>
    <p:extLst>
      <p:ext uri="{BB962C8B-B14F-4D97-AF65-F5344CB8AC3E}">
        <p14:creationId xmlns:p14="http://schemas.microsoft.com/office/powerpoint/2010/main" val="29546564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23874-F98C-4FF3-462C-BBA08E210BE6}"/>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158B5312-AA51-D588-1625-38C280F36B51}"/>
              </a:ext>
            </a:extLst>
          </p:cNvPr>
          <p:cNvPicPr>
            <a:picLocks noChangeAspect="1"/>
          </p:cNvPicPr>
          <p:nvPr/>
        </p:nvPicPr>
        <p:blipFill>
          <a:blip r:embed="rId2"/>
          <a:stretch>
            <a:fillRect/>
          </a:stretch>
        </p:blipFill>
        <p:spPr>
          <a:xfrm>
            <a:off x="967562" y="300631"/>
            <a:ext cx="7304567" cy="5717632"/>
          </a:xfrm>
          <a:prstGeom prst="rect">
            <a:avLst/>
          </a:prstGeom>
        </p:spPr>
      </p:pic>
    </p:spTree>
    <p:extLst>
      <p:ext uri="{BB962C8B-B14F-4D97-AF65-F5344CB8AC3E}">
        <p14:creationId xmlns:p14="http://schemas.microsoft.com/office/powerpoint/2010/main" val="32173530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D2682-F260-4C7E-338E-B495AB8991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A12290-BA4F-5188-E5AD-A6288F3E995D}"/>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48382F62-66AB-F3CD-EA9D-E8347643ED5A}"/>
              </a:ext>
            </a:extLst>
          </p:cNvPr>
          <p:cNvSpPr>
            <a:spLocks noGrp="1"/>
          </p:cNvSpPr>
          <p:nvPr>
            <p:ph idx="1"/>
          </p:nvPr>
        </p:nvSpPr>
        <p:spPr/>
        <p:txBody>
          <a:bodyPr>
            <a:normAutofit/>
          </a:bodyPr>
          <a:lstStyle/>
          <a:p>
            <a:pPr marL="0" indent="0">
              <a:buNone/>
            </a:pPr>
            <a:r>
              <a:rPr lang="en-US" sz="2000" b="1" dirty="0"/>
              <a:t>Answer #4: </a:t>
            </a:r>
            <a:r>
              <a:rPr lang="en-US" sz="2000" dirty="0"/>
              <a:t>In matters of machine learning, the biggest indicator of success is the model being able to make accurate predictions on engines not encountered during the training process. It should be able to produce accurate endpoint RUL predictions and beat simple baselines. It should also avoid leakage and misleading validation. It should also be possible to discern when and where errors occur. </a:t>
            </a:r>
          </a:p>
          <a:p>
            <a:pPr marL="0" indent="0">
              <a:buNone/>
            </a:pPr>
            <a:endParaRPr lang="en-US" sz="2000" dirty="0"/>
          </a:p>
          <a:p>
            <a:pPr marL="0" indent="0">
              <a:buNone/>
            </a:pPr>
            <a:r>
              <a:rPr lang="en-US" sz="2000" dirty="0"/>
              <a:t>From an engineering perspective, this project should create a reproducible training pipeline. Any decisions that the model makes should be defensible. The model should serve prediction endpoints in a containerized environment. Testing and experiment tracking should be able to take place, and it should be possible to provide clear explanations of the model’s limitations. </a:t>
            </a:r>
          </a:p>
        </p:txBody>
      </p:sp>
    </p:spTree>
    <p:extLst>
      <p:ext uri="{BB962C8B-B14F-4D97-AF65-F5344CB8AC3E}">
        <p14:creationId xmlns:p14="http://schemas.microsoft.com/office/powerpoint/2010/main" val="13495893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8CFD6C82-B2C5-5FA1-2810-9596861F3E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C9EA17-622E-1D7A-5D48-726C57D882AA}"/>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How did you define success for this project, both as a machine-learning system and as a portfolio project?</a:t>
            </a:r>
            <a:endParaRPr lang="en-US" dirty="0"/>
          </a:p>
        </p:txBody>
      </p:sp>
      <p:sp>
        <p:nvSpPr>
          <p:cNvPr id="3" name="Content Placeholder 2">
            <a:extLst>
              <a:ext uri="{FF2B5EF4-FFF2-40B4-BE49-F238E27FC236}">
                <a16:creationId xmlns:a16="http://schemas.microsoft.com/office/drawing/2014/main" id="{AA634C6A-D18E-DDCD-AA4A-99F2A66CA7B3}"/>
              </a:ext>
            </a:extLst>
          </p:cNvPr>
          <p:cNvSpPr>
            <a:spLocks noGrp="1"/>
          </p:cNvSpPr>
          <p:nvPr>
            <p:ph idx="1"/>
          </p:nvPr>
        </p:nvSpPr>
        <p:spPr/>
        <p:txBody>
          <a:bodyPr>
            <a:normAutofit fontScale="92500" lnSpcReduction="10000"/>
          </a:bodyPr>
          <a:lstStyle/>
          <a:p>
            <a:pPr marL="0" indent="0">
              <a:buNone/>
            </a:pPr>
            <a:r>
              <a:rPr lang="en-US" sz="2000" dirty="0"/>
              <a:t>From a machine learning perspective, success means generalizing to engine units that were not encountered during training. The model should outperform simple baselines on grouped validation using metrics such as MAE and RMSE. It should also perform reasonably well on endpoint RUL prediction and avoid data leakage or misleading validation. I also want enough error analysis to understand when and where the model performs poorly rather than relying on one aggregate score. </a:t>
            </a:r>
          </a:p>
          <a:p>
            <a:pPr marL="0" indent="0">
              <a:buNone/>
            </a:pPr>
            <a:endParaRPr lang="en-US" sz="2000" dirty="0"/>
          </a:p>
          <a:p>
            <a:pPr marL="0" indent="0">
              <a:buNone/>
            </a:pPr>
            <a:r>
              <a:rPr lang="en-US" sz="2000" dirty="0"/>
              <a:t>From an engineering perspective, success means turning that model into a reproducible and usable system. The training process should be reproducible, experiments should be tracked, important assumptions should be protected by automated tests, and the trained pipeline should be served through a containerized prediction API. The model version and preprocessing should be traceable, and its predictions, design choices, and limitations should be explainable. </a:t>
            </a:r>
          </a:p>
          <a:p>
            <a:pPr marL="0" indent="0">
              <a:buNone/>
            </a:pPr>
            <a:endParaRPr lang="en-US" sz="2000" dirty="0"/>
          </a:p>
          <a:p>
            <a:pPr marL="0" indent="0">
              <a:buNone/>
            </a:pPr>
            <a:r>
              <a:rPr lang="en-US" sz="2000" dirty="0"/>
              <a:t>From a portfolio perspective, the finished project should demonstrate that I can take an ML problem from raw data through experimentation, deployment, testing, and production-oriented monitoring rather than stopping at a notebook. </a:t>
            </a:r>
          </a:p>
          <a:p>
            <a:pPr marL="0" indent="0">
              <a:buNone/>
            </a:pPr>
            <a:endParaRPr lang="en-US" sz="2000" dirty="0"/>
          </a:p>
          <a:p>
            <a:pPr marL="0" indent="0">
              <a:buNone/>
            </a:pPr>
            <a:endParaRPr lang="en-US" sz="2000" dirty="0"/>
          </a:p>
        </p:txBody>
      </p:sp>
    </p:spTree>
    <p:extLst>
      <p:ext uri="{BB962C8B-B14F-4D97-AF65-F5344CB8AC3E}">
        <p14:creationId xmlns:p14="http://schemas.microsoft.com/office/powerpoint/2010/main" val="630554429"/>
      </p:ext>
    </p:extLst>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A4982BFE-783D-BF3A-BCA8-0C0547BDA3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242D0C-8BDF-7A17-584D-A4F9B713B19B}"/>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How did you define success for this project, both as a machine-learning system and as a portfolio project?</a:t>
            </a:r>
            <a:endParaRPr lang="en-US" dirty="0"/>
          </a:p>
        </p:txBody>
      </p:sp>
      <p:pic>
        <p:nvPicPr>
          <p:cNvPr id="5" name="Content Placeholder 4">
            <a:extLst>
              <a:ext uri="{FF2B5EF4-FFF2-40B4-BE49-F238E27FC236}">
                <a16:creationId xmlns:a16="http://schemas.microsoft.com/office/drawing/2014/main" id="{A0AFA56D-B1C8-CC9B-D9EB-23ABF70665EF}"/>
              </a:ext>
            </a:extLst>
          </p:cNvPr>
          <p:cNvPicPr>
            <a:picLocks noGrp="1" noChangeAspect="1"/>
          </p:cNvPicPr>
          <p:nvPr>
            <p:ph idx="1"/>
          </p:nvPr>
        </p:nvPicPr>
        <p:blipFill>
          <a:blip r:embed="rId3"/>
          <a:stretch>
            <a:fillRect/>
          </a:stretch>
        </p:blipFill>
        <p:spPr>
          <a:xfrm>
            <a:off x="1489167" y="1825624"/>
            <a:ext cx="8327950" cy="4869201"/>
          </a:xfrm>
          <a:prstGeom prst="rect">
            <a:avLst/>
          </a:prstGeom>
        </p:spPr>
      </p:pic>
    </p:spTree>
    <p:extLst>
      <p:ext uri="{BB962C8B-B14F-4D97-AF65-F5344CB8AC3E}">
        <p14:creationId xmlns:p14="http://schemas.microsoft.com/office/powerpoint/2010/main" val="1195363361"/>
      </p:ext>
    </p:extLst>
  </p:cSld>
  <p:clrMapOvr>
    <a:overrideClrMapping bg1="lt1" tx1="dk1" bg2="lt2" tx2="dk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47C03-E770-AC00-CB73-D1F2A96F76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78CD74-10F7-F361-4CA2-C3B2E153224C}"/>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DF3DA3ED-6605-23CF-845F-73832DD795FF}"/>
              </a:ext>
            </a:extLst>
          </p:cNvPr>
          <p:cNvSpPr>
            <a:spLocks noGrp="1"/>
          </p:cNvSpPr>
          <p:nvPr>
            <p:ph idx="1"/>
          </p:nvPr>
        </p:nvSpPr>
        <p:spPr/>
        <p:txBody>
          <a:bodyPr/>
          <a:lstStyle/>
          <a:p>
            <a:r>
              <a:rPr lang="en-US" dirty="0"/>
              <a:t>Question #5: What assumptions does the FD001 project make, and why should the resulting model be treated as a prototype rather than a production-ready maintenance system? </a:t>
            </a:r>
          </a:p>
        </p:txBody>
      </p:sp>
    </p:spTree>
    <p:extLst>
      <p:ext uri="{BB962C8B-B14F-4D97-AF65-F5344CB8AC3E}">
        <p14:creationId xmlns:p14="http://schemas.microsoft.com/office/powerpoint/2010/main" val="31112988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49F38-C9CE-0EAF-FE87-180AA4CC82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483C54-B5CC-4403-2E0C-DD96A97C77F7}"/>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737061D8-1D2D-F5FE-7A9A-CEDB0040D49D}"/>
              </a:ext>
            </a:extLst>
          </p:cNvPr>
          <p:cNvSpPr>
            <a:spLocks noGrp="1"/>
          </p:cNvSpPr>
          <p:nvPr>
            <p:ph idx="1"/>
          </p:nvPr>
        </p:nvSpPr>
        <p:spPr/>
        <p:txBody>
          <a:bodyPr/>
          <a:lstStyle/>
          <a:p>
            <a:r>
              <a:rPr lang="en-US" dirty="0"/>
              <a:t>Answer #5: </a:t>
            </a:r>
          </a:p>
        </p:txBody>
      </p:sp>
      <p:pic>
        <p:nvPicPr>
          <p:cNvPr id="4" name="Picture 3">
            <a:extLst>
              <a:ext uri="{FF2B5EF4-FFF2-40B4-BE49-F238E27FC236}">
                <a16:creationId xmlns:a16="http://schemas.microsoft.com/office/drawing/2014/main" id="{69375333-4432-4C3D-8A99-467BD9C8ED1F}"/>
              </a:ext>
            </a:extLst>
          </p:cNvPr>
          <p:cNvPicPr>
            <a:picLocks noChangeAspect="1"/>
          </p:cNvPicPr>
          <p:nvPr/>
        </p:nvPicPr>
        <p:blipFill>
          <a:blip r:embed="rId2"/>
          <a:stretch>
            <a:fillRect/>
          </a:stretch>
        </p:blipFill>
        <p:spPr>
          <a:xfrm>
            <a:off x="0" y="3139930"/>
            <a:ext cx="7772400" cy="3718070"/>
          </a:xfrm>
          <a:prstGeom prst="rect">
            <a:avLst/>
          </a:prstGeom>
        </p:spPr>
      </p:pic>
    </p:spTree>
    <p:extLst>
      <p:ext uri="{BB962C8B-B14F-4D97-AF65-F5344CB8AC3E}">
        <p14:creationId xmlns:p14="http://schemas.microsoft.com/office/powerpoint/2010/main" val="9100553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CC138-B33A-B686-0CAE-319402E04F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89A48A-5E90-9868-D597-C268598FC817}"/>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18BE1B87-289E-D914-186D-28A3C015CDFC}"/>
              </a:ext>
            </a:extLst>
          </p:cNvPr>
          <p:cNvSpPr>
            <a:spLocks noGrp="1"/>
          </p:cNvSpPr>
          <p:nvPr>
            <p:ph idx="1"/>
          </p:nvPr>
        </p:nvSpPr>
        <p:spPr/>
        <p:txBody>
          <a:bodyPr>
            <a:normAutofit fontScale="62500" lnSpcReduction="20000"/>
          </a:bodyPr>
          <a:lstStyle/>
          <a:p>
            <a:pPr marL="0" indent="0">
              <a:buNone/>
            </a:pPr>
            <a:r>
              <a:rPr lang="en-US" dirty="0"/>
              <a:t>Answer #5</a:t>
            </a:r>
          </a:p>
          <a:p>
            <a:pPr marL="0" indent="0">
              <a:buNone/>
            </a:pPr>
            <a:endParaRPr lang="en-US" dirty="0"/>
          </a:p>
          <a:p>
            <a:pPr marL="0" indent="0">
              <a:buNone/>
            </a:pPr>
            <a:r>
              <a:rPr lang="en-US" dirty="0"/>
              <a:t>The FD001 project makes at least two assumptions: </a:t>
            </a:r>
          </a:p>
          <a:p>
            <a:r>
              <a:rPr lang="en-US" dirty="0"/>
              <a:t>The predictions are associated with one fault mode and one practical operating condition. </a:t>
            </a:r>
          </a:p>
          <a:p>
            <a:r>
              <a:rPr lang="en-US" dirty="0"/>
              <a:t> Training engines run to failure, which might not be reflective of real-life scenarios. </a:t>
            </a:r>
          </a:p>
          <a:p>
            <a:endParaRPr lang="en-US" dirty="0"/>
          </a:p>
          <a:p>
            <a:pPr marL="0" indent="0">
              <a:buNone/>
            </a:pPr>
            <a:r>
              <a:rPr lang="en-US" dirty="0"/>
              <a:t>As for why the resulting model should be treated as a prototype rather and a production-ready prediction tool, there are the following reasons: </a:t>
            </a:r>
          </a:p>
          <a:p>
            <a:r>
              <a:rPr lang="en-US" dirty="0"/>
              <a:t>The meanings and units of sensors have been largely abstracted</a:t>
            </a:r>
          </a:p>
          <a:p>
            <a:r>
              <a:rPr lang="en-US" dirty="0"/>
              <a:t>Training engines run until failure, which likely won’t be reflective of actual maintenance records</a:t>
            </a:r>
          </a:p>
          <a:p>
            <a:r>
              <a:rPr lang="en-US" dirty="0"/>
              <a:t>The training data only contains one fault mode and one practical operating condition, whereas real world scenarios often contain multiple fault or failure modes</a:t>
            </a:r>
          </a:p>
          <a:p>
            <a:pPr marL="0" indent="0">
              <a:buNone/>
            </a:pPr>
            <a:r>
              <a:rPr lang="en-US" dirty="0"/>
              <a:t> </a:t>
            </a:r>
          </a:p>
        </p:txBody>
      </p:sp>
    </p:spTree>
    <p:extLst>
      <p:ext uri="{BB962C8B-B14F-4D97-AF65-F5344CB8AC3E}">
        <p14:creationId xmlns:p14="http://schemas.microsoft.com/office/powerpoint/2010/main" val="15898033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E424E96B-EE56-23D1-49B9-268D50FD41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75A0ED-49B2-0494-0F75-4974A87DE769}"/>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What assumptions does the FD001 project make, and why should the resulting model be treated as a prototype rather than a production-ready maintenance system?</a:t>
            </a:r>
            <a:endParaRPr lang="en-US" dirty="0"/>
          </a:p>
        </p:txBody>
      </p:sp>
      <p:sp>
        <p:nvSpPr>
          <p:cNvPr id="3" name="Content Placeholder 2">
            <a:extLst>
              <a:ext uri="{FF2B5EF4-FFF2-40B4-BE49-F238E27FC236}">
                <a16:creationId xmlns:a16="http://schemas.microsoft.com/office/drawing/2014/main" id="{871FEBF6-0B57-072E-C666-6C6E3AB28DCC}"/>
              </a:ext>
            </a:extLst>
          </p:cNvPr>
          <p:cNvSpPr>
            <a:spLocks noGrp="1"/>
          </p:cNvSpPr>
          <p:nvPr>
            <p:ph idx="1"/>
          </p:nvPr>
        </p:nvSpPr>
        <p:spPr/>
        <p:txBody>
          <a:bodyPr>
            <a:normAutofit fontScale="55000" lnSpcReduction="20000"/>
          </a:bodyPr>
          <a:lstStyle/>
          <a:p>
            <a:pPr marL="0" indent="0">
              <a:buNone/>
            </a:pPr>
            <a:r>
              <a:rPr lang="en-US" dirty="0"/>
              <a:t>The first assumption is that the FD001 represents a much narrower problem then real engine maintenance. It only contains one operating condition—sea level—and one fault mode in the form of high-pressure compressor degradation. So, the model is not being trained to handle multiple environments or different failure mechanisms. </a:t>
            </a:r>
          </a:p>
          <a:p>
            <a:pPr marL="0" indent="0">
              <a:buNone/>
            </a:pPr>
            <a:endParaRPr lang="en-US" dirty="0"/>
          </a:p>
          <a:p>
            <a:pPr marL="0" indent="0">
              <a:buNone/>
            </a:pPr>
            <a:r>
              <a:rPr lang="en-US" dirty="0"/>
              <a:t>Second, the training trajectories run all the way to failure. That’s useful because it gives us complete RUL labels, but real maintenance data may be censored because equipment is inspected, repaired, or replaced before failure. </a:t>
            </a:r>
          </a:p>
          <a:p>
            <a:pPr marL="0" indent="0">
              <a:buNone/>
            </a:pPr>
            <a:endParaRPr lang="en-US" dirty="0"/>
          </a:p>
          <a:p>
            <a:pPr marL="0" indent="0">
              <a:buNone/>
            </a:pPr>
            <a:r>
              <a:rPr lang="en-US" dirty="0"/>
              <a:t>Third, this is simulated C-MAPPS data rather than measurements collected from a real operational fleet. Performance on this benchmark there fore doesn’t demonstrate that the model will generalize to all of the noise, distribution shifts, sensor issues, and maintenance practices encountered in deployment. </a:t>
            </a:r>
          </a:p>
          <a:p>
            <a:pPr marL="0" indent="0">
              <a:buNone/>
            </a:pPr>
            <a:endParaRPr lang="en-US" dirty="0"/>
          </a:p>
          <a:p>
            <a:pPr marL="0" indent="0">
              <a:buNone/>
            </a:pPr>
            <a:r>
              <a:rPr lang="en-US" dirty="0"/>
              <a:t>Finally, the sensor channels are largely abstracted, which limits physical interpretation and domain validation. </a:t>
            </a:r>
          </a:p>
          <a:p>
            <a:pPr marL="0" indent="0">
              <a:buNone/>
            </a:pPr>
            <a:endParaRPr lang="en-US" dirty="0"/>
          </a:p>
          <a:p>
            <a:pPr marL="0" indent="0">
              <a:buNone/>
            </a:pPr>
            <a:r>
              <a:rPr lang="en-US" dirty="0"/>
              <a:t>For those reasons, I view the project as a production-oriented prototype. It demonstrates the ML pipeline, leakage-safe validation, serving, containerization, testing, tracking, and monitoring architecture. But the predictive model itself has not been validated under the data diversity and operational conditions necessary for a real maintenance system. </a:t>
            </a:r>
          </a:p>
        </p:txBody>
      </p:sp>
    </p:spTree>
    <p:extLst>
      <p:ext uri="{BB962C8B-B14F-4D97-AF65-F5344CB8AC3E}">
        <p14:creationId xmlns:p14="http://schemas.microsoft.com/office/powerpoint/2010/main" val="740258191"/>
      </p:ext>
    </p:extLst>
  </p:cSld>
  <p:clrMapOvr>
    <a:overrideClrMapping bg1="lt1" tx1="dk1" bg2="lt2" tx2="dk2" accent1="accent1" accent2="accent2" accent3="accent3" accent4="accent4" accent5="accent5" accent6="accent6" hlink="hlink" folHlink="folHlink"/>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03D8A079-CB2F-097F-20CC-22AC808AD2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711647-9168-8D33-7520-FC465C58A508}"/>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What assumptions does the FD001 project make, and why should the resulting model be treated as a prototype rather than a production-ready maintenance system?</a:t>
            </a:r>
            <a:endParaRPr lang="en-US" dirty="0"/>
          </a:p>
        </p:txBody>
      </p:sp>
      <p:pic>
        <p:nvPicPr>
          <p:cNvPr id="4" name="Content Placeholder 3">
            <a:extLst>
              <a:ext uri="{FF2B5EF4-FFF2-40B4-BE49-F238E27FC236}">
                <a16:creationId xmlns:a16="http://schemas.microsoft.com/office/drawing/2014/main" id="{C11C047D-DA98-5D51-AAC5-DDB59167E919}"/>
              </a:ext>
            </a:extLst>
          </p:cNvPr>
          <p:cNvPicPr>
            <a:picLocks noGrp="1" noChangeAspect="1"/>
          </p:cNvPicPr>
          <p:nvPr>
            <p:ph idx="1"/>
          </p:nvPr>
        </p:nvPicPr>
        <p:blipFill>
          <a:blip r:embed="rId3"/>
          <a:stretch>
            <a:fillRect/>
          </a:stretch>
        </p:blipFill>
        <p:spPr>
          <a:xfrm>
            <a:off x="2797263" y="1825625"/>
            <a:ext cx="6597474" cy="4351338"/>
          </a:xfrm>
          <a:prstGeom prst="rect">
            <a:avLst/>
          </a:prstGeom>
        </p:spPr>
      </p:pic>
    </p:spTree>
    <p:extLst>
      <p:ext uri="{BB962C8B-B14F-4D97-AF65-F5344CB8AC3E}">
        <p14:creationId xmlns:p14="http://schemas.microsoft.com/office/powerpoint/2010/main" val="1836236745"/>
      </p:ext>
    </p:extLst>
  </p:cSld>
  <p:clrMapOvr>
    <a:overrideClrMapping bg1="lt1" tx1="dk1" bg2="lt2" tx2="dk2" accent1="accent1" accent2="accent2" accent3="accent3" accent4="accent4" accent5="accent5" accent6="accent6" hlink="hlink" folHlink="folHlink"/>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790B3629-0011-91BD-7D0C-6D3D30D5E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79E7C2-191C-C592-CA7A-970DF30242FD}"/>
              </a:ext>
            </a:extLst>
          </p:cNvPr>
          <p:cNvSpPr>
            <a:spLocks noGrp="1"/>
          </p:cNvSpPr>
          <p:nvPr>
            <p:ph type="title"/>
          </p:nvPr>
        </p:nvSpPr>
        <p:spPr/>
        <p:txBody>
          <a:bodyPr/>
          <a:lstStyle/>
          <a:p>
            <a:r>
              <a:rPr lang="en-US" dirty="0"/>
              <a:t>Part 1: ML Foundations and Baseline System</a:t>
            </a:r>
          </a:p>
        </p:txBody>
      </p:sp>
      <p:sp>
        <p:nvSpPr>
          <p:cNvPr id="3" name="Content Placeholder 2">
            <a:extLst>
              <a:ext uri="{FF2B5EF4-FFF2-40B4-BE49-F238E27FC236}">
                <a16:creationId xmlns:a16="http://schemas.microsoft.com/office/drawing/2014/main" id="{ED6BCEB7-1CAA-1538-0CD8-8B40C1ABC257}"/>
              </a:ext>
            </a:extLst>
          </p:cNvPr>
          <p:cNvSpPr>
            <a:spLocks noGrp="1"/>
          </p:cNvSpPr>
          <p:nvPr>
            <p:ph idx="1"/>
          </p:nvPr>
        </p:nvSpPr>
        <p:spPr/>
        <p:txBody>
          <a:bodyPr/>
          <a:lstStyle/>
          <a:p>
            <a:r>
              <a:rPr lang="en-US" dirty="0"/>
              <a:t>Phase 1.2: Data Understanding and Exploratory Analysis</a:t>
            </a:r>
          </a:p>
          <a:p>
            <a:pPr lvl="1"/>
            <a:r>
              <a:rPr lang="en-US" dirty="0"/>
              <a:t>Understand the FD001 files</a:t>
            </a:r>
          </a:p>
          <a:p>
            <a:pPr lvl="1"/>
            <a:r>
              <a:rPr lang="en-US" dirty="0"/>
              <a:t>Validate engine sequences</a:t>
            </a:r>
          </a:p>
          <a:p>
            <a:pPr lvl="1"/>
            <a:r>
              <a:rPr lang="en-US" dirty="0"/>
              <a:t>Construct and validate training RUL</a:t>
            </a:r>
          </a:p>
          <a:p>
            <a:pPr lvl="1"/>
            <a:r>
              <a:rPr lang="en-US" dirty="0"/>
              <a:t>Interpret test endpoint RUL</a:t>
            </a:r>
          </a:p>
          <a:p>
            <a:pPr lvl="1"/>
            <a:r>
              <a:rPr lang="en-US" dirty="0"/>
              <a:t>Examine sensors, operating conditions, and target distribution</a:t>
            </a:r>
          </a:p>
          <a:p>
            <a:pPr lvl="1"/>
            <a:r>
              <a:rPr lang="en-US" dirty="0"/>
              <a:t>Identify initial modeling implications</a:t>
            </a:r>
          </a:p>
        </p:txBody>
      </p:sp>
    </p:spTree>
    <p:extLst>
      <p:ext uri="{BB962C8B-B14F-4D97-AF65-F5344CB8AC3E}">
        <p14:creationId xmlns:p14="http://schemas.microsoft.com/office/powerpoint/2010/main" val="3098386437"/>
      </p:ext>
    </p:extLst>
  </p:cSld>
  <p:clrMapOvr>
    <a:overrideClrMapping bg1="lt1" tx1="dk1" bg2="lt2" tx2="dk2" accent1="accent1" accent2="accent2" accent3="accent3" accent4="accent4" accent5="accent5" accent6="accent6" hlink="hlink" folHlink="folHlink"/>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DC9B4-B87E-138E-7F54-0F97A9DDED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C7D0ED-18CA-973D-AB65-CCA0C1A62DDE}"/>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8BE67015-5B1A-7020-CE53-B0AF5E5F70F7}"/>
              </a:ext>
            </a:extLst>
          </p:cNvPr>
          <p:cNvSpPr>
            <a:spLocks noGrp="1"/>
          </p:cNvSpPr>
          <p:nvPr>
            <p:ph idx="1"/>
          </p:nvPr>
        </p:nvSpPr>
        <p:spPr/>
        <p:txBody>
          <a:bodyPr/>
          <a:lstStyle/>
          <a:p>
            <a:r>
              <a:rPr lang="en-US" dirty="0"/>
              <a:t>Question #1: How do the FD001 training data, test data, and test RUL labels differ, and how do they work together? </a:t>
            </a:r>
          </a:p>
        </p:txBody>
      </p:sp>
    </p:spTree>
    <p:extLst>
      <p:ext uri="{BB962C8B-B14F-4D97-AF65-F5344CB8AC3E}">
        <p14:creationId xmlns:p14="http://schemas.microsoft.com/office/powerpoint/2010/main" val="5551276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65B81-7C19-125C-81B2-B41E516995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9AC408-0181-CB91-765E-93DD9B84136C}"/>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3CE7A2FE-1005-2C4F-E5D1-1C019BCD1288}"/>
              </a:ext>
            </a:extLst>
          </p:cNvPr>
          <p:cNvSpPr>
            <a:spLocks noGrp="1"/>
          </p:cNvSpPr>
          <p:nvPr>
            <p:ph idx="1"/>
          </p:nvPr>
        </p:nvSpPr>
        <p:spPr/>
        <p:txBody>
          <a:bodyPr/>
          <a:lstStyle/>
          <a:p>
            <a:r>
              <a:rPr lang="en-US" dirty="0"/>
              <a:t>Answer #1: </a:t>
            </a:r>
          </a:p>
        </p:txBody>
      </p:sp>
      <p:pic>
        <p:nvPicPr>
          <p:cNvPr id="4" name="Picture 3">
            <a:extLst>
              <a:ext uri="{FF2B5EF4-FFF2-40B4-BE49-F238E27FC236}">
                <a16:creationId xmlns:a16="http://schemas.microsoft.com/office/drawing/2014/main" id="{5C3D1C65-4DD0-F8DC-32F6-84F8183D5C98}"/>
              </a:ext>
            </a:extLst>
          </p:cNvPr>
          <p:cNvPicPr>
            <a:picLocks noChangeAspect="1"/>
          </p:cNvPicPr>
          <p:nvPr/>
        </p:nvPicPr>
        <p:blipFill>
          <a:blip r:embed="rId2"/>
          <a:stretch>
            <a:fillRect/>
          </a:stretch>
        </p:blipFill>
        <p:spPr>
          <a:xfrm>
            <a:off x="0" y="3429000"/>
            <a:ext cx="7772400" cy="3423223"/>
          </a:xfrm>
          <a:prstGeom prst="rect">
            <a:avLst/>
          </a:prstGeom>
        </p:spPr>
      </p:pic>
    </p:spTree>
    <p:extLst>
      <p:ext uri="{BB962C8B-B14F-4D97-AF65-F5344CB8AC3E}">
        <p14:creationId xmlns:p14="http://schemas.microsoft.com/office/powerpoint/2010/main" val="3134835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3E4A1-2E0B-8D14-383A-F93B341D2EDB}"/>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E75F4ED8-C2DD-9603-44AD-F1CE6953D3B1}"/>
              </a:ext>
            </a:extLst>
          </p:cNvPr>
          <p:cNvSpPr>
            <a:spLocks noGrp="1"/>
          </p:cNvSpPr>
          <p:nvPr>
            <p:ph idx="1"/>
          </p:nvPr>
        </p:nvSpPr>
        <p:spPr/>
        <p:txBody>
          <a:bodyPr/>
          <a:lstStyle/>
          <a:p>
            <a:r>
              <a:rPr lang="en-US" dirty="0"/>
              <a:t>Question #2: How did you construct the training RUL target, and what checks confirmed that it was correct for every engine? </a:t>
            </a:r>
          </a:p>
        </p:txBody>
      </p:sp>
    </p:spTree>
    <p:extLst>
      <p:ext uri="{BB962C8B-B14F-4D97-AF65-F5344CB8AC3E}">
        <p14:creationId xmlns:p14="http://schemas.microsoft.com/office/powerpoint/2010/main" val="13294755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78D20-E439-3B63-598F-7AD3D147DA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A60416-14F0-49CA-AEA7-E1E430016C62}"/>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0561CA81-D772-5A92-9CC8-7CD4DE4E6B3C}"/>
              </a:ext>
            </a:extLst>
          </p:cNvPr>
          <p:cNvSpPr>
            <a:spLocks noGrp="1"/>
          </p:cNvSpPr>
          <p:nvPr>
            <p:ph idx="1"/>
          </p:nvPr>
        </p:nvSpPr>
        <p:spPr/>
        <p:txBody>
          <a:bodyPr/>
          <a:lstStyle/>
          <a:p>
            <a:r>
              <a:rPr lang="en-US" dirty="0"/>
              <a:t>Answer #2: </a:t>
            </a:r>
          </a:p>
        </p:txBody>
      </p:sp>
      <p:pic>
        <p:nvPicPr>
          <p:cNvPr id="5" name="Picture 4">
            <a:extLst>
              <a:ext uri="{FF2B5EF4-FFF2-40B4-BE49-F238E27FC236}">
                <a16:creationId xmlns:a16="http://schemas.microsoft.com/office/drawing/2014/main" id="{EF05203C-C7BD-36CD-829A-ABED335EE759}"/>
              </a:ext>
            </a:extLst>
          </p:cNvPr>
          <p:cNvPicPr>
            <a:picLocks noChangeAspect="1"/>
          </p:cNvPicPr>
          <p:nvPr/>
        </p:nvPicPr>
        <p:blipFill>
          <a:blip r:embed="rId2"/>
          <a:stretch>
            <a:fillRect/>
          </a:stretch>
        </p:blipFill>
        <p:spPr>
          <a:xfrm>
            <a:off x="0" y="2713005"/>
            <a:ext cx="6243918" cy="4144995"/>
          </a:xfrm>
          <a:prstGeom prst="rect">
            <a:avLst/>
          </a:prstGeom>
        </p:spPr>
      </p:pic>
    </p:spTree>
    <p:extLst>
      <p:ext uri="{BB962C8B-B14F-4D97-AF65-F5344CB8AC3E}">
        <p14:creationId xmlns:p14="http://schemas.microsoft.com/office/powerpoint/2010/main" val="9592774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4C86A6-C75A-0344-561E-4B460869E8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01F500-61AF-798F-5E3B-A2544EB38EA7}"/>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20EBDF34-8E4D-CAE2-776E-DFE7E5EB4B15}"/>
              </a:ext>
            </a:extLst>
          </p:cNvPr>
          <p:cNvSpPr>
            <a:spLocks noGrp="1"/>
          </p:cNvSpPr>
          <p:nvPr>
            <p:ph idx="1"/>
          </p:nvPr>
        </p:nvSpPr>
        <p:spPr/>
        <p:txBody>
          <a:bodyPr/>
          <a:lstStyle/>
          <a:p>
            <a:r>
              <a:rPr lang="en-US" dirty="0"/>
              <a:t>Question #3: What sequence-integrity checks did you perform, and why are they necessary before modeling time-series engine data? </a:t>
            </a:r>
          </a:p>
        </p:txBody>
      </p:sp>
    </p:spTree>
    <p:extLst>
      <p:ext uri="{BB962C8B-B14F-4D97-AF65-F5344CB8AC3E}">
        <p14:creationId xmlns:p14="http://schemas.microsoft.com/office/powerpoint/2010/main" val="38266802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49ABB-6990-92E7-7242-BADE761BB9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CBB2ED-1053-25F3-106C-7624ADC8D050}"/>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C3E12C9C-7FC6-BA10-1CEF-C13D22ED69C5}"/>
              </a:ext>
            </a:extLst>
          </p:cNvPr>
          <p:cNvSpPr>
            <a:spLocks noGrp="1"/>
          </p:cNvSpPr>
          <p:nvPr>
            <p:ph idx="1"/>
          </p:nvPr>
        </p:nvSpPr>
        <p:spPr/>
        <p:txBody>
          <a:bodyPr/>
          <a:lstStyle/>
          <a:p>
            <a:r>
              <a:rPr lang="en-US" dirty="0"/>
              <a:t>Answer #3: </a:t>
            </a:r>
          </a:p>
        </p:txBody>
      </p:sp>
      <p:pic>
        <p:nvPicPr>
          <p:cNvPr id="4" name="Picture 3">
            <a:extLst>
              <a:ext uri="{FF2B5EF4-FFF2-40B4-BE49-F238E27FC236}">
                <a16:creationId xmlns:a16="http://schemas.microsoft.com/office/drawing/2014/main" id="{E85C29C0-1B25-5B84-2E3D-74E06ED59362}"/>
              </a:ext>
            </a:extLst>
          </p:cNvPr>
          <p:cNvPicPr>
            <a:picLocks noChangeAspect="1"/>
          </p:cNvPicPr>
          <p:nvPr/>
        </p:nvPicPr>
        <p:blipFill>
          <a:blip r:embed="rId2"/>
          <a:stretch>
            <a:fillRect/>
          </a:stretch>
        </p:blipFill>
        <p:spPr>
          <a:xfrm>
            <a:off x="0" y="2668417"/>
            <a:ext cx="7772400" cy="4189583"/>
          </a:xfrm>
          <a:prstGeom prst="rect">
            <a:avLst/>
          </a:prstGeom>
        </p:spPr>
      </p:pic>
    </p:spTree>
    <p:extLst>
      <p:ext uri="{BB962C8B-B14F-4D97-AF65-F5344CB8AC3E}">
        <p14:creationId xmlns:p14="http://schemas.microsoft.com/office/powerpoint/2010/main" val="407592512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E7790-98AE-ABE4-6452-541C0CB391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252D1D-1A70-7A03-8C5B-396C0A48728D}"/>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256FB8DC-6C24-5C40-1965-AD4DE70B2A4C}"/>
              </a:ext>
            </a:extLst>
          </p:cNvPr>
          <p:cNvSpPr>
            <a:spLocks noGrp="1"/>
          </p:cNvSpPr>
          <p:nvPr>
            <p:ph idx="1"/>
          </p:nvPr>
        </p:nvSpPr>
        <p:spPr/>
        <p:txBody>
          <a:bodyPr/>
          <a:lstStyle/>
          <a:p>
            <a:r>
              <a:rPr lang="en-US" dirty="0"/>
              <a:t>Question #4: What data-quality checks did you perform, what did you find, and why was it important not to “clean” legitimate degradation behavior?  </a:t>
            </a:r>
          </a:p>
        </p:txBody>
      </p:sp>
    </p:spTree>
    <p:extLst>
      <p:ext uri="{BB962C8B-B14F-4D97-AF65-F5344CB8AC3E}">
        <p14:creationId xmlns:p14="http://schemas.microsoft.com/office/powerpoint/2010/main" val="413168603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2845D-A11B-2BB3-472F-D5D5E35D16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2DFF0B-7C14-2B56-727E-DAC8DC085E61}"/>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10AC8D4B-2508-D373-B333-31A7B772B66B}"/>
              </a:ext>
            </a:extLst>
          </p:cNvPr>
          <p:cNvSpPr>
            <a:spLocks noGrp="1"/>
          </p:cNvSpPr>
          <p:nvPr>
            <p:ph idx="1"/>
          </p:nvPr>
        </p:nvSpPr>
        <p:spPr/>
        <p:txBody>
          <a:bodyPr/>
          <a:lstStyle/>
          <a:p>
            <a:r>
              <a:rPr lang="en-US" dirty="0"/>
              <a:t>Answer #4: </a:t>
            </a:r>
          </a:p>
        </p:txBody>
      </p:sp>
      <p:pic>
        <p:nvPicPr>
          <p:cNvPr id="4" name="Picture 3">
            <a:extLst>
              <a:ext uri="{FF2B5EF4-FFF2-40B4-BE49-F238E27FC236}">
                <a16:creationId xmlns:a16="http://schemas.microsoft.com/office/drawing/2014/main" id="{60C9BAAD-EA64-B164-4427-50E90A1EBE4F}"/>
              </a:ext>
            </a:extLst>
          </p:cNvPr>
          <p:cNvPicPr>
            <a:picLocks noChangeAspect="1"/>
          </p:cNvPicPr>
          <p:nvPr/>
        </p:nvPicPr>
        <p:blipFill>
          <a:blip r:embed="rId2"/>
          <a:stretch>
            <a:fillRect/>
          </a:stretch>
        </p:blipFill>
        <p:spPr>
          <a:xfrm>
            <a:off x="0" y="2529304"/>
            <a:ext cx="6297706" cy="4328696"/>
          </a:xfrm>
          <a:prstGeom prst="rect">
            <a:avLst/>
          </a:prstGeom>
        </p:spPr>
      </p:pic>
    </p:spTree>
    <p:extLst>
      <p:ext uri="{BB962C8B-B14F-4D97-AF65-F5344CB8AC3E}">
        <p14:creationId xmlns:p14="http://schemas.microsoft.com/office/powerpoint/2010/main" val="22546178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64342-E62D-6CCD-5C2E-AEF342BC99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E98C5B-0B0C-5A81-4625-AF72F3B924BD}"/>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801D30D1-089C-DDF2-9FBE-28D2FCE8387D}"/>
              </a:ext>
            </a:extLst>
          </p:cNvPr>
          <p:cNvSpPr>
            <a:spLocks noGrp="1"/>
          </p:cNvSpPr>
          <p:nvPr>
            <p:ph idx="1"/>
          </p:nvPr>
        </p:nvSpPr>
        <p:spPr/>
        <p:txBody>
          <a:bodyPr/>
          <a:lstStyle/>
          <a:p>
            <a:r>
              <a:rPr lang="en-US" dirty="0"/>
              <a:t>Question #5: How did you identify constant and near-constant features, and how did those findings affect the feature plan?  </a:t>
            </a:r>
          </a:p>
        </p:txBody>
      </p:sp>
    </p:spTree>
    <p:extLst>
      <p:ext uri="{BB962C8B-B14F-4D97-AF65-F5344CB8AC3E}">
        <p14:creationId xmlns:p14="http://schemas.microsoft.com/office/powerpoint/2010/main" val="37717995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84F4B-CA51-397A-C669-00ABE02AA2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997653-2361-7677-4DE3-CBC645DFBE02}"/>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BD8B2C65-7046-F5D4-8EBB-AF4427ABF3DB}"/>
              </a:ext>
            </a:extLst>
          </p:cNvPr>
          <p:cNvSpPr>
            <a:spLocks noGrp="1"/>
          </p:cNvSpPr>
          <p:nvPr>
            <p:ph idx="1"/>
          </p:nvPr>
        </p:nvSpPr>
        <p:spPr/>
        <p:txBody>
          <a:bodyPr/>
          <a:lstStyle/>
          <a:p>
            <a:r>
              <a:rPr lang="en-US" dirty="0"/>
              <a:t>Answer #5: </a:t>
            </a:r>
          </a:p>
        </p:txBody>
      </p:sp>
      <p:pic>
        <p:nvPicPr>
          <p:cNvPr id="4" name="Picture 3">
            <a:extLst>
              <a:ext uri="{FF2B5EF4-FFF2-40B4-BE49-F238E27FC236}">
                <a16:creationId xmlns:a16="http://schemas.microsoft.com/office/drawing/2014/main" id="{801D4F82-39AE-ACEB-ED95-59593A2249EA}"/>
              </a:ext>
            </a:extLst>
          </p:cNvPr>
          <p:cNvPicPr>
            <a:picLocks noChangeAspect="1"/>
          </p:cNvPicPr>
          <p:nvPr/>
        </p:nvPicPr>
        <p:blipFill>
          <a:blip r:embed="rId2"/>
          <a:stretch>
            <a:fillRect/>
          </a:stretch>
        </p:blipFill>
        <p:spPr>
          <a:xfrm>
            <a:off x="0" y="2689776"/>
            <a:ext cx="7772400" cy="4168224"/>
          </a:xfrm>
          <a:prstGeom prst="rect">
            <a:avLst/>
          </a:prstGeom>
        </p:spPr>
      </p:pic>
    </p:spTree>
    <p:extLst>
      <p:ext uri="{BB962C8B-B14F-4D97-AF65-F5344CB8AC3E}">
        <p14:creationId xmlns:p14="http://schemas.microsoft.com/office/powerpoint/2010/main" val="396748687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30169-5E68-60FC-67E0-DFFF0791B8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59BEDE-42BB-5307-A436-84E0C9518104}"/>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A8D09FDA-5741-E9AE-2146-9D549AC47AE8}"/>
              </a:ext>
            </a:extLst>
          </p:cNvPr>
          <p:cNvSpPr>
            <a:spLocks noGrp="1"/>
          </p:cNvSpPr>
          <p:nvPr>
            <p:ph idx="1"/>
          </p:nvPr>
        </p:nvSpPr>
        <p:spPr/>
        <p:txBody>
          <a:bodyPr/>
          <a:lstStyle/>
          <a:p>
            <a:r>
              <a:rPr lang="en-US" dirty="0"/>
              <a:t>Question #6: Why did you examine both overall sensor behavior and within-engine sensor trajectories, and what different information did those views provide? </a:t>
            </a:r>
          </a:p>
        </p:txBody>
      </p:sp>
    </p:spTree>
    <p:extLst>
      <p:ext uri="{BB962C8B-B14F-4D97-AF65-F5344CB8AC3E}">
        <p14:creationId xmlns:p14="http://schemas.microsoft.com/office/powerpoint/2010/main" val="30035457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CBFB6-85B3-FA40-886C-581885FD69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C53595-FBA2-4527-6DDD-18224E882732}"/>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FC99BFDF-1ECE-8D16-9FEC-3C1BC17FC88F}"/>
              </a:ext>
            </a:extLst>
          </p:cNvPr>
          <p:cNvSpPr>
            <a:spLocks noGrp="1"/>
          </p:cNvSpPr>
          <p:nvPr>
            <p:ph idx="1"/>
          </p:nvPr>
        </p:nvSpPr>
        <p:spPr/>
        <p:txBody>
          <a:bodyPr/>
          <a:lstStyle/>
          <a:p>
            <a:r>
              <a:rPr lang="en-US" dirty="0"/>
              <a:t>Answer #6: </a:t>
            </a:r>
          </a:p>
        </p:txBody>
      </p:sp>
      <p:pic>
        <p:nvPicPr>
          <p:cNvPr id="4" name="Picture 3">
            <a:extLst>
              <a:ext uri="{FF2B5EF4-FFF2-40B4-BE49-F238E27FC236}">
                <a16:creationId xmlns:a16="http://schemas.microsoft.com/office/drawing/2014/main" id="{6AD9EFBD-796E-EC27-B8E6-A20ED1CF6307}"/>
              </a:ext>
            </a:extLst>
          </p:cNvPr>
          <p:cNvPicPr>
            <a:picLocks noChangeAspect="1"/>
          </p:cNvPicPr>
          <p:nvPr/>
        </p:nvPicPr>
        <p:blipFill>
          <a:blip r:embed="rId2"/>
          <a:stretch>
            <a:fillRect/>
          </a:stretch>
        </p:blipFill>
        <p:spPr>
          <a:xfrm>
            <a:off x="0" y="2518320"/>
            <a:ext cx="5490882" cy="4339680"/>
          </a:xfrm>
          <a:prstGeom prst="rect">
            <a:avLst/>
          </a:prstGeom>
        </p:spPr>
      </p:pic>
    </p:spTree>
    <p:extLst>
      <p:ext uri="{BB962C8B-B14F-4D97-AF65-F5344CB8AC3E}">
        <p14:creationId xmlns:p14="http://schemas.microsoft.com/office/powerpoint/2010/main" val="41695988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61B8C-3563-FE14-8958-3527E5C069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D3DBCA-F352-0F60-FD81-2BDF0D45FB44}"/>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957EE293-7E0A-3E8B-5B96-2CF741C6EC0E}"/>
              </a:ext>
            </a:extLst>
          </p:cNvPr>
          <p:cNvSpPr>
            <a:spLocks noGrp="1"/>
          </p:cNvSpPr>
          <p:nvPr>
            <p:ph idx="1"/>
          </p:nvPr>
        </p:nvSpPr>
        <p:spPr/>
        <p:txBody>
          <a:bodyPr/>
          <a:lstStyle/>
          <a:p>
            <a:r>
              <a:rPr lang="en-US" dirty="0"/>
              <a:t>Question #7: How did you determine whether FD001 contained multiple operating regimes, and why does that matter for modeling?  </a:t>
            </a:r>
          </a:p>
        </p:txBody>
      </p:sp>
    </p:spTree>
    <p:extLst>
      <p:ext uri="{BB962C8B-B14F-4D97-AF65-F5344CB8AC3E}">
        <p14:creationId xmlns:p14="http://schemas.microsoft.com/office/powerpoint/2010/main" val="20815665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B4A2C-C328-A843-F90F-3CB3FC456E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48AC8D-3DC9-A20C-62EB-4A1C98AB44B9}"/>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ECFC48A4-AD04-BD77-3480-1A93A413D614}"/>
              </a:ext>
            </a:extLst>
          </p:cNvPr>
          <p:cNvSpPr>
            <a:spLocks noGrp="1"/>
          </p:cNvSpPr>
          <p:nvPr>
            <p:ph idx="1"/>
          </p:nvPr>
        </p:nvSpPr>
        <p:spPr/>
        <p:txBody>
          <a:bodyPr/>
          <a:lstStyle/>
          <a:p>
            <a:r>
              <a:rPr lang="en-US" dirty="0"/>
              <a:t>Answer #7: </a:t>
            </a:r>
          </a:p>
        </p:txBody>
      </p:sp>
      <p:pic>
        <p:nvPicPr>
          <p:cNvPr id="4" name="Picture 3">
            <a:extLst>
              <a:ext uri="{FF2B5EF4-FFF2-40B4-BE49-F238E27FC236}">
                <a16:creationId xmlns:a16="http://schemas.microsoft.com/office/drawing/2014/main" id="{BE04A609-418F-8171-68E5-8DD9B8BE44FA}"/>
              </a:ext>
            </a:extLst>
          </p:cNvPr>
          <p:cNvPicPr>
            <a:picLocks noChangeAspect="1"/>
          </p:cNvPicPr>
          <p:nvPr/>
        </p:nvPicPr>
        <p:blipFill>
          <a:blip r:embed="rId2"/>
          <a:stretch>
            <a:fillRect/>
          </a:stretch>
        </p:blipFill>
        <p:spPr>
          <a:xfrm>
            <a:off x="0" y="3758756"/>
            <a:ext cx="7772400" cy="3099244"/>
          </a:xfrm>
          <a:prstGeom prst="rect">
            <a:avLst/>
          </a:prstGeom>
        </p:spPr>
      </p:pic>
    </p:spTree>
    <p:extLst>
      <p:ext uri="{BB962C8B-B14F-4D97-AF65-F5344CB8AC3E}">
        <p14:creationId xmlns:p14="http://schemas.microsoft.com/office/powerpoint/2010/main" val="412850448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B105D1-E458-8960-86BB-1EAF0523A2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DD8DA6-EA8B-CE09-36C0-CEED0DEC5F8B}"/>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32911350-6901-DC30-2B9D-5786995AFB40}"/>
              </a:ext>
            </a:extLst>
          </p:cNvPr>
          <p:cNvSpPr>
            <a:spLocks noGrp="1"/>
          </p:cNvSpPr>
          <p:nvPr>
            <p:ph idx="1"/>
          </p:nvPr>
        </p:nvSpPr>
        <p:spPr/>
        <p:txBody>
          <a:bodyPr/>
          <a:lstStyle/>
          <a:p>
            <a:r>
              <a:rPr lang="en-US" dirty="0"/>
              <a:t>Question #8: What were the most important modeling decisions produced by the EDA?  </a:t>
            </a:r>
          </a:p>
        </p:txBody>
      </p:sp>
    </p:spTree>
    <p:extLst>
      <p:ext uri="{BB962C8B-B14F-4D97-AF65-F5344CB8AC3E}">
        <p14:creationId xmlns:p14="http://schemas.microsoft.com/office/powerpoint/2010/main" val="598889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651D9-A467-63F9-466B-411B0F2B77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28FC1E-B637-B721-C6A0-9611F0BF8AD9}"/>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DC45776E-5773-C73E-5BE2-D4DDB7377AB3}"/>
              </a:ext>
            </a:extLst>
          </p:cNvPr>
          <p:cNvSpPr>
            <a:spLocks noGrp="1"/>
          </p:cNvSpPr>
          <p:nvPr>
            <p:ph idx="1"/>
          </p:nvPr>
        </p:nvSpPr>
        <p:spPr/>
        <p:txBody>
          <a:bodyPr/>
          <a:lstStyle/>
          <a:p>
            <a:r>
              <a:rPr lang="en-US" dirty="0"/>
              <a:t>Answer #8: </a:t>
            </a:r>
          </a:p>
        </p:txBody>
      </p:sp>
      <p:pic>
        <p:nvPicPr>
          <p:cNvPr id="4" name="Picture 3">
            <a:extLst>
              <a:ext uri="{FF2B5EF4-FFF2-40B4-BE49-F238E27FC236}">
                <a16:creationId xmlns:a16="http://schemas.microsoft.com/office/drawing/2014/main" id="{592C9DB3-504F-4194-DB8A-53809D6C53C6}"/>
              </a:ext>
            </a:extLst>
          </p:cNvPr>
          <p:cNvPicPr>
            <a:picLocks noChangeAspect="1"/>
          </p:cNvPicPr>
          <p:nvPr/>
        </p:nvPicPr>
        <p:blipFill>
          <a:blip r:embed="rId2"/>
          <a:stretch>
            <a:fillRect/>
          </a:stretch>
        </p:blipFill>
        <p:spPr>
          <a:xfrm>
            <a:off x="6577293" y="1320207"/>
            <a:ext cx="5614707" cy="5537793"/>
          </a:xfrm>
          <a:prstGeom prst="rect">
            <a:avLst/>
          </a:prstGeom>
        </p:spPr>
      </p:pic>
    </p:spTree>
    <p:extLst>
      <p:ext uri="{BB962C8B-B14F-4D97-AF65-F5344CB8AC3E}">
        <p14:creationId xmlns:p14="http://schemas.microsoft.com/office/powerpoint/2010/main" val="56173307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C8AF048F-8CC6-9B11-84C3-1F56453D60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FF66B3-DA26-95BB-486C-62BD90A2E01B}"/>
              </a:ext>
            </a:extLst>
          </p:cNvPr>
          <p:cNvSpPr>
            <a:spLocks noGrp="1"/>
          </p:cNvSpPr>
          <p:nvPr>
            <p:ph type="title"/>
          </p:nvPr>
        </p:nvSpPr>
        <p:spPr/>
        <p:txBody>
          <a:bodyPr/>
          <a:lstStyle/>
          <a:p>
            <a:r>
              <a:rPr lang="en-US" dirty="0"/>
              <a:t>Part 1: ML Foundations and Baseline System</a:t>
            </a:r>
          </a:p>
        </p:txBody>
      </p:sp>
      <p:sp>
        <p:nvSpPr>
          <p:cNvPr id="3" name="Content Placeholder 2">
            <a:extLst>
              <a:ext uri="{FF2B5EF4-FFF2-40B4-BE49-F238E27FC236}">
                <a16:creationId xmlns:a16="http://schemas.microsoft.com/office/drawing/2014/main" id="{32E368EF-CE23-4A10-B5EA-F326FB2D0CD0}"/>
              </a:ext>
            </a:extLst>
          </p:cNvPr>
          <p:cNvSpPr>
            <a:spLocks noGrp="1"/>
          </p:cNvSpPr>
          <p:nvPr>
            <p:ph idx="1"/>
          </p:nvPr>
        </p:nvSpPr>
        <p:spPr/>
        <p:txBody>
          <a:bodyPr/>
          <a:lstStyle/>
          <a:p>
            <a:r>
              <a:rPr lang="en-US" dirty="0"/>
              <a:t>Phase 1.3: Baseline Data Pipeline and Feature Engineering</a:t>
            </a:r>
          </a:p>
          <a:p>
            <a:pPr lvl="1"/>
            <a:r>
              <a:rPr lang="en-US" dirty="0"/>
              <a:t>Create leakage-safe feature sets </a:t>
            </a:r>
          </a:p>
          <a:p>
            <a:pPr lvl="1"/>
            <a:r>
              <a:rPr lang="en-US" dirty="0"/>
              <a:t>Remove unusable constant features </a:t>
            </a:r>
          </a:p>
          <a:p>
            <a:pPr lvl="1"/>
            <a:r>
              <a:rPr lang="en-US" dirty="0"/>
              <a:t>Add simple casual temporal features </a:t>
            </a:r>
          </a:p>
          <a:p>
            <a:pPr lvl="1"/>
            <a:r>
              <a:rPr lang="en-US" dirty="0"/>
              <a:t>Preserve engine grouping</a:t>
            </a:r>
          </a:p>
          <a:p>
            <a:pPr lvl="1"/>
            <a:r>
              <a:rPr lang="en-US" dirty="0"/>
              <a:t>Create train/validation splits by engine</a:t>
            </a:r>
          </a:p>
        </p:txBody>
      </p:sp>
    </p:spTree>
    <p:extLst>
      <p:ext uri="{BB962C8B-B14F-4D97-AF65-F5344CB8AC3E}">
        <p14:creationId xmlns:p14="http://schemas.microsoft.com/office/powerpoint/2010/main" val="731539975"/>
      </p:ext>
    </p:extLst>
  </p:cSld>
  <p:clrMapOvr>
    <a:overrideClrMapping bg1="lt1" tx1="dk1" bg2="lt2" tx2="dk2" accent1="accent1" accent2="accent2" accent3="accent3" accent4="accent4" accent5="accent5" accent6="accent6" hlink="hlink" folHlink="folHlink"/>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9309C-465C-B2A4-7C3B-20B790E9B1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AA206D-9C01-5717-8138-5B84A1F3C6D8}"/>
              </a:ext>
            </a:extLst>
          </p:cNvPr>
          <p:cNvSpPr>
            <a:spLocks noGrp="1"/>
          </p:cNvSpPr>
          <p:nvPr>
            <p:ph type="title"/>
          </p:nvPr>
        </p:nvSpPr>
        <p:spPr/>
        <p:txBody>
          <a:bodyPr/>
          <a:lstStyle/>
          <a:p>
            <a:r>
              <a:rPr lang="en-US" dirty="0"/>
              <a:t>Phase 1.3: Baseline Data Pipeline and Feature Engineering</a:t>
            </a:r>
          </a:p>
        </p:txBody>
      </p:sp>
      <p:sp>
        <p:nvSpPr>
          <p:cNvPr id="3" name="Content Placeholder 2">
            <a:extLst>
              <a:ext uri="{FF2B5EF4-FFF2-40B4-BE49-F238E27FC236}">
                <a16:creationId xmlns:a16="http://schemas.microsoft.com/office/drawing/2014/main" id="{FE0F6766-667F-1DDB-B7E5-AEEDC52D222A}"/>
              </a:ext>
            </a:extLst>
          </p:cNvPr>
          <p:cNvSpPr>
            <a:spLocks noGrp="1"/>
          </p:cNvSpPr>
          <p:nvPr>
            <p:ph idx="1"/>
          </p:nvPr>
        </p:nvSpPr>
        <p:spPr/>
        <p:txBody>
          <a:bodyPr/>
          <a:lstStyle/>
          <a:p>
            <a:r>
              <a:rPr lang="en-US" dirty="0"/>
              <a:t>Question #1: Which columns were included in the baseline feature set, which were excluded, and why? </a:t>
            </a:r>
          </a:p>
        </p:txBody>
      </p:sp>
    </p:spTree>
    <p:extLst>
      <p:ext uri="{BB962C8B-B14F-4D97-AF65-F5344CB8AC3E}">
        <p14:creationId xmlns:p14="http://schemas.microsoft.com/office/powerpoint/2010/main" val="233815186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71B7A-D304-490C-3528-1F6A26F9E1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EF8A0B-BC8C-BDF1-D3D4-316C895956F6}"/>
              </a:ext>
            </a:extLst>
          </p:cNvPr>
          <p:cNvSpPr>
            <a:spLocks noGrp="1"/>
          </p:cNvSpPr>
          <p:nvPr>
            <p:ph type="title"/>
          </p:nvPr>
        </p:nvSpPr>
        <p:spPr/>
        <p:txBody>
          <a:bodyPr/>
          <a:lstStyle/>
          <a:p>
            <a:r>
              <a:rPr lang="en-US" dirty="0"/>
              <a:t>Phase 1.3: Baseline Data Pipeline and Feature Engineering</a:t>
            </a:r>
          </a:p>
        </p:txBody>
      </p:sp>
      <p:sp>
        <p:nvSpPr>
          <p:cNvPr id="3" name="Content Placeholder 2">
            <a:extLst>
              <a:ext uri="{FF2B5EF4-FFF2-40B4-BE49-F238E27FC236}">
                <a16:creationId xmlns:a16="http://schemas.microsoft.com/office/drawing/2014/main" id="{BE031970-5D6A-E814-CD3E-936641EF348F}"/>
              </a:ext>
            </a:extLst>
          </p:cNvPr>
          <p:cNvSpPr>
            <a:spLocks noGrp="1"/>
          </p:cNvSpPr>
          <p:nvPr>
            <p:ph idx="1"/>
          </p:nvPr>
        </p:nvSpPr>
        <p:spPr/>
        <p:txBody>
          <a:bodyPr/>
          <a:lstStyle/>
          <a:p>
            <a:r>
              <a:rPr lang="en-US" dirty="0"/>
              <a:t>Answer #1:</a:t>
            </a:r>
          </a:p>
        </p:txBody>
      </p:sp>
      <p:pic>
        <p:nvPicPr>
          <p:cNvPr id="4" name="Picture 3">
            <a:extLst>
              <a:ext uri="{FF2B5EF4-FFF2-40B4-BE49-F238E27FC236}">
                <a16:creationId xmlns:a16="http://schemas.microsoft.com/office/drawing/2014/main" id="{5F6E6748-EE8C-4EA2-9B8E-D585130FC592}"/>
              </a:ext>
            </a:extLst>
          </p:cNvPr>
          <p:cNvPicPr>
            <a:picLocks noChangeAspect="1"/>
          </p:cNvPicPr>
          <p:nvPr/>
        </p:nvPicPr>
        <p:blipFill>
          <a:blip r:embed="rId2"/>
          <a:stretch>
            <a:fillRect/>
          </a:stretch>
        </p:blipFill>
        <p:spPr>
          <a:xfrm>
            <a:off x="6182863" y="1150517"/>
            <a:ext cx="6009137" cy="5701553"/>
          </a:xfrm>
          <a:prstGeom prst="rect">
            <a:avLst/>
          </a:prstGeom>
        </p:spPr>
      </p:pic>
    </p:spTree>
    <p:extLst>
      <p:ext uri="{BB962C8B-B14F-4D97-AF65-F5344CB8AC3E}">
        <p14:creationId xmlns:p14="http://schemas.microsoft.com/office/powerpoint/2010/main" val="40256069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515EE-E68E-5601-BEBD-39C7BC9E4C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2DE4D9-1A33-18A3-31D4-32279B594E00}"/>
              </a:ext>
            </a:extLst>
          </p:cNvPr>
          <p:cNvSpPr>
            <a:spLocks noGrp="1"/>
          </p:cNvSpPr>
          <p:nvPr>
            <p:ph type="title"/>
          </p:nvPr>
        </p:nvSpPr>
        <p:spPr/>
        <p:txBody>
          <a:bodyPr/>
          <a:lstStyle/>
          <a:p>
            <a:r>
              <a:rPr lang="en-US" dirty="0"/>
              <a:t>Phase 1.3: Baseline Data Pipeline and Feature Engineering</a:t>
            </a:r>
          </a:p>
        </p:txBody>
      </p:sp>
      <p:sp>
        <p:nvSpPr>
          <p:cNvPr id="3" name="Content Placeholder 2">
            <a:extLst>
              <a:ext uri="{FF2B5EF4-FFF2-40B4-BE49-F238E27FC236}">
                <a16:creationId xmlns:a16="http://schemas.microsoft.com/office/drawing/2014/main" id="{9CC0197C-18F0-B753-6F6A-D63380F27AB0}"/>
              </a:ext>
            </a:extLst>
          </p:cNvPr>
          <p:cNvSpPr>
            <a:spLocks noGrp="1"/>
          </p:cNvSpPr>
          <p:nvPr>
            <p:ph idx="1"/>
          </p:nvPr>
        </p:nvSpPr>
        <p:spPr/>
        <p:txBody>
          <a:bodyPr/>
          <a:lstStyle/>
          <a:p>
            <a:r>
              <a:rPr lang="en-US" dirty="0"/>
              <a:t>Question #2: What is the correct order of operations in the baseline data pipeline, and what would go wring if preprocessing were performance before splitting the engines? </a:t>
            </a:r>
          </a:p>
        </p:txBody>
      </p:sp>
    </p:spTree>
    <p:extLst>
      <p:ext uri="{BB962C8B-B14F-4D97-AF65-F5344CB8AC3E}">
        <p14:creationId xmlns:p14="http://schemas.microsoft.com/office/powerpoint/2010/main" val="179600803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9F6F5-3BB6-D145-4AA3-2C0F5F717E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329044-FB55-BF7B-73D0-204FF42AE9A2}"/>
              </a:ext>
            </a:extLst>
          </p:cNvPr>
          <p:cNvSpPr>
            <a:spLocks noGrp="1"/>
          </p:cNvSpPr>
          <p:nvPr>
            <p:ph type="title"/>
          </p:nvPr>
        </p:nvSpPr>
        <p:spPr/>
        <p:txBody>
          <a:bodyPr/>
          <a:lstStyle/>
          <a:p>
            <a:r>
              <a:rPr lang="en-US" dirty="0"/>
              <a:t>Phase 1.3: Baseline Data Pipeline and Feature Engineering</a:t>
            </a:r>
          </a:p>
        </p:txBody>
      </p:sp>
      <p:sp>
        <p:nvSpPr>
          <p:cNvPr id="3" name="Content Placeholder 2">
            <a:extLst>
              <a:ext uri="{FF2B5EF4-FFF2-40B4-BE49-F238E27FC236}">
                <a16:creationId xmlns:a16="http://schemas.microsoft.com/office/drawing/2014/main" id="{215B2D84-BFD2-3D5B-641E-F51AE2D00B98}"/>
              </a:ext>
            </a:extLst>
          </p:cNvPr>
          <p:cNvSpPr>
            <a:spLocks noGrp="1"/>
          </p:cNvSpPr>
          <p:nvPr>
            <p:ph idx="1"/>
          </p:nvPr>
        </p:nvSpPr>
        <p:spPr/>
        <p:txBody>
          <a:bodyPr/>
          <a:lstStyle/>
          <a:p>
            <a:r>
              <a:rPr lang="en-US" dirty="0"/>
              <a:t>Answer #2:</a:t>
            </a:r>
          </a:p>
        </p:txBody>
      </p:sp>
      <p:pic>
        <p:nvPicPr>
          <p:cNvPr id="5" name="Picture 4">
            <a:extLst>
              <a:ext uri="{FF2B5EF4-FFF2-40B4-BE49-F238E27FC236}">
                <a16:creationId xmlns:a16="http://schemas.microsoft.com/office/drawing/2014/main" id="{483CE884-62C9-C4F5-D187-9812E8207ADD}"/>
              </a:ext>
            </a:extLst>
          </p:cNvPr>
          <p:cNvPicPr>
            <a:picLocks noChangeAspect="1"/>
          </p:cNvPicPr>
          <p:nvPr/>
        </p:nvPicPr>
        <p:blipFill>
          <a:blip r:embed="rId2"/>
          <a:stretch>
            <a:fillRect/>
          </a:stretch>
        </p:blipFill>
        <p:spPr>
          <a:xfrm>
            <a:off x="0" y="3892177"/>
            <a:ext cx="6096000" cy="2965824"/>
          </a:xfrm>
          <a:prstGeom prst="rect">
            <a:avLst/>
          </a:prstGeom>
        </p:spPr>
      </p:pic>
      <p:pic>
        <p:nvPicPr>
          <p:cNvPr id="6" name="Picture 5">
            <a:extLst>
              <a:ext uri="{FF2B5EF4-FFF2-40B4-BE49-F238E27FC236}">
                <a16:creationId xmlns:a16="http://schemas.microsoft.com/office/drawing/2014/main" id="{13DFA0B3-B235-EF6D-B815-0CC32C0FDDED}"/>
              </a:ext>
            </a:extLst>
          </p:cNvPr>
          <p:cNvPicPr>
            <a:picLocks noChangeAspect="1"/>
          </p:cNvPicPr>
          <p:nvPr/>
        </p:nvPicPr>
        <p:blipFill>
          <a:blip r:embed="rId3"/>
          <a:stretch>
            <a:fillRect/>
          </a:stretch>
        </p:blipFill>
        <p:spPr>
          <a:xfrm>
            <a:off x="6096001" y="2030244"/>
            <a:ext cx="6096000" cy="2970036"/>
          </a:xfrm>
          <a:prstGeom prst="rect">
            <a:avLst/>
          </a:prstGeom>
        </p:spPr>
      </p:pic>
    </p:spTree>
    <p:extLst>
      <p:ext uri="{BB962C8B-B14F-4D97-AF65-F5344CB8AC3E}">
        <p14:creationId xmlns:p14="http://schemas.microsoft.com/office/powerpoint/2010/main" val="31593419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9F285-C801-394A-E68C-35AFD31301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6D472-A2A6-78F0-B68C-73A959DAA519}"/>
              </a:ext>
            </a:extLst>
          </p:cNvPr>
          <p:cNvSpPr>
            <a:spLocks noGrp="1"/>
          </p:cNvSpPr>
          <p:nvPr>
            <p:ph type="title"/>
          </p:nvPr>
        </p:nvSpPr>
        <p:spPr/>
        <p:txBody>
          <a:bodyPr/>
          <a:lstStyle/>
          <a:p>
            <a:r>
              <a:rPr lang="en-US" dirty="0"/>
              <a:t>Phase 1.3: Baseline Data Pipeline and Feature Engineering</a:t>
            </a:r>
          </a:p>
        </p:txBody>
      </p:sp>
      <p:sp>
        <p:nvSpPr>
          <p:cNvPr id="3" name="Content Placeholder 2">
            <a:extLst>
              <a:ext uri="{FF2B5EF4-FFF2-40B4-BE49-F238E27FC236}">
                <a16:creationId xmlns:a16="http://schemas.microsoft.com/office/drawing/2014/main" id="{02D82A2D-3604-A4D6-6515-2380347E5867}"/>
              </a:ext>
            </a:extLst>
          </p:cNvPr>
          <p:cNvSpPr>
            <a:spLocks noGrp="1"/>
          </p:cNvSpPr>
          <p:nvPr>
            <p:ph idx="1"/>
          </p:nvPr>
        </p:nvSpPr>
        <p:spPr/>
        <p:txBody>
          <a:bodyPr/>
          <a:lstStyle/>
          <a:p>
            <a:r>
              <a:rPr lang="en-US" dirty="0"/>
              <a:t>Question #3: What temporal features could improve RUL prediction, and how would you construct them without introducing future-data leakage? </a:t>
            </a:r>
          </a:p>
        </p:txBody>
      </p:sp>
    </p:spTree>
    <p:extLst>
      <p:ext uri="{BB962C8B-B14F-4D97-AF65-F5344CB8AC3E}">
        <p14:creationId xmlns:p14="http://schemas.microsoft.com/office/powerpoint/2010/main" val="18869352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79A9F-33E8-A9D0-0BB1-52D3C558EE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D8096A-0333-47F6-D74E-E9017EE40E8E}"/>
              </a:ext>
            </a:extLst>
          </p:cNvPr>
          <p:cNvSpPr>
            <a:spLocks noGrp="1"/>
          </p:cNvSpPr>
          <p:nvPr>
            <p:ph type="title"/>
          </p:nvPr>
        </p:nvSpPr>
        <p:spPr/>
        <p:txBody>
          <a:bodyPr/>
          <a:lstStyle/>
          <a:p>
            <a:r>
              <a:rPr lang="en-US" dirty="0"/>
              <a:t>Phase 1.3: Baseline Data Pipeline and Feature Engineering</a:t>
            </a:r>
          </a:p>
        </p:txBody>
      </p:sp>
      <p:sp>
        <p:nvSpPr>
          <p:cNvPr id="3" name="Content Placeholder 2">
            <a:extLst>
              <a:ext uri="{FF2B5EF4-FFF2-40B4-BE49-F238E27FC236}">
                <a16:creationId xmlns:a16="http://schemas.microsoft.com/office/drawing/2014/main" id="{F272EB29-799C-511D-7308-42EB5A7117BB}"/>
              </a:ext>
            </a:extLst>
          </p:cNvPr>
          <p:cNvSpPr>
            <a:spLocks noGrp="1"/>
          </p:cNvSpPr>
          <p:nvPr>
            <p:ph idx="1"/>
          </p:nvPr>
        </p:nvSpPr>
        <p:spPr/>
        <p:txBody>
          <a:bodyPr/>
          <a:lstStyle/>
          <a:p>
            <a:r>
              <a:rPr lang="en-US" dirty="0"/>
              <a:t>Answer #3:</a:t>
            </a:r>
          </a:p>
        </p:txBody>
      </p:sp>
      <p:pic>
        <p:nvPicPr>
          <p:cNvPr id="4" name="Picture 3">
            <a:extLst>
              <a:ext uri="{FF2B5EF4-FFF2-40B4-BE49-F238E27FC236}">
                <a16:creationId xmlns:a16="http://schemas.microsoft.com/office/drawing/2014/main" id="{8B013926-CD67-4B68-2961-ACAFBA5845FA}"/>
              </a:ext>
            </a:extLst>
          </p:cNvPr>
          <p:cNvPicPr>
            <a:picLocks noChangeAspect="1"/>
          </p:cNvPicPr>
          <p:nvPr/>
        </p:nvPicPr>
        <p:blipFill>
          <a:blip r:embed="rId2"/>
          <a:stretch>
            <a:fillRect/>
          </a:stretch>
        </p:blipFill>
        <p:spPr>
          <a:xfrm>
            <a:off x="1" y="2742510"/>
            <a:ext cx="4446494" cy="4115490"/>
          </a:xfrm>
          <a:prstGeom prst="rect">
            <a:avLst/>
          </a:prstGeom>
        </p:spPr>
      </p:pic>
      <p:pic>
        <p:nvPicPr>
          <p:cNvPr id="5" name="Picture 4">
            <a:extLst>
              <a:ext uri="{FF2B5EF4-FFF2-40B4-BE49-F238E27FC236}">
                <a16:creationId xmlns:a16="http://schemas.microsoft.com/office/drawing/2014/main" id="{226C553F-C3C1-B8CA-25FB-1DF58A751592}"/>
              </a:ext>
            </a:extLst>
          </p:cNvPr>
          <p:cNvPicPr>
            <a:picLocks noChangeAspect="1"/>
          </p:cNvPicPr>
          <p:nvPr/>
        </p:nvPicPr>
        <p:blipFill>
          <a:blip r:embed="rId3"/>
          <a:stretch>
            <a:fillRect/>
          </a:stretch>
        </p:blipFill>
        <p:spPr>
          <a:xfrm>
            <a:off x="4419599" y="1567286"/>
            <a:ext cx="7772400" cy="2350448"/>
          </a:xfrm>
          <a:prstGeom prst="rect">
            <a:avLst/>
          </a:prstGeom>
        </p:spPr>
      </p:pic>
    </p:spTree>
    <p:extLst>
      <p:ext uri="{BB962C8B-B14F-4D97-AF65-F5344CB8AC3E}">
        <p14:creationId xmlns:p14="http://schemas.microsoft.com/office/powerpoint/2010/main" val="328873019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9BAB8E34-996E-ABFE-FD08-EC5C911D3E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89ED8D-5E56-ACAE-A98E-A7340B82720B}"/>
              </a:ext>
            </a:extLst>
          </p:cNvPr>
          <p:cNvSpPr>
            <a:spLocks noGrp="1"/>
          </p:cNvSpPr>
          <p:nvPr>
            <p:ph type="title"/>
          </p:nvPr>
        </p:nvSpPr>
        <p:spPr/>
        <p:txBody>
          <a:bodyPr/>
          <a:lstStyle/>
          <a:p>
            <a:r>
              <a:rPr lang="en-US" dirty="0"/>
              <a:t>Part 1: ML Foundations and Baseline System</a:t>
            </a:r>
          </a:p>
        </p:txBody>
      </p:sp>
      <p:sp>
        <p:nvSpPr>
          <p:cNvPr id="3" name="Content Placeholder 2">
            <a:extLst>
              <a:ext uri="{FF2B5EF4-FFF2-40B4-BE49-F238E27FC236}">
                <a16:creationId xmlns:a16="http://schemas.microsoft.com/office/drawing/2014/main" id="{AAFB3C26-767F-E953-4189-97A175A31B96}"/>
              </a:ext>
            </a:extLst>
          </p:cNvPr>
          <p:cNvSpPr>
            <a:spLocks noGrp="1"/>
          </p:cNvSpPr>
          <p:nvPr>
            <p:ph idx="1"/>
          </p:nvPr>
        </p:nvSpPr>
        <p:spPr/>
        <p:txBody>
          <a:bodyPr/>
          <a:lstStyle/>
          <a:p>
            <a:r>
              <a:rPr lang="en-US" dirty="0"/>
              <a:t>Phase 1.4: Baseline Modeling and Evaluation</a:t>
            </a:r>
          </a:p>
          <a:p>
            <a:pPr lvl="1"/>
            <a:r>
              <a:rPr lang="en-US" dirty="0"/>
              <a:t>Establish simple benchmarks</a:t>
            </a:r>
          </a:p>
          <a:p>
            <a:pPr lvl="1"/>
            <a:r>
              <a:rPr lang="en-US" dirty="0"/>
              <a:t>Train baseline regression models</a:t>
            </a:r>
          </a:p>
          <a:p>
            <a:pPr lvl="1"/>
            <a:r>
              <a:rPr lang="en-US" dirty="0"/>
              <a:t>Evaluate with grouped validation</a:t>
            </a:r>
          </a:p>
          <a:p>
            <a:pPr lvl="1"/>
            <a:r>
              <a:rPr lang="en-US" dirty="0"/>
              <a:t>Compare cycle-only, sensor-only, and combined models</a:t>
            </a:r>
          </a:p>
          <a:p>
            <a:pPr lvl="1"/>
            <a:r>
              <a:rPr lang="en-US" dirty="0"/>
              <a:t>Perform error analysis</a:t>
            </a:r>
          </a:p>
          <a:p>
            <a:pPr lvl="1"/>
            <a:r>
              <a:rPr lang="en-US" dirty="0"/>
              <a:t>Select a baseline model</a:t>
            </a:r>
          </a:p>
        </p:txBody>
      </p:sp>
    </p:spTree>
    <p:extLst>
      <p:ext uri="{BB962C8B-B14F-4D97-AF65-F5344CB8AC3E}">
        <p14:creationId xmlns:p14="http://schemas.microsoft.com/office/powerpoint/2010/main" val="955365281"/>
      </p:ext>
    </p:extLst>
  </p:cSld>
  <p:clrMapOvr>
    <a:overrideClrMapping bg1="lt1" tx1="dk1" bg2="lt2" tx2="dk2" accent1="accent1" accent2="accent2" accent3="accent3" accent4="accent4" accent5="accent5" accent6="accent6" hlink="hlink" folHlink="folHlink"/>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6B0DC9-7DAB-D118-2174-DF58440F4E14}"/>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78181B3C-F24B-0EBA-CE9D-2341FA8A6AC1}"/>
              </a:ext>
            </a:extLst>
          </p:cNvPr>
          <p:cNvSpPr>
            <a:spLocks noGrp="1"/>
          </p:cNvSpPr>
          <p:nvPr>
            <p:ph idx="1"/>
          </p:nvPr>
        </p:nvSpPr>
        <p:spPr/>
        <p:txBody>
          <a:bodyPr/>
          <a:lstStyle/>
          <a:p>
            <a:r>
              <a:rPr lang="en-US" dirty="0"/>
              <a:t>Question #1: Which baseline models did you compare, and what does each baseline tell you about the difficulty of the RUL prediction problem?  </a:t>
            </a:r>
          </a:p>
        </p:txBody>
      </p:sp>
    </p:spTree>
    <p:extLst>
      <p:ext uri="{BB962C8B-B14F-4D97-AF65-F5344CB8AC3E}">
        <p14:creationId xmlns:p14="http://schemas.microsoft.com/office/powerpoint/2010/main" val="23896914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7C3E7-BD1A-B823-A2B5-D99B8BCD8E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42A5A1-86B9-3A19-F5A8-E73796A662AB}"/>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A0CB4A2E-EAC8-F57A-C554-372635841978}"/>
              </a:ext>
            </a:extLst>
          </p:cNvPr>
          <p:cNvSpPr>
            <a:spLocks noGrp="1"/>
          </p:cNvSpPr>
          <p:nvPr>
            <p:ph idx="1"/>
          </p:nvPr>
        </p:nvSpPr>
        <p:spPr/>
        <p:txBody>
          <a:bodyPr/>
          <a:lstStyle/>
          <a:p>
            <a:r>
              <a:rPr lang="en-US" dirty="0"/>
              <a:t>Answer #1: </a:t>
            </a:r>
          </a:p>
        </p:txBody>
      </p:sp>
      <p:pic>
        <p:nvPicPr>
          <p:cNvPr id="4" name="Picture 3">
            <a:extLst>
              <a:ext uri="{FF2B5EF4-FFF2-40B4-BE49-F238E27FC236}">
                <a16:creationId xmlns:a16="http://schemas.microsoft.com/office/drawing/2014/main" id="{698AEC63-F659-FF28-2579-4D7F3C00E35E}"/>
              </a:ext>
            </a:extLst>
          </p:cNvPr>
          <p:cNvPicPr>
            <a:picLocks noChangeAspect="1"/>
          </p:cNvPicPr>
          <p:nvPr/>
        </p:nvPicPr>
        <p:blipFill>
          <a:blip r:embed="rId2"/>
          <a:stretch>
            <a:fillRect/>
          </a:stretch>
        </p:blipFill>
        <p:spPr>
          <a:xfrm>
            <a:off x="0" y="3429000"/>
            <a:ext cx="5495193" cy="3429000"/>
          </a:xfrm>
          <a:prstGeom prst="rect">
            <a:avLst/>
          </a:prstGeom>
        </p:spPr>
      </p:pic>
      <p:pic>
        <p:nvPicPr>
          <p:cNvPr id="5" name="Picture 4">
            <a:extLst>
              <a:ext uri="{FF2B5EF4-FFF2-40B4-BE49-F238E27FC236}">
                <a16:creationId xmlns:a16="http://schemas.microsoft.com/office/drawing/2014/main" id="{8CA7072C-ECC5-3F88-08CF-23EA74CA3600}"/>
              </a:ext>
            </a:extLst>
          </p:cNvPr>
          <p:cNvPicPr>
            <a:picLocks noChangeAspect="1"/>
          </p:cNvPicPr>
          <p:nvPr/>
        </p:nvPicPr>
        <p:blipFill>
          <a:blip r:embed="rId3"/>
          <a:stretch>
            <a:fillRect/>
          </a:stretch>
        </p:blipFill>
        <p:spPr>
          <a:xfrm>
            <a:off x="5567082" y="1473767"/>
            <a:ext cx="6624918" cy="2439064"/>
          </a:xfrm>
          <a:prstGeom prst="rect">
            <a:avLst/>
          </a:prstGeom>
        </p:spPr>
      </p:pic>
    </p:spTree>
    <p:extLst>
      <p:ext uri="{BB962C8B-B14F-4D97-AF65-F5344CB8AC3E}">
        <p14:creationId xmlns:p14="http://schemas.microsoft.com/office/powerpoint/2010/main" val="231447696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EEE7D-9154-696A-CA0C-53A6F80516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3F2711-F6E7-F69F-CB1D-800087BC2447}"/>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55FAC941-AE90-CA34-9536-DF18BEF07CB5}"/>
              </a:ext>
            </a:extLst>
          </p:cNvPr>
          <p:cNvSpPr>
            <a:spLocks noGrp="1"/>
          </p:cNvSpPr>
          <p:nvPr>
            <p:ph idx="1"/>
          </p:nvPr>
        </p:nvSpPr>
        <p:spPr/>
        <p:txBody>
          <a:bodyPr/>
          <a:lstStyle/>
          <a:p>
            <a:r>
              <a:rPr lang="en-US" dirty="0"/>
              <a:t>Question #2: How was the validation strategy designed, and why would randomly splitting individual rows produce misleading results?  </a:t>
            </a:r>
          </a:p>
        </p:txBody>
      </p:sp>
    </p:spTree>
    <p:extLst>
      <p:ext uri="{BB962C8B-B14F-4D97-AF65-F5344CB8AC3E}">
        <p14:creationId xmlns:p14="http://schemas.microsoft.com/office/powerpoint/2010/main" val="41629779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21FAA-4F2A-65A5-999F-BE9C6C6FA3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6EEE1D-122A-B3ED-219F-BE4119AC0CD3}"/>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3DA955CD-0E20-7259-91D8-0D553B5EA0E2}"/>
              </a:ext>
            </a:extLst>
          </p:cNvPr>
          <p:cNvSpPr>
            <a:spLocks noGrp="1"/>
          </p:cNvSpPr>
          <p:nvPr>
            <p:ph idx="1"/>
          </p:nvPr>
        </p:nvSpPr>
        <p:spPr/>
        <p:txBody>
          <a:bodyPr/>
          <a:lstStyle/>
          <a:p>
            <a:r>
              <a:rPr lang="en-US" dirty="0"/>
              <a:t>Answer #2: </a:t>
            </a:r>
          </a:p>
        </p:txBody>
      </p:sp>
      <p:pic>
        <p:nvPicPr>
          <p:cNvPr id="4" name="Picture 3">
            <a:extLst>
              <a:ext uri="{FF2B5EF4-FFF2-40B4-BE49-F238E27FC236}">
                <a16:creationId xmlns:a16="http://schemas.microsoft.com/office/drawing/2014/main" id="{4E0B07C2-A61E-C33D-87E0-BBE8F55DFB90}"/>
              </a:ext>
            </a:extLst>
          </p:cNvPr>
          <p:cNvPicPr>
            <a:picLocks noChangeAspect="1"/>
          </p:cNvPicPr>
          <p:nvPr/>
        </p:nvPicPr>
        <p:blipFill>
          <a:blip r:embed="rId2"/>
          <a:stretch>
            <a:fillRect/>
          </a:stretch>
        </p:blipFill>
        <p:spPr>
          <a:xfrm>
            <a:off x="0" y="4045658"/>
            <a:ext cx="6387353" cy="2812342"/>
          </a:xfrm>
          <a:prstGeom prst="rect">
            <a:avLst/>
          </a:prstGeom>
        </p:spPr>
      </p:pic>
      <p:pic>
        <p:nvPicPr>
          <p:cNvPr id="5" name="Picture 4">
            <a:extLst>
              <a:ext uri="{FF2B5EF4-FFF2-40B4-BE49-F238E27FC236}">
                <a16:creationId xmlns:a16="http://schemas.microsoft.com/office/drawing/2014/main" id="{7007DBF8-4EDB-4A35-8C4C-751F7411E01C}"/>
              </a:ext>
            </a:extLst>
          </p:cNvPr>
          <p:cNvPicPr>
            <a:picLocks noChangeAspect="1"/>
          </p:cNvPicPr>
          <p:nvPr/>
        </p:nvPicPr>
        <p:blipFill>
          <a:blip r:embed="rId3"/>
          <a:stretch>
            <a:fillRect/>
          </a:stretch>
        </p:blipFill>
        <p:spPr>
          <a:xfrm>
            <a:off x="4419600" y="1542350"/>
            <a:ext cx="7772400" cy="2651646"/>
          </a:xfrm>
          <a:prstGeom prst="rect">
            <a:avLst/>
          </a:prstGeom>
        </p:spPr>
      </p:pic>
    </p:spTree>
    <p:extLst>
      <p:ext uri="{BB962C8B-B14F-4D97-AF65-F5344CB8AC3E}">
        <p14:creationId xmlns:p14="http://schemas.microsoft.com/office/powerpoint/2010/main" val="21145306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79FA0-2A36-C370-355E-D68C7A6A16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42BB78-E6D3-E570-3F2B-10DFAFFD2973}"/>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02DA32AB-A3E3-8E11-5CFF-79BA9316841B}"/>
              </a:ext>
            </a:extLst>
          </p:cNvPr>
          <p:cNvSpPr>
            <a:spLocks noGrp="1"/>
          </p:cNvSpPr>
          <p:nvPr>
            <p:ph idx="1"/>
          </p:nvPr>
        </p:nvSpPr>
        <p:spPr/>
        <p:txBody>
          <a:bodyPr/>
          <a:lstStyle/>
          <a:p>
            <a:r>
              <a:rPr lang="en-US" dirty="0"/>
              <a:t>Question #3: Which metrics did you use to evaluate RUL predictions, and why should performance be examined at more than one level?  </a:t>
            </a:r>
          </a:p>
        </p:txBody>
      </p:sp>
    </p:spTree>
    <p:extLst>
      <p:ext uri="{BB962C8B-B14F-4D97-AF65-F5344CB8AC3E}">
        <p14:creationId xmlns:p14="http://schemas.microsoft.com/office/powerpoint/2010/main" val="347944804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82267-3A87-B5C0-4386-B0BD4C0672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AD2BB3-9EF6-8A2D-691C-7A3C1F80CAB0}"/>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E007D454-8890-F5F5-7F37-C1C138E272C9}"/>
              </a:ext>
            </a:extLst>
          </p:cNvPr>
          <p:cNvSpPr>
            <a:spLocks noGrp="1"/>
          </p:cNvSpPr>
          <p:nvPr>
            <p:ph idx="1"/>
          </p:nvPr>
        </p:nvSpPr>
        <p:spPr/>
        <p:txBody>
          <a:bodyPr/>
          <a:lstStyle/>
          <a:p>
            <a:r>
              <a:rPr lang="en-US" dirty="0"/>
              <a:t>Answer #3: </a:t>
            </a:r>
          </a:p>
        </p:txBody>
      </p:sp>
      <p:pic>
        <p:nvPicPr>
          <p:cNvPr id="4" name="Picture 3">
            <a:extLst>
              <a:ext uri="{FF2B5EF4-FFF2-40B4-BE49-F238E27FC236}">
                <a16:creationId xmlns:a16="http://schemas.microsoft.com/office/drawing/2014/main" id="{FFB2461A-0D24-36B4-D450-D7E3FCB0A9FB}"/>
              </a:ext>
            </a:extLst>
          </p:cNvPr>
          <p:cNvPicPr>
            <a:picLocks noChangeAspect="1"/>
          </p:cNvPicPr>
          <p:nvPr/>
        </p:nvPicPr>
        <p:blipFill>
          <a:blip r:embed="rId2"/>
          <a:stretch>
            <a:fillRect/>
          </a:stretch>
        </p:blipFill>
        <p:spPr>
          <a:xfrm>
            <a:off x="0" y="3389915"/>
            <a:ext cx="5159992" cy="3468085"/>
          </a:xfrm>
          <a:prstGeom prst="rect">
            <a:avLst/>
          </a:prstGeom>
        </p:spPr>
      </p:pic>
      <p:pic>
        <p:nvPicPr>
          <p:cNvPr id="5" name="Picture 4">
            <a:extLst>
              <a:ext uri="{FF2B5EF4-FFF2-40B4-BE49-F238E27FC236}">
                <a16:creationId xmlns:a16="http://schemas.microsoft.com/office/drawing/2014/main" id="{60D20D95-EF47-71AE-8C6A-9FF9E429F4DF}"/>
              </a:ext>
            </a:extLst>
          </p:cNvPr>
          <p:cNvPicPr>
            <a:picLocks noChangeAspect="1"/>
          </p:cNvPicPr>
          <p:nvPr/>
        </p:nvPicPr>
        <p:blipFill>
          <a:blip r:embed="rId3"/>
          <a:stretch>
            <a:fillRect/>
          </a:stretch>
        </p:blipFill>
        <p:spPr>
          <a:xfrm>
            <a:off x="5159992" y="1577223"/>
            <a:ext cx="7032008" cy="2152825"/>
          </a:xfrm>
          <a:prstGeom prst="rect">
            <a:avLst/>
          </a:prstGeom>
        </p:spPr>
      </p:pic>
    </p:spTree>
    <p:extLst>
      <p:ext uri="{BB962C8B-B14F-4D97-AF65-F5344CB8AC3E}">
        <p14:creationId xmlns:p14="http://schemas.microsoft.com/office/powerpoint/2010/main" val="40574672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91200-A92D-EE9C-9D95-0A3BF0237C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448AB3-0AF4-4EEF-C37C-F12AD74B1EAA}"/>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D506AFD8-078F-D528-A5BF-03A755DA145F}"/>
              </a:ext>
            </a:extLst>
          </p:cNvPr>
          <p:cNvSpPr>
            <a:spLocks noGrp="1"/>
          </p:cNvSpPr>
          <p:nvPr>
            <p:ph idx="1"/>
          </p:nvPr>
        </p:nvSpPr>
        <p:spPr/>
        <p:txBody>
          <a:bodyPr/>
          <a:lstStyle/>
          <a:p>
            <a:r>
              <a:rPr lang="en-US" dirty="0"/>
              <a:t>Question #4: How did you select the baseline model, and what kinds of errors or failure patterns did you examine beyond the overall score?  </a:t>
            </a:r>
          </a:p>
        </p:txBody>
      </p:sp>
    </p:spTree>
    <p:extLst>
      <p:ext uri="{BB962C8B-B14F-4D97-AF65-F5344CB8AC3E}">
        <p14:creationId xmlns:p14="http://schemas.microsoft.com/office/powerpoint/2010/main" val="385355102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A9AD31-BF41-2238-AF0F-E139337C64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171E2C-1955-9732-540F-2CF0AB7FC739}"/>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69C6B0BD-5964-91BE-48BE-542A3BD7B03D}"/>
              </a:ext>
            </a:extLst>
          </p:cNvPr>
          <p:cNvSpPr>
            <a:spLocks noGrp="1"/>
          </p:cNvSpPr>
          <p:nvPr>
            <p:ph idx="1"/>
          </p:nvPr>
        </p:nvSpPr>
        <p:spPr/>
        <p:txBody>
          <a:bodyPr/>
          <a:lstStyle/>
          <a:p>
            <a:r>
              <a:rPr lang="en-US" dirty="0"/>
              <a:t>Answer #4: </a:t>
            </a:r>
          </a:p>
        </p:txBody>
      </p:sp>
      <p:pic>
        <p:nvPicPr>
          <p:cNvPr id="4" name="Picture 3">
            <a:extLst>
              <a:ext uri="{FF2B5EF4-FFF2-40B4-BE49-F238E27FC236}">
                <a16:creationId xmlns:a16="http://schemas.microsoft.com/office/drawing/2014/main" id="{03E38EDA-E530-ACE2-E57B-D2FFF12D5873}"/>
              </a:ext>
            </a:extLst>
          </p:cNvPr>
          <p:cNvPicPr>
            <a:picLocks noChangeAspect="1"/>
          </p:cNvPicPr>
          <p:nvPr/>
        </p:nvPicPr>
        <p:blipFill>
          <a:blip r:embed="rId2"/>
          <a:stretch>
            <a:fillRect/>
          </a:stretch>
        </p:blipFill>
        <p:spPr>
          <a:xfrm>
            <a:off x="0" y="2777815"/>
            <a:ext cx="4419600" cy="4080186"/>
          </a:xfrm>
          <a:prstGeom prst="rect">
            <a:avLst/>
          </a:prstGeom>
        </p:spPr>
      </p:pic>
      <p:pic>
        <p:nvPicPr>
          <p:cNvPr id="5" name="Picture 4">
            <a:extLst>
              <a:ext uri="{FF2B5EF4-FFF2-40B4-BE49-F238E27FC236}">
                <a16:creationId xmlns:a16="http://schemas.microsoft.com/office/drawing/2014/main" id="{B588783B-EE03-6AAF-8863-4AE608E8A01A}"/>
              </a:ext>
            </a:extLst>
          </p:cNvPr>
          <p:cNvPicPr>
            <a:picLocks noChangeAspect="1"/>
          </p:cNvPicPr>
          <p:nvPr/>
        </p:nvPicPr>
        <p:blipFill>
          <a:blip r:embed="rId3"/>
          <a:stretch>
            <a:fillRect/>
          </a:stretch>
        </p:blipFill>
        <p:spPr>
          <a:xfrm>
            <a:off x="4419600" y="1551609"/>
            <a:ext cx="7772400" cy="1877391"/>
          </a:xfrm>
          <a:prstGeom prst="rect">
            <a:avLst/>
          </a:prstGeom>
        </p:spPr>
      </p:pic>
    </p:spTree>
    <p:extLst>
      <p:ext uri="{BB962C8B-B14F-4D97-AF65-F5344CB8AC3E}">
        <p14:creationId xmlns:p14="http://schemas.microsoft.com/office/powerpoint/2010/main" val="120400379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1C81B885-E8FC-6ACB-BA77-91E941AF90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8D083F-C5B5-B18F-ABA3-8AAB50435852}"/>
              </a:ext>
            </a:extLst>
          </p:cNvPr>
          <p:cNvSpPr>
            <a:spLocks noGrp="1"/>
          </p:cNvSpPr>
          <p:nvPr>
            <p:ph type="title"/>
          </p:nvPr>
        </p:nvSpPr>
        <p:spPr/>
        <p:txBody>
          <a:bodyPr/>
          <a:lstStyle/>
          <a:p>
            <a:r>
              <a:rPr lang="en-US" dirty="0"/>
              <a:t>Part 1: ML Foundations and Baseline System</a:t>
            </a:r>
          </a:p>
        </p:txBody>
      </p:sp>
      <p:sp>
        <p:nvSpPr>
          <p:cNvPr id="3" name="Content Placeholder 2">
            <a:extLst>
              <a:ext uri="{FF2B5EF4-FFF2-40B4-BE49-F238E27FC236}">
                <a16:creationId xmlns:a16="http://schemas.microsoft.com/office/drawing/2014/main" id="{9B0CA340-3A87-8254-5F08-8242219E1245}"/>
              </a:ext>
            </a:extLst>
          </p:cNvPr>
          <p:cNvSpPr>
            <a:spLocks noGrp="1"/>
          </p:cNvSpPr>
          <p:nvPr>
            <p:ph idx="1"/>
          </p:nvPr>
        </p:nvSpPr>
        <p:spPr/>
        <p:txBody>
          <a:bodyPr/>
          <a:lstStyle/>
          <a:p>
            <a:r>
              <a:rPr lang="en-US" dirty="0"/>
              <a:t>Phase 1.5: Experiment Tracking and Reproducibility</a:t>
            </a:r>
          </a:p>
          <a:p>
            <a:pPr lvl="1"/>
            <a:r>
              <a:rPr lang="en-US" dirty="0"/>
              <a:t>Track parameters, features, metrics, and artifacts</a:t>
            </a:r>
          </a:p>
          <a:p>
            <a:pPr lvl="1"/>
            <a:r>
              <a:rPr lang="en-US" dirty="0"/>
              <a:t>Save preprocessing and model configurations</a:t>
            </a:r>
          </a:p>
          <a:p>
            <a:pPr lvl="1"/>
            <a:r>
              <a:rPr lang="en-US" dirty="0"/>
              <a:t>Record random seeds and data versions</a:t>
            </a:r>
          </a:p>
          <a:p>
            <a:pPr lvl="1"/>
            <a:r>
              <a:rPr lang="en-US" dirty="0"/>
              <a:t>Make experiments rerunnable</a:t>
            </a:r>
          </a:p>
          <a:p>
            <a:pPr lvl="1"/>
            <a:r>
              <a:rPr lang="en-US" dirty="0"/>
              <a:t>Introduce MLflow or a comparable system</a:t>
            </a:r>
          </a:p>
        </p:txBody>
      </p:sp>
    </p:spTree>
    <p:extLst>
      <p:ext uri="{BB962C8B-B14F-4D97-AF65-F5344CB8AC3E}">
        <p14:creationId xmlns:p14="http://schemas.microsoft.com/office/powerpoint/2010/main" val="1281616123"/>
      </p:ext>
    </p:extLst>
  </p:cSld>
  <p:clrMapOvr>
    <a:overrideClrMapping bg1="lt1" tx1="dk1" bg2="lt2" tx2="dk2" accent1="accent1" accent2="accent2" accent3="accent3" accent4="accent4" accent5="accent5" accent6="accent6" hlink="hlink" folHlink="folHlink"/>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1680C-7892-00A4-8B37-95F3D73432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5F53DD-8C4D-D1E7-C6FE-CE8EF0D26837}"/>
              </a:ext>
            </a:extLst>
          </p:cNvPr>
          <p:cNvSpPr>
            <a:spLocks noGrp="1"/>
          </p:cNvSpPr>
          <p:nvPr>
            <p:ph type="title"/>
          </p:nvPr>
        </p:nvSpPr>
        <p:spPr/>
        <p:txBody>
          <a:bodyPr/>
          <a:lstStyle/>
          <a:p>
            <a:r>
              <a:rPr lang="en-US" dirty="0"/>
              <a:t>Phase 1.5: Experiment Tracking and Reproducibility</a:t>
            </a:r>
          </a:p>
        </p:txBody>
      </p:sp>
      <p:sp>
        <p:nvSpPr>
          <p:cNvPr id="3" name="Content Placeholder 2">
            <a:extLst>
              <a:ext uri="{FF2B5EF4-FFF2-40B4-BE49-F238E27FC236}">
                <a16:creationId xmlns:a16="http://schemas.microsoft.com/office/drawing/2014/main" id="{37975051-8EBA-D113-49B1-B81DFBE4AE7C}"/>
              </a:ext>
            </a:extLst>
          </p:cNvPr>
          <p:cNvSpPr>
            <a:spLocks noGrp="1"/>
          </p:cNvSpPr>
          <p:nvPr>
            <p:ph idx="1"/>
          </p:nvPr>
        </p:nvSpPr>
        <p:spPr/>
        <p:txBody>
          <a:bodyPr/>
          <a:lstStyle/>
          <a:p>
            <a:r>
              <a:rPr lang="en-US" dirty="0"/>
              <a:t>Question #1: What did you record for each experiment so that its results could be reproduced and compared fairly? </a:t>
            </a:r>
          </a:p>
        </p:txBody>
      </p:sp>
    </p:spTree>
    <p:extLst>
      <p:ext uri="{BB962C8B-B14F-4D97-AF65-F5344CB8AC3E}">
        <p14:creationId xmlns:p14="http://schemas.microsoft.com/office/powerpoint/2010/main" val="219596886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C49C8D-B9FD-4050-FA2F-5529037CDD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B15AA7-163F-78A3-1A72-9F426178D187}"/>
              </a:ext>
            </a:extLst>
          </p:cNvPr>
          <p:cNvSpPr>
            <a:spLocks noGrp="1"/>
          </p:cNvSpPr>
          <p:nvPr>
            <p:ph type="title"/>
          </p:nvPr>
        </p:nvSpPr>
        <p:spPr/>
        <p:txBody>
          <a:bodyPr/>
          <a:lstStyle/>
          <a:p>
            <a:r>
              <a:rPr lang="en-US" dirty="0"/>
              <a:t>Phase 1.5: Experiment Tracking and Reproducibility</a:t>
            </a:r>
          </a:p>
        </p:txBody>
      </p:sp>
      <p:sp>
        <p:nvSpPr>
          <p:cNvPr id="3" name="Content Placeholder 2">
            <a:extLst>
              <a:ext uri="{FF2B5EF4-FFF2-40B4-BE49-F238E27FC236}">
                <a16:creationId xmlns:a16="http://schemas.microsoft.com/office/drawing/2014/main" id="{72A7D547-7A2F-235F-07C5-AD37C2CDC555}"/>
              </a:ext>
            </a:extLst>
          </p:cNvPr>
          <p:cNvSpPr>
            <a:spLocks noGrp="1"/>
          </p:cNvSpPr>
          <p:nvPr>
            <p:ph idx="1"/>
          </p:nvPr>
        </p:nvSpPr>
        <p:spPr/>
        <p:txBody>
          <a:bodyPr/>
          <a:lstStyle/>
          <a:p>
            <a:r>
              <a:rPr lang="en-US" dirty="0"/>
              <a:t>Answer #1: </a:t>
            </a:r>
          </a:p>
        </p:txBody>
      </p:sp>
      <p:pic>
        <p:nvPicPr>
          <p:cNvPr id="4" name="Picture 3">
            <a:extLst>
              <a:ext uri="{FF2B5EF4-FFF2-40B4-BE49-F238E27FC236}">
                <a16:creationId xmlns:a16="http://schemas.microsoft.com/office/drawing/2014/main" id="{D3701DFB-91EC-9945-071B-5D2BFE98F973}"/>
              </a:ext>
            </a:extLst>
          </p:cNvPr>
          <p:cNvPicPr>
            <a:picLocks noChangeAspect="1"/>
          </p:cNvPicPr>
          <p:nvPr/>
        </p:nvPicPr>
        <p:blipFill>
          <a:blip r:embed="rId2"/>
          <a:stretch>
            <a:fillRect/>
          </a:stretch>
        </p:blipFill>
        <p:spPr>
          <a:xfrm>
            <a:off x="0" y="3602837"/>
            <a:ext cx="5186082" cy="3255163"/>
          </a:xfrm>
          <a:prstGeom prst="rect">
            <a:avLst/>
          </a:prstGeom>
        </p:spPr>
      </p:pic>
      <p:pic>
        <p:nvPicPr>
          <p:cNvPr id="5" name="Picture 4">
            <a:extLst>
              <a:ext uri="{FF2B5EF4-FFF2-40B4-BE49-F238E27FC236}">
                <a16:creationId xmlns:a16="http://schemas.microsoft.com/office/drawing/2014/main" id="{80D79F26-E19F-A431-0B89-04A916190A19}"/>
              </a:ext>
            </a:extLst>
          </p:cNvPr>
          <p:cNvPicPr>
            <a:picLocks noChangeAspect="1"/>
          </p:cNvPicPr>
          <p:nvPr/>
        </p:nvPicPr>
        <p:blipFill>
          <a:blip r:embed="rId3"/>
          <a:stretch>
            <a:fillRect/>
          </a:stretch>
        </p:blipFill>
        <p:spPr>
          <a:xfrm>
            <a:off x="5186082" y="1144588"/>
            <a:ext cx="7005918" cy="3055406"/>
          </a:xfrm>
          <a:prstGeom prst="rect">
            <a:avLst/>
          </a:prstGeom>
        </p:spPr>
      </p:pic>
    </p:spTree>
    <p:extLst>
      <p:ext uri="{BB962C8B-B14F-4D97-AF65-F5344CB8AC3E}">
        <p14:creationId xmlns:p14="http://schemas.microsoft.com/office/powerpoint/2010/main" val="364754268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41185-1360-FD06-206F-ABB1904979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7BEC0E-02C6-DE2A-C1B8-686EC83FC813}"/>
              </a:ext>
            </a:extLst>
          </p:cNvPr>
          <p:cNvSpPr>
            <a:spLocks noGrp="1"/>
          </p:cNvSpPr>
          <p:nvPr>
            <p:ph type="title"/>
          </p:nvPr>
        </p:nvSpPr>
        <p:spPr/>
        <p:txBody>
          <a:bodyPr/>
          <a:lstStyle/>
          <a:p>
            <a:r>
              <a:rPr lang="en-US" dirty="0"/>
              <a:t>Phase 1.5: Experiment Tracking and Reproducibility</a:t>
            </a:r>
          </a:p>
        </p:txBody>
      </p:sp>
      <p:sp>
        <p:nvSpPr>
          <p:cNvPr id="3" name="Content Placeholder 2">
            <a:extLst>
              <a:ext uri="{FF2B5EF4-FFF2-40B4-BE49-F238E27FC236}">
                <a16:creationId xmlns:a16="http://schemas.microsoft.com/office/drawing/2014/main" id="{0C85A917-0905-9E4D-0C27-0895C37EA907}"/>
              </a:ext>
            </a:extLst>
          </p:cNvPr>
          <p:cNvSpPr>
            <a:spLocks noGrp="1"/>
          </p:cNvSpPr>
          <p:nvPr>
            <p:ph idx="1"/>
          </p:nvPr>
        </p:nvSpPr>
        <p:spPr/>
        <p:txBody>
          <a:bodyPr/>
          <a:lstStyle/>
          <a:p>
            <a:r>
              <a:rPr lang="en-US" dirty="0"/>
              <a:t>Question #2: What is the difference between tracking an experiment and making the full training workflow reproducible?  </a:t>
            </a:r>
          </a:p>
        </p:txBody>
      </p:sp>
    </p:spTree>
    <p:extLst>
      <p:ext uri="{BB962C8B-B14F-4D97-AF65-F5344CB8AC3E}">
        <p14:creationId xmlns:p14="http://schemas.microsoft.com/office/powerpoint/2010/main" val="152640593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C1DCD-31AE-1EE8-3E42-89E94EEFF7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30E750-9CF3-30BD-B5DB-59614C97A1AD}"/>
              </a:ext>
            </a:extLst>
          </p:cNvPr>
          <p:cNvSpPr>
            <a:spLocks noGrp="1"/>
          </p:cNvSpPr>
          <p:nvPr>
            <p:ph type="title"/>
          </p:nvPr>
        </p:nvSpPr>
        <p:spPr/>
        <p:txBody>
          <a:bodyPr/>
          <a:lstStyle/>
          <a:p>
            <a:r>
              <a:rPr lang="en-US" dirty="0"/>
              <a:t>Phase 1.5: Experiment Tracking and Reproducibility</a:t>
            </a:r>
          </a:p>
        </p:txBody>
      </p:sp>
      <p:sp>
        <p:nvSpPr>
          <p:cNvPr id="3" name="Content Placeholder 2">
            <a:extLst>
              <a:ext uri="{FF2B5EF4-FFF2-40B4-BE49-F238E27FC236}">
                <a16:creationId xmlns:a16="http://schemas.microsoft.com/office/drawing/2014/main" id="{4479DFB1-DE7A-66AE-3381-18ECD712562B}"/>
              </a:ext>
            </a:extLst>
          </p:cNvPr>
          <p:cNvSpPr>
            <a:spLocks noGrp="1"/>
          </p:cNvSpPr>
          <p:nvPr>
            <p:ph idx="1"/>
          </p:nvPr>
        </p:nvSpPr>
        <p:spPr/>
        <p:txBody>
          <a:bodyPr/>
          <a:lstStyle/>
          <a:p>
            <a:r>
              <a:rPr lang="en-US" dirty="0"/>
              <a:t>Answer #2: </a:t>
            </a:r>
          </a:p>
        </p:txBody>
      </p:sp>
      <p:pic>
        <p:nvPicPr>
          <p:cNvPr id="4" name="Picture 3">
            <a:extLst>
              <a:ext uri="{FF2B5EF4-FFF2-40B4-BE49-F238E27FC236}">
                <a16:creationId xmlns:a16="http://schemas.microsoft.com/office/drawing/2014/main" id="{2669D6A1-907B-8E40-E52E-68D7A23FB4CE}"/>
              </a:ext>
            </a:extLst>
          </p:cNvPr>
          <p:cNvPicPr>
            <a:picLocks noChangeAspect="1"/>
          </p:cNvPicPr>
          <p:nvPr/>
        </p:nvPicPr>
        <p:blipFill>
          <a:blip r:embed="rId2"/>
          <a:stretch>
            <a:fillRect/>
          </a:stretch>
        </p:blipFill>
        <p:spPr>
          <a:xfrm>
            <a:off x="-1" y="2342817"/>
            <a:ext cx="5477435" cy="4515183"/>
          </a:xfrm>
          <a:prstGeom prst="rect">
            <a:avLst/>
          </a:prstGeom>
        </p:spPr>
      </p:pic>
      <p:pic>
        <p:nvPicPr>
          <p:cNvPr id="5" name="Picture 4">
            <a:extLst>
              <a:ext uri="{FF2B5EF4-FFF2-40B4-BE49-F238E27FC236}">
                <a16:creationId xmlns:a16="http://schemas.microsoft.com/office/drawing/2014/main" id="{BBF6FBA4-39E1-CE03-E8FD-3DB11778B98C}"/>
              </a:ext>
            </a:extLst>
          </p:cNvPr>
          <p:cNvPicPr>
            <a:picLocks noChangeAspect="1"/>
          </p:cNvPicPr>
          <p:nvPr/>
        </p:nvPicPr>
        <p:blipFill>
          <a:blip r:embed="rId3"/>
          <a:stretch>
            <a:fillRect/>
          </a:stretch>
        </p:blipFill>
        <p:spPr>
          <a:xfrm>
            <a:off x="5761223" y="1144588"/>
            <a:ext cx="6430778" cy="2284412"/>
          </a:xfrm>
          <a:prstGeom prst="rect">
            <a:avLst/>
          </a:prstGeom>
        </p:spPr>
      </p:pic>
    </p:spTree>
    <p:extLst>
      <p:ext uri="{BB962C8B-B14F-4D97-AF65-F5344CB8AC3E}">
        <p14:creationId xmlns:p14="http://schemas.microsoft.com/office/powerpoint/2010/main" val="281905979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C167C4E0-D96D-25A2-2396-DB8C19B045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53C2D9-71D3-1202-31FA-6CE6A52DC756}"/>
              </a:ext>
            </a:extLst>
          </p:cNvPr>
          <p:cNvSpPr>
            <a:spLocks noGrp="1"/>
          </p:cNvSpPr>
          <p:nvPr>
            <p:ph type="title"/>
          </p:nvPr>
        </p:nvSpPr>
        <p:spPr/>
        <p:txBody>
          <a:bodyPr/>
          <a:lstStyle/>
          <a:p>
            <a:r>
              <a:rPr lang="en-US" dirty="0"/>
              <a:t>Part 2: Shippable MVP</a:t>
            </a:r>
          </a:p>
        </p:txBody>
      </p:sp>
      <p:sp>
        <p:nvSpPr>
          <p:cNvPr id="3" name="Content Placeholder 2">
            <a:extLst>
              <a:ext uri="{FF2B5EF4-FFF2-40B4-BE49-F238E27FC236}">
                <a16:creationId xmlns:a16="http://schemas.microsoft.com/office/drawing/2014/main" id="{70F2EB1D-E22B-4462-39B6-CF1508901483}"/>
              </a:ext>
            </a:extLst>
          </p:cNvPr>
          <p:cNvSpPr>
            <a:spLocks noGrp="1"/>
          </p:cNvSpPr>
          <p:nvPr>
            <p:ph idx="1"/>
          </p:nvPr>
        </p:nvSpPr>
        <p:spPr/>
        <p:txBody>
          <a:bodyPr/>
          <a:lstStyle/>
          <a:p>
            <a:r>
              <a:rPr lang="en-US" dirty="0"/>
              <a:t>Phase 2.1: Inference Pipeline</a:t>
            </a:r>
          </a:p>
          <a:p>
            <a:pPr lvl="1"/>
            <a:r>
              <a:rPr lang="en-US" dirty="0"/>
              <a:t>Reproduce training-time preprocessing</a:t>
            </a:r>
          </a:p>
          <a:p>
            <a:pPr lvl="1"/>
            <a:r>
              <a:rPr lang="en-US" dirty="0"/>
              <a:t>Accept valid engine data</a:t>
            </a:r>
          </a:p>
          <a:p>
            <a:pPr lvl="1"/>
            <a:r>
              <a:rPr lang="en-US" dirty="0"/>
              <a:t>Generate RUL predictions</a:t>
            </a:r>
          </a:p>
          <a:p>
            <a:pPr lvl="1"/>
            <a:r>
              <a:rPr lang="en-US" dirty="0"/>
              <a:t>Validate input schemas</a:t>
            </a:r>
          </a:p>
          <a:p>
            <a:pPr lvl="1"/>
            <a:r>
              <a:rPr lang="en-US" dirty="0"/>
              <a:t>Handle insufficient history and bad input</a:t>
            </a:r>
          </a:p>
        </p:txBody>
      </p:sp>
    </p:spTree>
    <p:extLst>
      <p:ext uri="{BB962C8B-B14F-4D97-AF65-F5344CB8AC3E}">
        <p14:creationId xmlns:p14="http://schemas.microsoft.com/office/powerpoint/2010/main" val="597268146"/>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6BF89-F3D0-4B12-7BCB-E8602A5412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22F636-425D-86B6-3903-A5F8DA01110C}"/>
              </a:ext>
            </a:extLst>
          </p:cNvPr>
          <p:cNvSpPr>
            <a:spLocks noGrp="1"/>
          </p:cNvSpPr>
          <p:nvPr>
            <p:ph type="title"/>
          </p:nvPr>
        </p:nvSpPr>
        <p:spPr/>
        <p:txBody>
          <a:bodyPr/>
          <a:lstStyle/>
          <a:p>
            <a:r>
              <a:rPr lang="en-US" dirty="0"/>
              <a:t>Phase 2.1: Inference Pipeline</a:t>
            </a:r>
          </a:p>
        </p:txBody>
      </p:sp>
      <p:sp>
        <p:nvSpPr>
          <p:cNvPr id="3" name="Content Placeholder 2">
            <a:extLst>
              <a:ext uri="{FF2B5EF4-FFF2-40B4-BE49-F238E27FC236}">
                <a16:creationId xmlns:a16="http://schemas.microsoft.com/office/drawing/2014/main" id="{F8AF4C02-3471-9A25-C3A4-E62BFF94AA78}"/>
              </a:ext>
            </a:extLst>
          </p:cNvPr>
          <p:cNvSpPr>
            <a:spLocks noGrp="1"/>
          </p:cNvSpPr>
          <p:nvPr>
            <p:ph idx="1"/>
          </p:nvPr>
        </p:nvSpPr>
        <p:spPr/>
        <p:txBody>
          <a:bodyPr/>
          <a:lstStyle/>
          <a:p>
            <a:r>
              <a:rPr lang="en-US" dirty="0"/>
              <a:t>Question #1: Walk me through the inference pipeline from incoming engine measurements to the final RUL prediction. </a:t>
            </a:r>
          </a:p>
        </p:txBody>
      </p:sp>
    </p:spTree>
    <p:extLst>
      <p:ext uri="{BB962C8B-B14F-4D97-AF65-F5344CB8AC3E}">
        <p14:creationId xmlns:p14="http://schemas.microsoft.com/office/powerpoint/2010/main" val="344311978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B674B-8E10-1812-0E87-A0295DE084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94D706-C14B-251C-A880-6E715567B7AF}"/>
              </a:ext>
            </a:extLst>
          </p:cNvPr>
          <p:cNvSpPr>
            <a:spLocks noGrp="1"/>
          </p:cNvSpPr>
          <p:nvPr>
            <p:ph type="title"/>
          </p:nvPr>
        </p:nvSpPr>
        <p:spPr/>
        <p:txBody>
          <a:bodyPr/>
          <a:lstStyle/>
          <a:p>
            <a:r>
              <a:rPr lang="en-US" dirty="0"/>
              <a:t>Phase 2.1: Inference Pipeline</a:t>
            </a:r>
          </a:p>
        </p:txBody>
      </p:sp>
      <p:sp>
        <p:nvSpPr>
          <p:cNvPr id="3" name="Content Placeholder 2">
            <a:extLst>
              <a:ext uri="{FF2B5EF4-FFF2-40B4-BE49-F238E27FC236}">
                <a16:creationId xmlns:a16="http://schemas.microsoft.com/office/drawing/2014/main" id="{1238F736-CD98-9C66-AD0B-ED8F61F4B7DA}"/>
              </a:ext>
            </a:extLst>
          </p:cNvPr>
          <p:cNvSpPr>
            <a:spLocks noGrp="1"/>
          </p:cNvSpPr>
          <p:nvPr>
            <p:ph idx="1"/>
          </p:nvPr>
        </p:nvSpPr>
        <p:spPr/>
        <p:txBody>
          <a:bodyPr/>
          <a:lstStyle/>
          <a:p>
            <a:r>
              <a:rPr lang="en-US" dirty="0"/>
              <a:t>Answer #1:</a:t>
            </a:r>
          </a:p>
        </p:txBody>
      </p:sp>
      <p:pic>
        <p:nvPicPr>
          <p:cNvPr id="4" name="Picture 3">
            <a:extLst>
              <a:ext uri="{FF2B5EF4-FFF2-40B4-BE49-F238E27FC236}">
                <a16:creationId xmlns:a16="http://schemas.microsoft.com/office/drawing/2014/main" id="{4641A742-D304-2F00-29BD-993F730E772E}"/>
              </a:ext>
            </a:extLst>
          </p:cNvPr>
          <p:cNvPicPr>
            <a:picLocks noChangeAspect="1"/>
          </p:cNvPicPr>
          <p:nvPr/>
        </p:nvPicPr>
        <p:blipFill>
          <a:blip r:embed="rId2"/>
          <a:stretch>
            <a:fillRect/>
          </a:stretch>
        </p:blipFill>
        <p:spPr>
          <a:xfrm>
            <a:off x="0" y="3800659"/>
            <a:ext cx="4593291" cy="3057341"/>
          </a:xfrm>
          <a:prstGeom prst="rect">
            <a:avLst/>
          </a:prstGeom>
        </p:spPr>
      </p:pic>
    </p:spTree>
    <p:extLst>
      <p:ext uri="{BB962C8B-B14F-4D97-AF65-F5344CB8AC3E}">
        <p14:creationId xmlns:p14="http://schemas.microsoft.com/office/powerpoint/2010/main" val="9430364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6A983-1154-8885-17C9-3A6C7CD3E3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BC43AC-4CFA-2B64-0279-F86560DF7E7C}"/>
              </a:ext>
            </a:extLst>
          </p:cNvPr>
          <p:cNvSpPr>
            <a:spLocks noGrp="1"/>
          </p:cNvSpPr>
          <p:nvPr>
            <p:ph type="title"/>
          </p:nvPr>
        </p:nvSpPr>
        <p:spPr/>
        <p:txBody>
          <a:bodyPr/>
          <a:lstStyle/>
          <a:p>
            <a:r>
              <a:rPr lang="en-US" dirty="0"/>
              <a:t>Phase 2.1: Inference Pipeline</a:t>
            </a:r>
          </a:p>
        </p:txBody>
      </p:sp>
      <p:sp>
        <p:nvSpPr>
          <p:cNvPr id="3" name="Content Placeholder 2">
            <a:extLst>
              <a:ext uri="{FF2B5EF4-FFF2-40B4-BE49-F238E27FC236}">
                <a16:creationId xmlns:a16="http://schemas.microsoft.com/office/drawing/2014/main" id="{0DE69817-CA75-632B-582C-0BA0A5AEA14F}"/>
              </a:ext>
            </a:extLst>
          </p:cNvPr>
          <p:cNvSpPr>
            <a:spLocks noGrp="1"/>
          </p:cNvSpPr>
          <p:nvPr>
            <p:ph idx="1"/>
          </p:nvPr>
        </p:nvSpPr>
        <p:spPr/>
        <p:txBody>
          <a:bodyPr/>
          <a:lstStyle/>
          <a:p>
            <a:r>
              <a:rPr lang="en-US" dirty="0"/>
              <a:t>Question #2: What input problems and edge cases must the inference pipeline handle, and how should it respond?  </a:t>
            </a:r>
          </a:p>
        </p:txBody>
      </p:sp>
    </p:spTree>
    <p:extLst>
      <p:ext uri="{BB962C8B-B14F-4D97-AF65-F5344CB8AC3E}">
        <p14:creationId xmlns:p14="http://schemas.microsoft.com/office/powerpoint/2010/main" val="192107064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2EB12-9D65-B626-9F59-893214B302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6CBC93-BE8B-85E3-596B-4A83D578AFC6}"/>
              </a:ext>
            </a:extLst>
          </p:cNvPr>
          <p:cNvSpPr>
            <a:spLocks noGrp="1"/>
          </p:cNvSpPr>
          <p:nvPr>
            <p:ph type="title"/>
          </p:nvPr>
        </p:nvSpPr>
        <p:spPr/>
        <p:txBody>
          <a:bodyPr/>
          <a:lstStyle/>
          <a:p>
            <a:r>
              <a:rPr lang="en-US" dirty="0"/>
              <a:t>Phase 2.1: Inference Pipeline</a:t>
            </a:r>
          </a:p>
        </p:txBody>
      </p:sp>
      <p:sp>
        <p:nvSpPr>
          <p:cNvPr id="3" name="Content Placeholder 2">
            <a:extLst>
              <a:ext uri="{FF2B5EF4-FFF2-40B4-BE49-F238E27FC236}">
                <a16:creationId xmlns:a16="http://schemas.microsoft.com/office/drawing/2014/main" id="{471B8510-275C-6004-D0E8-02C531EA3BDA}"/>
              </a:ext>
            </a:extLst>
          </p:cNvPr>
          <p:cNvSpPr>
            <a:spLocks noGrp="1"/>
          </p:cNvSpPr>
          <p:nvPr>
            <p:ph idx="1"/>
          </p:nvPr>
        </p:nvSpPr>
        <p:spPr/>
        <p:txBody>
          <a:bodyPr/>
          <a:lstStyle/>
          <a:p>
            <a:r>
              <a:rPr lang="en-US" dirty="0"/>
              <a:t>Answer #:</a:t>
            </a:r>
          </a:p>
        </p:txBody>
      </p:sp>
      <p:pic>
        <p:nvPicPr>
          <p:cNvPr id="4" name="Picture 3">
            <a:extLst>
              <a:ext uri="{FF2B5EF4-FFF2-40B4-BE49-F238E27FC236}">
                <a16:creationId xmlns:a16="http://schemas.microsoft.com/office/drawing/2014/main" id="{9314DF38-B36B-9095-BD4E-F412435427F6}"/>
              </a:ext>
            </a:extLst>
          </p:cNvPr>
          <p:cNvPicPr>
            <a:picLocks noChangeAspect="1"/>
          </p:cNvPicPr>
          <p:nvPr/>
        </p:nvPicPr>
        <p:blipFill>
          <a:blip r:embed="rId2"/>
          <a:stretch>
            <a:fillRect/>
          </a:stretch>
        </p:blipFill>
        <p:spPr>
          <a:xfrm>
            <a:off x="6683084" y="1314994"/>
            <a:ext cx="5508916" cy="5543006"/>
          </a:xfrm>
          <a:prstGeom prst="rect">
            <a:avLst/>
          </a:prstGeom>
        </p:spPr>
      </p:pic>
      <p:pic>
        <p:nvPicPr>
          <p:cNvPr id="5" name="Picture 4">
            <a:extLst>
              <a:ext uri="{FF2B5EF4-FFF2-40B4-BE49-F238E27FC236}">
                <a16:creationId xmlns:a16="http://schemas.microsoft.com/office/drawing/2014/main" id="{85048784-E431-BDC2-E324-540A1CA23E94}"/>
              </a:ext>
            </a:extLst>
          </p:cNvPr>
          <p:cNvPicPr>
            <a:picLocks noChangeAspect="1"/>
          </p:cNvPicPr>
          <p:nvPr/>
        </p:nvPicPr>
        <p:blipFill>
          <a:blip r:embed="rId3"/>
          <a:stretch>
            <a:fillRect/>
          </a:stretch>
        </p:blipFill>
        <p:spPr>
          <a:xfrm>
            <a:off x="0" y="4018548"/>
            <a:ext cx="6611983" cy="2839452"/>
          </a:xfrm>
          <a:prstGeom prst="rect">
            <a:avLst/>
          </a:prstGeom>
        </p:spPr>
      </p:pic>
    </p:spTree>
    <p:extLst>
      <p:ext uri="{BB962C8B-B14F-4D97-AF65-F5344CB8AC3E}">
        <p14:creationId xmlns:p14="http://schemas.microsoft.com/office/powerpoint/2010/main" val="168147114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DCA3B665-A78E-9C3E-7427-8BD50DA8A3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92F5AC-20A2-27A7-638B-71B2123A99BB}"/>
              </a:ext>
            </a:extLst>
          </p:cNvPr>
          <p:cNvSpPr>
            <a:spLocks noGrp="1"/>
          </p:cNvSpPr>
          <p:nvPr>
            <p:ph type="title"/>
          </p:nvPr>
        </p:nvSpPr>
        <p:spPr/>
        <p:txBody>
          <a:bodyPr/>
          <a:lstStyle/>
          <a:p>
            <a:r>
              <a:rPr lang="en-US" dirty="0"/>
              <a:t>Part 2: Shippable MVP</a:t>
            </a:r>
          </a:p>
        </p:txBody>
      </p:sp>
      <p:sp>
        <p:nvSpPr>
          <p:cNvPr id="3" name="Content Placeholder 2">
            <a:extLst>
              <a:ext uri="{FF2B5EF4-FFF2-40B4-BE49-F238E27FC236}">
                <a16:creationId xmlns:a16="http://schemas.microsoft.com/office/drawing/2014/main" id="{FBFC79EB-6520-0BDF-9FE5-A8C6AE486129}"/>
              </a:ext>
            </a:extLst>
          </p:cNvPr>
          <p:cNvSpPr>
            <a:spLocks noGrp="1"/>
          </p:cNvSpPr>
          <p:nvPr>
            <p:ph idx="1"/>
          </p:nvPr>
        </p:nvSpPr>
        <p:spPr/>
        <p:txBody>
          <a:bodyPr/>
          <a:lstStyle/>
          <a:p>
            <a:r>
              <a:rPr lang="en-US" dirty="0"/>
              <a:t>Phase 2.2: Model Serving</a:t>
            </a:r>
          </a:p>
          <a:p>
            <a:pPr lvl="1"/>
            <a:r>
              <a:rPr lang="en-US" dirty="0"/>
              <a:t>Expose the model through </a:t>
            </a:r>
            <a:r>
              <a:rPr lang="en-US" dirty="0" err="1"/>
              <a:t>FastAPI</a:t>
            </a:r>
            <a:endParaRPr lang="en-US" dirty="0"/>
          </a:p>
          <a:p>
            <a:pPr lvl="1"/>
            <a:r>
              <a:rPr lang="en-US" dirty="0"/>
              <a:t>Define request and response schemas</a:t>
            </a:r>
          </a:p>
          <a:p>
            <a:pPr lvl="1"/>
            <a:r>
              <a:rPr lang="en-US" dirty="0"/>
              <a:t>Add health and prediction endpoints</a:t>
            </a:r>
          </a:p>
          <a:p>
            <a:pPr lvl="1"/>
            <a:r>
              <a:rPr lang="en-US" dirty="0"/>
              <a:t>Handle errors cleanly</a:t>
            </a:r>
          </a:p>
          <a:p>
            <a:pPr lvl="1"/>
            <a:r>
              <a:rPr lang="en-US" dirty="0"/>
              <a:t>Load model artifacts consistently</a:t>
            </a:r>
          </a:p>
        </p:txBody>
      </p:sp>
    </p:spTree>
    <p:extLst>
      <p:ext uri="{BB962C8B-B14F-4D97-AF65-F5344CB8AC3E}">
        <p14:creationId xmlns:p14="http://schemas.microsoft.com/office/powerpoint/2010/main" val="3204167496"/>
      </p:ext>
    </p:extLst>
  </p:cSld>
  <p:clrMapOvr>
    <a:overrideClrMapping bg1="lt1" tx1="dk1" bg2="lt2" tx2="dk2" accent1="accent1" accent2="accent2" accent3="accent3" accent4="accent4" accent5="accent5" accent6="accent6" hlink="hlink" folHlink="folHlink"/>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62856-D90B-9A5B-53BF-1B45C4F7D8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D49573-A5E2-BD01-17A4-8083B53F11AE}"/>
              </a:ext>
            </a:extLst>
          </p:cNvPr>
          <p:cNvSpPr>
            <a:spLocks noGrp="1"/>
          </p:cNvSpPr>
          <p:nvPr>
            <p:ph type="title"/>
          </p:nvPr>
        </p:nvSpPr>
        <p:spPr/>
        <p:txBody>
          <a:bodyPr/>
          <a:lstStyle/>
          <a:p>
            <a:r>
              <a:rPr lang="en-US" dirty="0"/>
              <a:t>Phase 2.2: Model Serving</a:t>
            </a:r>
          </a:p>
        </p:txBody>
      </p:sp>
      <p:sp>
        <p:nvSpPr>
          <p:cNvPr id="3" name="Content Placeholder 2">
            <a:extLst>
              <a:ext uri="{FF2B5EF4-FFF2-40B4-BE49-F238E27FC236}">
                <a16:creationId xmlns:a16="http://schemas.microsoft.com/office/drawing/2014/main" id="{6E2052EE-5903-0698-56C4-181A79024AAA}"/>
              </a:ext>
            </a:extLst>
          </p:cNvPr>
          <p:cNvSpPr>
            <a:spLocks noGrp="1"/>
          </p:cNvSpPr>
          <p:nvPr>
            <p:ph idx="1"/>
          </p:nvPr>
        </p:nvSpPr>
        <p:spPr/>
        <p:txBody>
          <a:bodyPr/>
          <a:lstStyle/>
          <a:p>
            <a:r>
              <a:rPr lang="en-US" dirty="0"/>
              <a:t>Question #1: How did you serve the RUL model through </a:t>
            </a:r>
            <a:r>
              <a:rPr lang="en-US" dirty="0" err="1"/>
              <a:t>FastAPI</a:t>
            </a:r>
            <a:r>
              <a:rPr lang="en-US" dirty="0"/>
              <a:t>, and what contract does the prediction endpoint provide?  </a:t>
            </a:r>
          </a:p>
        </p:txBody>
      </p:sp>
    </p:spTree>
    <p:extLst>
      <p:ext uri="{BB962C8B-B14F-4D97-AF65-F5344CB8AC3E}">
        <p14:creationId xmlns:p14="http://schemas.microsoft.com/office/powerpoint/2010/main" val="11835654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F7F5C-9FDF-5ABC-6D13-BDDF0872DF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F83C15-121E-706E-7D8F-0373CD930AA9}"/>
              </a:ext>
            </a:extLst>
          </p:cNvPr>
          <p:cNvSpPr>
            <a:spLocks noGrp="1"/>
          </p:cNvSpPr>
          <p:nvPr>
            <p:ph type="title"/>
          </p:nvPr>
        </p:nvSpPr>
        <p:spPr/>
        <p:txBody>
          <a:bodyPr/>
          <a:lstStyle/>
          <a:p>
            <a:r>
              <a:rPr lang="en-US" dirty="0"/>
              <a:t>Phase 2.2: Model Serving</a:t>
            </a:r>
          </a:p>
        </p:txBody>
      </p:sp>
      <p:sp>
        <p:nvSpPr>
          <p:cNvPr id="3" name="Content Placeholder 2">
            <a:extLst>
              <a:ext uri="{FF2B5EF4-FFF2-40B4-BE49-F238E27FC236}">
                <a16:creationId xmlns:a16="http://schemas.microsoft.com/office/drawing/2014/main" id="{1EEBC439-48EC-F94E-5DDC-3A674956C67D}"/>
              </a:ext>
            </a:extLst>
          </p:cNvPr>
          <p:cNvSpPr>
            <a:spLocks noGrp="1"/>
          </p:cNvSpPr>
          <p:nvPr>
            <p:ph idx="1"/>
          </p:nvPr>
        </p:nvSpPr>
        <p:spPr/>
        <p:txBody>
          <a:bodyPr/>
          <a:lstStyle/>
          <a:p>
            <a:r>
              <a:rPr lang="en-US" dirty="0"/>
              <a:t>Answer #1: </a:t>
            </a:r>
          </a:p>
        </p:txBody>
      </p:sp>
      <p:pic>
        <p:nvPicPr>
          <p:cNvPr id="4" name="Picture 3">
            <a:extLst>
              <a:ext uri="{FF2B5EF4-FFF2-40B4-BE49-F238E27FC236}">
                <a16:creationId xmlns:a16="http://schemas.microsoft.com/office/drawing/2014/main" id="{0E396EC7-14D9-A313-6B6D-39549D8558F1}"/>
              </a:ext>
            </a:extLst>
          </p:cNvPr>
          <p:cNvPicPr>
            <a:picLocks noChangeAspect="1"/>
          </p:cNvPicPr>
          <p:nvPr/>
        </p:nvPicPr>
        <p:blipFill>
          <a:blip r:embed="rId2"/>
          <a:stretch>
            <a:fillRect/>
          </a:stretch>
        </p:blipFill>
        <p:spPr>
          <a:xfrm>
            <a:off x="4969866" y="0"/>
            <a:ext cx="7222133" cy="3263935"/>
          </a:xfrm>
          <a:prstGeom prst="rect">
            <a:avLst/>
          </a:prstGeom>
        </p:spPr>
      </p:pic>
      <p:pic>
        <p:nvPicPr>
          <p:cNvPr id="5" name="Picture 4">
            <a:extLst>
              <a:ext uri="{FF2B5EF4-FFF2-40B4-BE49-F238E27FC236}">
                <a16:creationId xmlns:a16="http://schemas.microsoft.com/office/drawing/2014/main" id="{36BC8C7B-5387-2262-C976-176BD16A6968}"/>
              </a:ext>
            </a:extLst>
          </p:cNvPr>
          <p:cNvPicPr>
            <a:picLocks noChangeAspect="1"/>
          </p:cNvPicPr>
          <p:nvPr/>
        </p:nvPicPr>
        <p:blipFill>
          <a:blip r:embed="rId3"/>
          <a:stretch>
            <a:fillRect/>
          </a:stretch>
        </p:blipFill>
        <p:spPr>
          <a:xfrm>
            <a:off x="0" y="3263935"/>
            <a:ext cx="6002383" cy="3594065"/>
          </a:xfrm>
          <a:prstGeom prst="rect">
            <a:avLst/>
          </a:prstGeom>
        </p:spPr>
      </p:pic>
      <p:pic>
        <p:nvPicPr>
          <p:cNvPr id="6" name="Picture 5">
            <a:extLst>
              <a:ext uri="{FF2B5EF4-FFF2-40B4-BE49-F238E27FC236}">
                <a16:creationId xmlns:a16="http://schemas.microsoft.com/office/drawing/2014/main" id="{089573B9-054D-43A5-3D39-2109757AC8D5}"/>
              </a:ext>
            </a:extLst>
          </p:cNvPr>
          <p:cNvPicPr>
            <a:picLocks noChangeAspect="1"/>
          </p:cNvPicPr>
          <p:nvPr/>
        </p:nvPicPr>
        <p:blipFill>
          <a:blip r:embed="rId4"/>
          <a:stretch>
            <a:fillRect/>
          </a:stretch>
        </p:blipFill>
        <p:spPr>
          <a:xfrm>
            <a:off x="8280399" y="3302017"/>
            <a:ext cx="3911600" cy="3517900"/>
          </a:xfrm>
          <a:prstGeom prst="rect">
            <a:avLst/>
          </a:prstGeom>
        </p:spPr>
      </p:pic>
    </p:spTree>
    <p:extLst>
      <p:ext uri="{BB962C8B-B14F-4D97-AF65-F5344CB8AC3E}">
        <p14:creationId xmlns:p14="http://schemas.microsoft.com/office/powerpoint/2010/main" val="9361934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E10F4-C34C-F0D3-B79A-883E882C0E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816B60-4087-3362-41FE-228BF4B25317}"/>
              </a:ext>
            </a:extLst>
          </p:cNvPr>
          <p:cNvSpPr>
            <a:spLocks noGrp="1"/>
          </p:cNvSpPr>
          <p:nvPr>
            <p:ph type="title"/>
          </p:nvPr>
        </p:nvSpPr>
        <p:spPr/>
        <p:txBody>
          <a:bodyPr/>
          <a:lstStyle/>
          <a:p>
            <a:r>
              <a:rPr lang="en-US" dirty="0"/>
              <a:t>Phase 2.2: Model Serving</a:t>
            </a:r>
          </a:p>
        </p:txBody>
      </p:sp>
      <p:sp>
        <p:nvSpPr>
          <p:cNvPr id="3" name="Content Placeholder 2">
            <a:extLst>
              <a:ext uri="{FF2B5EF4-FFF2-40B4-BE49-F238E27FC236}">
                <a16:creationId xmlns:a16="http://schemas.microsoft.com/office/drawing/2014/main" id="{7C6AF866-56B3-E110-D330-4B7A2AED45D7}"/>
              </a:ext>
            </a:extLst>
          </p:cNvPr>
          <p:cNvSpPr>
            <a:spLocks noGrp="1"/>
          </p:cNvSpPr>
          <p:nvPr>
            <p:ph idx="1"/>
          </p:nvPr>
        </p:nvSpPr>
        <p:spPr/>
        <p:txBody>
          <a:bodyPr/>
          <a:lstStyle/>
          <a:p>
            <a:r>
              <a:rPr lang="en-US" dirty="0"/>
              <a:t>Question #2: What reliability, error-handling, and operational concerns must be addressed when serving an ML model through an API? </a:t>
            </a:r>
          </a:p>
        </p:txBody>
      </p:sp>
    </p:spTree>
    <p:extLst>
      <p:ext uri="{BB962C8B-B14F-4D97-AF65-F5344CB8AC3E}">
        <p14:creationId xmlns:p14="http://schemas.microsoft.com/office/powerpoint/2010/main" val="251321405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B025F-AFC3-05B1-6C9E-7C5D7EB215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71DBFC-B990-BA05-A51A-B2625C8D604E}"/>
              </a:ext>
            </a:extLst>
          </p:cNvPr>
          <p:cNvSpPr>
            <a:spLocks noGrp="1"/>
          </p:cNvSpPr>
          <p:nvPr>
            <p:ph type="title"/>
          </p:nvPr>
        </p:nvSpPr>
        <p:spPr/>
        <p:txBody>
          <a:bodyPr/>
          <a:lstStyle/>
          <a:p>
            <a:r>
              <a:rPr lang="en-US" dirty="0"/>
              <a:t>Phase 2.2: Model Serving</a:t>
            </a:r>
          </a:p>
        </p:txBody>
      </p:sp>
      <p:sp>
        <p:nvSpPr>
          <p:cNvPr id="3" name="Content Placeholder 2">
            <a:extLst>
              <a:ext uri="{FF2B5EF4-FFF2-40B4-BE49-F238E27FC236}">
                <a16:creationId xmlns:a16="http://schemas.microsoft.com/office/drawing/2014/main" id="{ACF7205E-2DA2-37D7-4079-DA8F8F91C02B}"/>
              </a:ext>
            </a:extLst>
          </p:cNvPr>
          <p:cNvSpPr>
            <a:spLocks noGrp="1"/>
          </p:cNvSpPr>
          <p:nvPr>
            <p:ph idx="1"/>
          </p:nvPr>
        </p:nvSpPr>
        <p:spPr/>
        <p:txBody>
          <a:bodyPr/>
          <a:lstStyle/>
          <a:p>
            <a:r>
              <a:rPr lang="en-US" dirty="0"/>
              <a:t>Answer #2: </a:t>
            </a:r>
          </a:p>
        </p:txBody>
      </p:sp>
      <p:pic>
        <p:nvPicPr>
          <p:cNvPr id="7" name="Picture 6">
            <a:extLst>
              <a:ext uri="{FF2B5EF4-FFF2-40B4-BE49-F238E27FC236}">
                <a16:creationId xmlns:a16="http://schemas.microsoft.com/office/drawing/2014/main" id="{3E5AD5D0-195F-B0BD-5163-035155C85CDE}"/>
              </a:ext>
            </a:extLst>
          </p:cNvPr>
          <p:cNvPicPr>
            <a:picLocks noChangeAspect="1"/>
          </p:cNvPicPr>
          <p:nvPr/>
        </p:nvPicPr>
        <p:blipFill>
          <a:blip r:embed="rId2"/>
          <a:stretch>
            <a:fillRect/>
          </a:stretch>
        </p:blipFill>
        <p:spPr>
          <a:xfrm>
            <a:off x="7322087" y="0"/>
            <a:ext cx="4869913" cy="5167312"/>
          </a:xfrm>
          <a:prstGeom prst="rect">
            <a:avLst/>
          </a:prstGeom>
        </p:spPr>
      </p:pic>
      <p:pic>
        <p:nvPicPr>
          <p:cNvPr id="8" name="Picture 7">
            <a:extLst>
              <a:ext uri="{FF2B5EF4-FFF2-40B4-BE49-F238E27FC236}">
                <a16:creationId xmlns:a16="http://schemas.microsoft.com/office/drawing/2014/main" id="{D2E52912-D5E7-9B0A-B430-F5532E5732BA}"/>
              </a:ext>
            </a:extLst>
          </p:cNvPr>
          <p:cNvPicPr>
            <a:picLocks noChangeAspect="1"/>
          </p:cNvPicPr>
          <p:nvPr/>
        </p:nvPicPr>
        <p:blipFill>
          <a:blip r:embed="rId3"/>
          <a:stretch>
            <a:fillRect/>
          </a:stretch>
        </p:blipFill>
        <p:spPr>
          <a:xfrm>
            <a:off x="0" y="3429000"/>
            <a:ext cx="6170690" cy="3429000"/>
          </a:xfrm>
          <a:prstGeom prst="rect">
            <a:avLst/>
          </a:prstGeom>
        </p:spPr>
      </p:pic>
    </p:spTree>
    <p:extLst>
      <p:ext uri="{BB962C8B-B14F-4D97-AF65-F5344CB8AC3E}">
        <p14:creationId xmlns:p14="http://schemas.microsoft.com/office/powerpoint/2010/main" val="103476806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D715AEE4-C809-70B6-5D56-953024CF4C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83AF27-7B5E-E0C5-02B3-BE840B711549}"/>
              </a:ext>
            </a:extLst>
          </p:cNvPr>
          <p:cNvSpPr>
            <a:spLocks noGrp="1"/>
          </p:cNvSpPr>
          <p:nvPr>
            <p:ph type="title"/>
          </p:nvPr>
        </p:nvSpPr>
        <p:spPr/>
        <p:txBody>
          <a:bodyPr/>
          <a:lstStyle/>
          <a:p>
            <a:r>
              <a:rPr lang="en-US" dirty="0"/>
              <a:t>Part 2: Shippable MVP</a:t>
            </a:r>
          </a:p>
        </p:txBody>
      </p:sp>
      <p:sp>
        <p:nvSpPr>
          <p:cNvPr id="3" name="Content Placeholder 2">
            <a:extLst>
              <a:ext uri="{FF2B5EF4-FFF2-40B4-BE49-F238E27FC236}">
                <a16:creationId xmlns:a16="http://schemas.microsoft.com/office/drawing/2014/main" id="{9188683D-9846-E6AE-1077-08AEC7597235}"/>
              </a:ext>
            </a:extLst>
          </p:cNvPr>
          <p:cNvSpPr>
            <a:spLocks noGrp="1"/>
          </p:cNvSpPr>
          <p:nvPr>
            <p:ph idx="1"/>
          </p:nvPr>
        </p:nvSpPr>
        <p:spPr/>
        <p:txBody>
          <a:bodyPr/>
          <a:lstStyle/>
          <a:p>
            <a:r>
              <a:rPr lang="en-US" dirty="0"/>
              <a:t>Phase 2.3: Containerization and Environment Management</a:t>
            </a:r>
          </a:p>
          <a:p>
            <a:pPr lvl="1"/>
            <a:r>
              <a:rPr lang="en-US" dirty="0"/>
              <a:t>Create a Docker image</a:t>
            </a:r>
          </a:p>
          <a:p>
            <a:pPr lvl="1"/>
            <a:r>
              <a:rPr lang="en-US" dirty="0"/>
              <a:t>Pin dependencies</a:t>
            </a:r>
          </a:p>
          <a:p>
            <a:pPr lvl="1"/>
            <a:r>
              <a:rPr lang="en-US" dirty="0"/>
              <a:t>Separate development and runtime configuration</a:t>
            </a:r>
          </a:p>
          <a:p>
            <a:pPr lvl="1"/>
            <a:r>
              <a:rPr lang="en-US" dirty="0"/>
              <a:t>Confirm reproducible local execution</a:t>
            </a:r>
          </a:p>
          <a:p>
            <a:pPr lvl="1"/>
            <a:r>
              <a:rPr lang="en-US" dirty="0"/>
              <a:t>Run the API inside the container</a:t>
            </a:r>
          </a:p>
        </p:txBody>
      </p:sp>
    </p:spTree>
    <p:extLst>
      <p:ext uri="{BB962C8B-B14F-4D97-AF65-F5344CB8AC3E}">
        <p14:creationId xmlns:p14="http://schemas.microsoft.com/office/powerpoint/2010/main" val="4012933743"/>
      </p:ext>
    </p:extLst>
  </p:cSld>
  <p:clrMapOvr>
    <a:overrideClrMapping bg1="lt1" tx1="dk1" bg2="lt2" tx2="dk2" accent1="accent1" accent2="accent2" accent3="accent3" accent4="accent4" accent5="accent5" accent6="accent6" hlink="hlink" folHlink="folHlink"/>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8B76B-234F-F554-8A6C-B6CE2B478A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0BF8F9-4742-C166-73AA-FD2FDAFB5A39}"/>
              </a:ext>
            </a:extLst>
          </p:cNvPr>
          <p:cNvSpPr>
            <a:spLocks noGrp="1"/>
          </p:cNvSpPr>
          <p:nvPr>
            <p:ph type="title"/>
          </p:nvPr>
        </p:nvSpPr>
        <p:spPr/>
        <p:txBody>
          <a:bodyPr/>
          <a:lstStyle/>
          <a:p>
            <a:r>
              <a:rPr lang="en-US" dirty="0"/>
              <a:t>Phase 2.3: Containerization and Environment Management</a:t>
            </a:r>
          </a:p>
        </p:txBody>
      </p:sp>
      <p:sp>
        <p:nvSpPr>
          <p:cNvPr id="3" name="Content Placeholder 2">
            <a:extLst>
              <a:ext uri="{FF2B5EF4-FFF2-40B4-BE49-F238E27FC236}">
                <a16:creationId xmlns:a16="http://schemas.microsoft.com/office/drawing/2014/main" id="{2400289F-D454-FB93-4C77-8FD74AF0759C}"/>
              </a:ext>
            </a:extLst>
          </p:cNvPr>
          <p:cNvSpPr>
            <a:spLocks noGrp="1"/>
          </p:cNvSpPr>
          <p:nvPr>
            <p:ph idx="1"/>
          </p:nvPr>
        </p:nvSpPr>
        <p:spPr/>
        <p:txBody>
          <a:bodyPr/>
          <a:lstStyle/>
          <a:p>
            <a:r>
              <a:rPr lang="en-US" dirty="0"/>
              <a:t>Question #1: Why did you containerize the prediction service, what does the Docker image contain, and what problems does containerization solve–or not solve? </a:t>
            </a:r>
          </a:p>
        </p:txBody>
      </p:sp>
    </p:spTree>
    <p:extLst>
      <p:ext uri="{BB962C8B-B14F-4D97-AF65-F5344CB8AC3E}">
        <p14:creationId xmlns:p14="http://schemas.microsoft.com/office/powerpoint/2010/main" val="130741723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7EC78B-94C8-9278-D7CF-BFC32F902E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ABC5BD-3B50-A372-151F-F53146D525FB}"/>
              </a:ext>
            </a:extLst>
          </p:cNvPr>
          <p:cNvSpPr>
            <a:spLocks noGrp="1"/>
          </p:cNvSpPr>
          <p:nvPr>
            <p:ph type="title"/>
          </p:nvPr>
        </p:nvSpPr>
        <p:spPr/>
        <p:txBody>
          <a:bodyPr/>
          <a:lstStyle/>
          <a:p>
            <a:r>
              <a:rPr lang="en-US" dirty="0"/>
              <a:t>Phase 2.3: Containerization and Environment Management</a:t>
            </a:r>
          </a:p>
        </p:txBody>
      </p:sp>
      <p:sp>
        <p:nvSpPr>
          <p:cNvPr id="3" name="Content Placeholder 2">
            <a:extLst>
              <a:ext uri="{FF2B5EF4-FFF2-40B4-BE49-F238E27FC236}">
                <a16:creationId xmlns:a16="http://schemas.microsoft.com/office/drawing/2014/main" id="{C9266A67-0362-256F-6368-59B4A3FE1245}"/>
              </a:ext>
            </a:extLst>
          </p:cNvPr>
          <p:cNvSpPr>
            <a:spLocks noGrp="1"/>
          </p:cNvSpPr>
          <p:nvPr>
            <p:ph idx="1"/>
          </p:nvPr>
        </p:nvSpPr>
        <p:spPr/>
        <p:txBody>
          <a:bodyPr/>
          <a:lstStyle/>
          <a:p>
            <a:r>
              <a:rPr lang="en-US" dirty="0"/>
              <a:t>Answer #2:</a:t>
            </a:r>
          </a:p>
        </p:txBody>
      </p:sp>
      <p:pic>
        <p:nvPicPr>
          <p:cNvPr id="4" name="Picture 3">
            <a:extLst>
              <a:ext uri="{FF2B5EF4-FFF2-40B4-BE49-F238E27FC236}">
                <a16:creationId xmlns:a16="http://schemas.microsoft.com/office/drawing/2014/main" id="{35D91FEE-7D36-D375-2B42-FCD28B742FC1}"/>
              </a:ext>
            </a:extLst>
          </p:cNvPr>
          <p:cNvPicPr>
            <a:picLocks noChangeAspect="1"/>
          </p:cNvPicPr>
          <p:nvPr/>
        </p:nvPicPr>
        <p:blipFill>
          <a:blip r:embed="rId2"/>
          <a:stretch>
            <a:fillRect/>
          </a:stretch>
        </p:blipFill>
        <p:spPr>
          <a:xfrm>
            <a:off x="7404672" y="1488237"/>
            <a:ext cx="4787328" cy="5369763"/>
          </a:xfrm>
          <a:prstGeom prst="rect">
            <a:avLst/>
          </a:prstGeom>
        </p:spPr>
      </p:pic>
      <p:pic>
        <p:nvPicPr>
          <p:cNvPr id="5" name="Picture 4">
            <a:extLst>
              <a:ext uri="{FF2B5EF4-FFF2-40B4-BE49-F238E27FC236}">
                <a16:creationId xmlns:a16="http://schemas.microsoft.com/office/drawing/2014/main" id="{68A2FB8E-08C0-E1B3-DA22-D2D9238D6B8F}"/>
              </a:ext>
            </a:extLst>
          </p:cNvPr>
          <p:cNvPicPr>
            <a:picLocks noChangeAspect="1"/>
          </p:cNvPicPr>
          <p:nvPr/>
        </p:nvPicPr>
        <p:blipFill>
          <a:blip r:embed="rId3"/>
          <a:stretch>
            <a:fillRect/>
          </a:stretch>
        </p:blipFill>
        <p:spPr>
          <a:xfrm>
            <a:off x="0" y="2448335"/>
            <a:ext cx="5366294" cy="4409665"/>
          </a:xfrm>
          <a:prstGeom prst="rect">
            <a:avLst/>
          </a:prstGeom>
        </p:spPr>
      </p:pic>
    </p:spTree>
    <p:extLst>
      <p:ext uri="{BB962C8B-B14F-4D97-AF65-F5344CB8AC3E}">
        <p14:creationId xmlns:p14="http://schemas.microsoft.com/office/powerpoint/2010/main" val="284694183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8AE45E24-3D3A-4BB3-3DF1-FF68315A02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041182-2242-C8CC-E138-CD943CEE970C}"/>
              </a:ext>
            </a:extLst>
          </p:cNvPr>
          <p:cNvSpPr>
            <a:spLocks noGrp="1"/>
          </p:cNvSpPr>
          <p:nvPr>
            <p:ph type="title"/>
          </p:nvPr>
        </p:nvSpPr>
        <p:spPr/>
        <p:txBody>
          <a:bodyPr/>
          <a:lstStyle/>
          <a:p>
            <a:r>
              <a:rPr lang="en-US" dirty="0"/>
              <a:t>Part 2: Shippable MVP</a:t>
            </a:r>
          </a:p>
        </p:txBody>
      </p:sp>
      <p:sp>
        <p:nvSpPr>
          <p:cNvPr id="3" name="Content Placeholder 2">
            <a:extLst>
              <a:ext uri="{FF2B5EF4-FFF2-40B4-BE49-F238E27FC236}">
                <a16:creationId xmlns:a16="http://schemas.microsoft.com/office/drawing/2014/main" id="{D1592CEF-80EB-082C-223A-3FB1099FCAAB}"/>
              </a:ext>
            </a:extLst>
          </p:cNvPr>
          <p:cNvSpPr>
            <a:spLocks noGrp="1"/>
          </p:cNvSpPr>
          <p:nvPr>
            <p:ph idx="1"/>
          </p:nvPr>
        </p:nvSpPr>
        <p:spPr/>
        <p:txBody>
          <a:bodyPr/>
          <a:lstStyle/>
          <a:p>
            <a:r>
              <a:rPr lang="en-US" dirty="0"/>
              <a:t>Phase 2.4: Automated Testing and CI</a:t>
            </a:r>
          </a:p>
          <a:p>
            <a:pPr lvl="1"/>
            <a:r>
              <a:rPr lang="en-US" dirty="0"/>
              <a:t>Data-validation tests</a:t>
            </a:r>
          </a:p>
          <a:p>
            <a:pPr lvl="1"/>
            <a:r>
              <a:rPr lang="en-US" dirty="0"/>
              <a:t>Feature-engineering tests </a:t>
            </a:r>
          </a:p>
          <a:p>
            <a:pPr lvl="1"/>
            <a:r>
              <a:rPr lang="en-US" dirty="0"/>
              <a:t>Leakage-prevention tests</a:t>
            </a:r>
          </a:p>
          <a:p>
            <a:pPr lvl="1"/>
            <a:r>
              <a:rPr lang="en-US" dirty="0"/>
              <a:t>Model-loading tests</a:t>
            </a:r>
          </a:p>
          <a:p>
            <a:pPr lvl="1"/>
            <a:r>
              <a:rPr lang="en-US" dirty="0"/>
              <a:t>API tests</a:t>
            </a:r>
          </a:p>
          <a:p>
            <a:pPr lvl="1"/>
            <a:r>
              <a:rPr lang="en-US" dirty="0"/>
              <a:t>Container smoke tests</a:t>
            </a:r>
          </a:p>
          <a:p>
            <a:pPr lvl="1"/>
            <a:r>
              <a:rPr lang="en-US" dirty="0"/>
              <a:t>Basic CI workflow</a:t>
            </a:r>
          </a:p>
        </p:txBody>
      </p:sp>
    </p:spTree>
    <p:extLst>
      <p:ext uri="{BB962C8B-B14F-4D97-AF65-F5344CB8AC3E}">
        <p14:creationId xmlns:p14="http://schemas.microsoft.com/office/powerpoint/2010/main" val="3530044692"/>
      </p:ext>
    </p:extLst>
  </p:cSld>
  <p:clrMapOvr>
    <a:overrideClrMapping bg1="lt1" tx1="dk1" bg2="lt2" tx2="dk2" accent1="accent1" accent2="accent2" accent3="accent3" accent4="accent4" accent5="accent5" accent6="accent6" hlink="hlink" folHlink="folHlink"/>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98621-4B49-A349-E2BE-4B38A8767D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16B3B7-82AE-466C-F165-279D93BCA06B}"/>
              </a:ext>
            </a:extLst>
          </p:cNvPr>
          <p:cNvSpPr>
            <a:spLocks noGrp="1"/>
          </p:cNvSpPr>
          <p:nvPr>
            <p:ph type="title"/>
          </p:nvPr>
        </p:nvSpPr>
        <p:spPr/>
        <p:txBody>
          <a:bodyPr/>
          <a:lstStyle/>
          <a:p>
            <a:r>
              <a:rPr lang="en-US" dirty="0"/>
              <a:t>Phase 2.4: Automated Testing and CI</a:t>
            </a:r>
          </a:p>
        </p:txBody>
      </p:sp>
      <p:sp>
        <p:nvSpPr>
          <p:cNvPr id="3" name="Content Placeholder 2">
            <a:extLst>
              <a:ext uri="{FF2B5EF4-FFF2-40B4-BE49-F238E27FC236}">
                <a16:creationId xmlns:a16="http://schemas.microsoft.com/office/drawing/2014/main" id="{7176DDC5-DD95-5933-C51C-9F57FE6BEEEF}"/>
              </a:ext>
            </a:extLst>
          </p:cNvPr>
          <p:cNvSpPr>
            <a:spLocks noGrp="1"/>
          </p:cNvSpPr>
          <p:nvPr>
            <p:ph idx="1"/>
          </p:nvPr>
        </p:nvSpPr>
        <p:spPr/>
        <p:txBody>
          <a:bodyPr/>
          <a:lstStyle/>
          <a:p>
            <a:r>
              <a:rPr lang="en-US" dirty="0"/>
              <a:t>Question #1: What layers of the predictive-maintenance system should be tested, and what kinds of failures should those tests detect?  </a:t>
            </a:r>
          </a:p>
        </p:txBody>
      </p:sp>
    </p:spTree>
    <p:extLst>
      <p:ext uri="{BB962C8B-B14F-4D97-AF65-F5344CB8AC3E}">
        <p14:creationId xmlns:p14="http://schemas.microsoft.com/office/powerpoint/2010/main" val="45558001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304D8-EF66-1DFF-909C-583B9CDF60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06204-75B5-6498-3563-184C0E25ECAD}"/>
              </a:ext>
            </a:extLst>
          </p:cNvPr>
          <p:cNvSpPr>
            <a:spLocks noGrp="1"/>
          </p:cNvSpPr>
          <p:nvPr>
            <p:ph type="title"/>
          </p:nvPr>
        </p:nvSpPr>
        <p:spPr/>
        <p:txBody>
          <a:bodyPr/>
          <a:lstStyle/>
          <a:p>
            <a:r>
              <a:rPr lang="en-US" dirty="0"/>
              <a:t>Phase 2.4: Automated Testing and CI</a:t>
            </a:r>
          </a:p>
        </p:txBody>
      </p:sp>
      <p:sp>
        <p:nvSpPr>
          <p:cNvPr id="3" name="Content Placeholder 2">
            <a:extLst>
              <a:ext uri="{FF2B5EF4-FFF2-40B4-BE49-F238E27FC236}">
                <a16:creationId xmlns:a16="http://schemas.microsoft.com/office/drawing/2014/main" id="{C84DA8D1-304F-88F2-02B2-5A658714E9A3}"/>
              </a:ext>
            </a:extLst>
          </p:cNvPr>
          <p:cNvSpPr>
            <a:spLocks noGrp="1"/>
          </p:cNvSpPr>
          <p:nvPr>
            <p:ph idx="1"/>
          </p:nvPr>
        </p:nvSpPr>
        <p:spPr/>
        <p:txBody>
          <a:bodyPr/>
          <a:lstStyle/>
          <a:p>
            <a:r>
              <a:rPr lang="en-US" dirty="0"/>
              <a:t>Answer #1: </a:t>
            </a:r>
          </a:p>
        </p:txBody>
      </p:sp>
      <p:pic>
        <p:nvPicPr>
          <p:cNvPr id="4" name="Picture 3">
            <a:extLst>
              <a:ext uri="{FF2B5EF4-FFF2-40B4-BE49-F238E27FC236}">
                <a16:creationId xmlns:a16="http://schemas.microsoft.com/office/drawing/2014/main" id="{E768AE14-9376-67A3-52E4-440656866535}"/>
              </a:ext>
            </a:extLst>
          </p:cNvPr>
          <p:cNvPicPr>
            <a:picLocks noChangeAspect="1"/>
          </p:cNvPicPr>
          <p:nvPr/>
        </p:nvPicPr>
        <p:blipFill>
          <a:blip r:embed="rId2"/>
          <a:stretch>
            <a:fillRect/>
          </a:stretch>
        </p:blipFill>
        <p:spPr>
          <a:xfrm>
            <a:off x="7469832" y="0"/>
            <a:ext cx="4722168" cy="5455920"/>
          </a:xfrm>
          <a:prstGeom prst="rect">
            <a:avLst/>
          </a:prstGeom>
        </p:spPr>
      </p:pic>
      <p:pic>
        <p:nvPicPr>
          <p:cNvPr id="5" name="Picture 4">
            <a:extLst>
              <a:ext uri="{FF2B5EF4-FFF2-40B4-BE49-F238E27FC236}">
                <a16:creationId xmlns:a16="http://schemas.microsoft.com/office/drawing/2014/main" id="{CADB6AFD-CAC2-38D2-D708-5D5FF2A2C0C3}"/>
              </a:ext>
            </a:extLst>
          </p:cNvPr>
          <p:cNvPicPr>
            <a:picLocks noChangeAspect="1"/>
          </p:cNvPicPr>
          <p:nvPr/>
        </p:nvPicPr>
        <p:blipFill>
          <a:blip r:embed="rId3"/>
          <a:stretch>
            <a:fillRect/>
          </a:stretch>
        </p:blipFill>
        <p:spPr>
          <a:xfrm>
            <a:off x="0" y="2661547"/>
            <a:ext cx="5776378" cy="4196453"/>
          </a:xfrm>
          <a:prstGeom prst="rect">
            <a:avLst/>
          </a:prstGeom>
        </p:spPr>
      </p:pic>
    </p:spTree>
    <p:extLst>
      <p:ext uri="{BB962C8B-B14F-4D97-AF65-F5344CB8AC3E}">
        <p14:creationId xmlns:p14="http://schemas.microsoft.com/office/powerpoint/2010/main" val="379586244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CB2AB-D927-2364-A05C-CCEB81FF09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DCCC88-C409-F9BC-E1A3-6AA0A8EB3A71}"/>
              </a:ext>
            </a:extLst>
          </p:cNvPr>
          <p:cNvSpPr>
            <a:spLocks noGrp="1"/>
          </p:cNvSpPr>
          <p:nvPr>
            <p:ph type="title"/>
          </p:nvPr>
        </p:nvSpPr>
        <p:spPr/>
        <p:txBody>
          <a:bodyPr/>
          <a:lstStyle/>
          <a:p>
            <a:r>
              <a:rPr lang="en-US" dirty="0"/>
              <a:t>Phase 2.4: Automated Testing and CI</a:t>
            </a:r>
          </a:p>
        </p:txBody>
      </p:sp>
      <p:sp>
        <p:nvSpPr>
          <p:cNvPr id="3" name="Content Placeholder 2">
            <a:extLst>
              <a:ext uri="{FF2B5EF4-FFF2-40B4-BE49-F238E27FC236}">
                <a16:creationId xmlns:a16="http://schemas.microsoft.com/office/drawing/2014/main" id="{C299688F-EBE8-2CFF-A153-83A84387C889}"/>
              </a:ext>
            </a:extLst>
          </p:cNvPr>
          <p:cNvSpPr>
            <a:spLocks noGrp="1"/>
          </p:cNvSpPr>
          <p:nvPr>
            <p:ph idx="1"/>
          </p:nvPr>
        </p:nvSpPr>
        <p:spPr/>
        <p:txBody>
          <a:bodyPr/>
          <a:lstStyle/>
          <a:p>
            <a:r>
              <a:rPr lang="en-US" dirty="0"/>
              <a:t>Question #2: What happens in the CI workflow when code changes, and what does passing CI prove–or fail to prove–about the ML system? </a:t>
            </a:r>
          </a:p>
        </p:txBody>
      </p:sp>
    </p:spTree>
    <p:extLst>
      <p:ext uri="{BB962C8B-B14F-4D97-AF65-F5344CB8AC3E}">
        <p14:creationId xmlns:p14="http://schemas.microsoft.com/office/powerpoint/2010/main" val="328777684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3A21C-81A3-293D-BE60-34108F0FB4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60B99F-B8C1-946C-38D8-15691E67348F}"/>
              </a:ext>
            </a:extLst>
          </p:cNvPr>
          <p:cNvSpPr>
            <a:spLocks noGrp="1"/>
          </p:cNvSpPr>
          <p:nvPr>
            <p:ph type="title"/>
          </p:nvPr>
        </p:nvSpPr>
        <p:spPr/>
        <p:txBody>
          <a:bodyPr/>
          <a:lstStyle/>
          <a:p>
            <a:r>
              <a:rPr lang="en-US" dirty="0"/>
              <a:t>Phase 2.4: Automated Testing and CI</a:t>
            </a:r>
          </a:p>
        </p:txBody>
      </p:sp>
      <p:sp>
        <p:nvSpPr>
          <p:cNvPr id="3" name="Content Placeholder 2">
            <a:extLst>
              <a:ext uri="{FF2B5EF4-FFF2-40B4-BE49-F238E27FC236}">
                <a16:creationId xmlns:a16="http://schemas.microsoft.com/office/drawing/2014/main" id="{F599C761-F08E-1992-5CA1-C581E33C9D01}"/>
              </a:ext>
            </a:extLst>
          </p:cNvPr>
          <p:cNvSpPr>
            <a:spLocks noGrp="1"/>
          </p:cNvSpPr>
          <p:nvPr>
            <p:ph idx="1"/>
          </p:nvPr>
        </p:nvSpPr>
        <p:spPr/>
        <p:txBody>
          <a:bodyPr/>
          <a:lstStyle/>
          <a:p>
            <a:r>
              <a:rPr lang="en-US" dirty="0"/>
              <a:t>Answer #2: </a:t>
            </a:r>
          </a:p>
        </p:txBody>
      </p:sp>
      <p:pic>
        <p:nvPicPr>
          <p:cNvPr id="4" name="Picture 3">
            <a:extLst>
              <a:ext uri="{FF2B5EF4-FFF2-40B4-BE49-F238E27FC236}">
                <a16:creationId xmlns:a16="http://schemas.microsoft.com/office/drawing/2014/main" id="{B009F37E-F820-EDA8-9B6D-F0AE98591BB5}"/>
              </a:ext>
            </a:extLst>
          </p:cNvPr>
          <p:cNvPicPr>
            <a:picLocks noChangeAspect="1"/>
          </p:cNvPicPr>
          <p:nvPr/>
        </p:nvPicPr>
        <p:blipFill>
          <a:blip r:embed="rId2"/>
          <a:stretch>
            <a:fillRect/>
          </a:stretch>
        </p:blipFill>
        <p:spPr>
          <a:xfrm>
            <a:off x="6257018" y="1027906"/>
            <a:ext cx="5934982" cy="5812971"/>
          </a:xfrm>
          <a:prstGeom prst="rect">
            <a:avLst/>
          </a:prstGeom>
        </p:spPr>
      </p:pic>
      <p:pic>
        <p:nvPicPr>
          <p:cNvPr id="5" name="Picture 4">
            <a:extLst>
              <a:ext uri="{FF2B5EF4-FFF2-40B4-BE49-F238E27FC236}">
                <a16:creationId xmlns:a16="http://schemas.microsoft.com/office/drawing/2014/main" id="{37C117C5-ABCE-D5AB-B671-EDF2E5689C59}"/>
              </a:ext>
            </a:extLst>
          </p:cNvPr>
          <p:cNvPicPr>
            <a:picLocks noChangeAspect="1"/>
          </p:cNvPicPr>
          <p:nvPr/>
        </p:nvPicPr>
        <p:blipFill>
          <a:blip r:embed="rId3"/>
          <a:stretch>
            <a:fillRect/>
          </a:stretch>
        </p:blipFill>
        <p:spPr>
          <a:xfrm>
            <a:off x="0" y="4189257"/>
            <a:ext cx="6257017" cy="2650487"/>
          </a:xfrm>
          <a:prstGeom prst="rect">
            <a:avLst/>
          </a:prstGeom>
        </p:spPr>
      </p:pic>
    </p:spTree>
    <p:extLst>
      <p:ext uri="{BB962C8B-B14F-4D97-AF65-F5344CB8AC3E}">
        <p14:creationId xmlns:p14="http://schemas.microsoft.com/office/powerpoint/2010/main" val="340316744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7160418E-F8CB-718C-75B5-C15516C454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767052-DA51-5212-1473-538A4A95DD9C}"/>
              </a:ext>
            </a:extLst>
          </p:cNvPr>
          <p:cNvSpPr>
            <a:spLocks noGrp="1"/>
          </p:cNvSpPr>
          <p:nvPr>
            <p:ph type="title"/>
          </p:nvPr>
        </p:nvSpPr>
        <p:spPr/>
        <p:txBody>
          <a:bodyPr/>
          <a:lstStyle/>
          <a:p>
            <a:r>
              <a:rPr lang="en-US" dirty="0"/>
              <a:t>Part 2: Shippable MVP</a:t>
            </a:r>
          </a:p>
        </p:txBody>
      </p:sp>
      <p:sp>
        <p:nvSpPr>
          <p:cNvPr id="3" name="Content Placeholder 2">
            <a:extLst>
              <a:ext uri="{FF2B5EF4-FFF2-40B4-BE49-F238E27FC236}">
                <a16:creationId xmlns:a16="http://schemas.microsoft.com/office/drawing/2014/main" id="{DD21CD36-7AC3-A094-D27C-E982135A4BEC}"/>
              </a:ext>
            </a:extLst>
          </p:cNvPr>
          <p:cNvSpPr>
            <a:spLocks noGrp="1"/>
          </p:cNvSpPr>
          <p:nvPr>
            <p:ph idx="1"/>
          </p:nvPr>
        </p:nvSpPr>
        <p:spPr/>
        <p:txBody>
          <a:bodyPr/>
          <a:lstStyle/>
          <a:p>
            <a:r>
              <a:rPr lang="en-US" dirty="0"/>
              <a:t>Phase 2.5: Minimal Demo Layer</a:t>
            </a:r>
          </a:p>
          <a:p>
            <a:pPr lvl="1"/>
            <a:r>
              <a:rPr lang="en-US" dirty="0"/>
              <a:t>Simple </a:t>
            </a:r>
            <a:r>
              <a:rPr lang="en-US" dirty="0" err="1"/>
              <a:t>Streamlit</a:t>
            </a:r>
            <a:r>
              <a:rPr lang="en-US" dirty="0"/>
              <a:t> or lightweight front end</a:t>
            </a:r>
          </a:p>
          <a:p>
            <a:pPr lvl="1"/>
            <a:r>
              <a:rPr lang="en-US" dirty="0"/>
              <a:t>Submit engine data</a:t>
            </a:r>
          </a:p>
          <a:p>
            <a:pPr lvl="1"/>
            <a:r>
              <a:rPr lang="en-US" dirty="0"/>
              <a:t>Display predicted RUL</a:t>
            </a:r>
          </a:p>
          <a:p>
            <a:pPr lvl="1"/>
            <a:r>
              <a:rPr lang="en-US" dirty="0"/>
              <a:t>Show recent sensor behavior</a:t>
            </a:r>
          </a:p>
          <a:p>
            <a:pPr lvl="1"/>
            <a:r>
              <a:rPr lang="en-US" dirty="0"/>
              <a:t>Explain the model output and limitations</a:t>
            </a:r>
          </a:p>
        </p:txBody>
      </p:sp>
    </p:spTree>
    <p:extLst>
      <p:ext uri="{BB962C8B-B14F-4D97-AF65-F5344CB8AC3E}">
        <p14:creationId xmlns:p14="http://schemas.microsoft.com/office/powerpoint/2010/main" val="1141453726"/>
      </p:ext>
    </p:extLst>
  </p:cSld>
  <p:clrMapOvr>
    <a:overrideClrMapping bg1="lt1" tx1="dk1" bg2="lt2" tx2="dk2" accent1="accent1" accent2="accent2" accent3="accent3" accent4="accent4" accent5="accent5" accent6="accent6" hlink="hlink" folHlink="folHlink"/>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79740-F6FA-CA39-0B44-6DC2C43269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F1F65F-93E0-9B9D-1319-CAFBD2AD559C}"/>
              </a:ext>
            </a:extLst>
          </p:cNvPr>
          <p:cNvSpPr>
            <a:spLocks noGrp="1"/>
          </p:cNvSpPr>
          <p:nvPr>
            <p:ph type="title"/>
          </p:nvPr>
        </p:nvSpPr>
        <p:spPr/>
        <p:txBody>
          <a:bodyPr/>
          <a:lstStyle/>
          <a:p>
            <a:r>
              <a:rPr lang="en-US" dirty="0"/>
              <a:t>Phase 2.5: Minimal Demo Layer</a:t>
            </a:r>
          </a:p>
        </p:txBody>
      </p:sp>
      <p:sp>
        <p:nvSpPr>
          <p:cNvPr id="3" name="Content Placeholder 2">
            <a:extLst>
              <a:ext uri="{FF2B5EF4-FFF2-40B4-BE49-F238E27FC236}">
                <a16:creationId xmlns:a16="http://schemas.microsoft.com/office/drawing/2014/main" id="{DC2BD1E4-ABAE-131D-E3C5-D602CEBE31D9}"/>
              </a:ext>
            </a:extLst>
          </p:cNvPr>
          <p:cNvSpPr>
            <a:spLocks noGrp="1"/>
          </p:cNvSpPr>
          <p:nvPr>
            <p:ph idx="1"/>
          </p:nvPr>
        </p:nvSpPr>
        <p:spPr/>
        <p:txBody>
          <a:bodyPr/>
          <a:lstStyle/>
          <a:p>
            <a:r>
              <a:rPr lang="en-US" dirty="0"/>
              <a:t>Question #1: What does the minimal demo allow a user to do, and how does it communicate prediction without overstating the model’s reliability? </a:t>
            </a:r>
          </a:p>
        </p:txBody>
      </p:sp>
    </p:spTree>
    <p:extLst>
      <p:ext uri="{BB962C8B-B14F-4D97-AF65-F5344CB8AC3E}">
        <p14:creationId xmlns:p14="http://schemas.microsoft.com/office/powerpoint/2010/main" val="196062189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7640F-843C-96FB-8046-8A8079E439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4DFC20-2FF5-B27A-BC40-E8AFCB05703E}"/>
              </a:ext>
            </a:extLst>
          </p:cNvPr>
          <p:cNvSpPr>
            <a:spLocks noGrp="1"/>
          </p:cNvSpPr>
          <p:nvPr>
            <p:ph type="title"/>
          </p:nvPr>
        </p:nvSpPr>
        <p:spPr/>
        <p:txBody>
          <a:bodyPr/>
          <a:lstStyle/>
          <a:p>
            <a:r>
              <a:rPr lang="en-US" dirty="0"/>
              <a:t>Phase 2.5: Minimal Demo Layer</a:t>
            </a:r>
          </a:p>
        </p:txBody>
      </p:sp>
      <p:sp>
        <p:nvSpPr>
          <p:cNvPr id="3" name="Content Placeholder 2">
            <a:extLst>
              <a:ext uri="{FF2B5EF4-FFF2-40B4-BE49-F238E27FC236}">
                <a16:creationId xmlns:a16="http://schemas.microsoft.com/office/drawing/2014/main" id="{AC273786-8C6A-0FCC-A799-A91ACEB6402B}"/>
              </a:ext>
            </a:extLst>
          </p:cNvPr>
          <p:cNvSpPr>
            <a:spLocks noGrp="1"/>
          </p:cNvSpPr>
          <p:nvPr>
            <p:ph idx="1"/>
          </p:nvPr>
        </p:nvSpPr>
        <p:spPr/>
        <p:txBody>
          <a:bodyPr/>
          <a:lstStyle/>
          <a:p>
            <a:r>
              <a:rPr lang="en-US" dirty="0"/>
              <a:t>Answer #1:</a:t>
            </a:r>
          </a:p>
        </p:txBody>
      </p:sp>
      <p:pic>
        <p:nvPicPr>
          <p:cNvPr id="4" name="Picture 3">
            <a:extLst>
              <a:ext uri="{FF2B5EF4-FFF2-40B4-BE49-F238E27FC236}">
                <a16:creationId xmlns:a16="http://schemas.microsoft.com/office/drawing/2014/main" id="{4563AFC9-DFED-6B6F-B318-C86222ABBD77}"/>
              </a:ext>
            </a:extLst>
          </p:cNvPr>
          <p:cNvPicPr>
            <a:picLocks noChangeAspect="1"/>
          </p:cNvPicPr>
          <p:nvPr/>
        </p:nvPicPr>
        <p:blipFill>
          <a:blip r:embed="rId2"/>
          <a:stretch>
            <a:fillRect/>
          </a:stretch>
        </p:blipFill>
        <p:spPr>
          <a:xfrm>
            <a:off x="6664778" y="1436914"/>
            <a:ext cx="5527222" cy="5421086"/>
          </a:xfrm>
          <a:prstGeom prst="rect">
            <a:avLst/>
          </a:prstGeom>
        </p:spPr>
      </p:pic>
      <p:pic>
        <p:nvPicPr>
          <p:cNvPr id="5" name="Picture 4">
            <a:extLst>
              <a:ext uri="{FF2B5EF4-FFF2-40B4-BE49-F238E27FC236}">
                <a16:creationId xmlns:a16="http://schemas.microsoft.com/office/drawing/2014/main" id="{7939EB8A-0217-310B-1822-5139AF22FEED}"/>
              </a:ext>
            </a:extLst>
          </p:cNvPr>
          <p:cNvPicPr>
            <a:picLocks noChangeAspect="1"/>
          </p:cNvPicPr>
          <p:nvPr/>
        </p:nvPicPr>
        <p:blipFill>
          <a:blip r:embed="rId3"/>
          <a:stretch>
            <a:fillRect/>
          </a:stretch>
        </p:blipFill>
        <p:spPr>
          <a:xfrm>
            <a:off x="0" y="0"/>
            <a:ext cx="6014196" cy="3796461"/>
          </a:xfrm>
          <a:prstGeom prst="rect">
            <a:avLst/>
          </a:prstGeom>
        </p:spPr>
      </p:pic>
      <p:pic>
        <p:nvPicPr>
          <p:cNvPr id="6" name="Picture 5">
            <a:extLst>
              <a:ext uri="{FF2B5EF4-FFF2-40B4-BE49-F238E27FC236}">
                <a16:creationId xmlns:a16="http://schemas.microsoft.com/office/drawing/2014/main" id="{7124EB45-498B-6D11-8F82-1E2D939A7C12}"/>
              </a:ext>
            </a:extLst>
          </p:cNvPr>
          <p:cNvPicPr>
            <a:picLocks noChangeAspect="1"/>
          </p:cNvPicPr>
          <p:nvPr/>
        </p:nvPicPr>
        <p:blipFill>
          <a:blip r:embed="rId4"/>
          <a:stretch>
            <a:fillRect/>
          </a:stretch>
        </p:blipFill>
        <p:spPr>
          <a:xfrm>
            <a:off x="0" y="4497251"/>
            <a:ext cx="6176554" cy="2360749"/>
          </a:xfrm>
          <a:prstGeom prst="rect">
            <a:avLst/>
          </a:prstGeom>
        </p:spPr>
      </p:pic>
    </p:spTree>
    <p:extLst>
      <p:ext uri="{BB962C8B-B14F-4D97-AF65-F5344CB8AC3E}">
        <p14:creationId xmlns:p14="http://schemas.microsoft.com/office/powerpoint/2010/main" val="26354237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5A3BB11F-2B60-0048-6CAE-E68D2AEF49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7E4224-4010-A1A3-A9E3-6F4F89B28749}"/>
              </a:ext>
            </a:extLst>
          </p:cNvPr>
          <p:cNvSpPr>
            <a:spLocks noGrp="1"/>
          </p:cNvSpPr>
          <p:nvPr>
            <p:ph type="title"/>
          </p:nvPr>
        </p:nvSpPr>
        <p:spPr/>
        <p:txBody>
          <a:bodyPr/>
          <a:lstStyle/>
          <a:p>
            <a:r>
              <a:rPr lang="en-US" dirty="0"/>
              <a:t>Part 3: Model Improvement and Production Thinking</a:t>
            </a:r>
          </a:p>
        </p:txBody>
      </p:sp>
      <p:sp>
        <p:nvSpPr>
          <p:cNvPr id="3" name="Content Placeholder 2">
            <a:extLst>
              <a:ext uri="{FF2B5EF4-FFF2-40B4-BE49-F238E27FC236}">
                <a16:creationId xmlns:a16="http://schemas.microsoft.com/office/drawing/2014/main" id="{64BB3DB3-0221-D9E4-291E-FC338184AF42}"/>
              </a:ext>
            </a:extLst>
          </p:cNvPr>
          <p:cNvSpPr>
            <a:spLocks noGrp="1"/>
          </p:cNvSpPr>
          <p:nvPr>
            <p:ph idx="1"/>
          </p:nvPr>
        </p:nvSpPr>
        <p:spPr/>
        <p:txBody>
          <a:bodyPr/>
          <a:lstStyle/>
          <a:p>
            <a:r>
              <a:rPr lang="en-US" dirty="0"/>
              <a:t>Phase 3.1: Advanced Modeling Experimentation</a:t>
            </a:r>
          </a:p>
          <a:p>
            <a:pPr lvl="1"/>
            <a:r>
              <a:rPr lang="en-US" dirty="0"/>
              <a:t>Compare stronger tree-based models</a:t>
            </a:r>
          </a:p>
          <a:p>
            <a:pPr lvl="1"/>
            <a:r>
              <a:rPr lang="en-US" dirty="0"/>
              <a:t>Tune hyperparameters</a:t>
            </a:r>
          </a:p>
          <a:p>
            <a:pPr lvl="1"/>
            <a:r>
              <a:rPr lang="en-US" dirty="0"/>
              <a:t>Compare capped and uncapped targets</a:t>
            </a:r>
          </a:p>
          <a:p>
            <a:pPr lvl="1"/>
            <a:r>
              <a:rPr lang="en-US" dirty="0"/>
              <a:t>Test engine-balanced weighting</a:t>
            </a:r>
          </a:p>
          <a:p>
            <a:pPr lvl="1"/>
            <a:r>
              <a:rPr lang="en-US" dirty="0"/>
              <a:t>Add and ablate temporal features</a:t>
            </a:r>
          </a:p>
          <a:p>
            <a:pPr lvl="1"/>
            <a:r>
              <a:rPr lang="en-US" dirty="0"/>
              <a:t>Evaluate error by RUL region</a:t>
            </a:r>
          </a:p>
        </p:txBody>
      </p:sp>
    </p:spTree>
    <p:extLst>
      <p:ext uri="{BB962C8B-B14F-4D97-AF65-F5344CB8AC3E}">
        <p14:creationId xmlns:p14="http://schemas.microsoft.com/office/powerpoint/2010/main" val="2355653866"/>
      </p:ext>
    </p:extLst>
  </p:cSld>
  <p:clrMapOvr>
    <a:overrideClrMapping bg1="lt1" tx1="dk1" bg2="lt2" tx2="dk2" accent1="accent1" accent2="accent2" accent3="accent3" accent4="accent4" accent5="accent5" accent6="accent6" hlink="hlink" folHlink="folHlink"/>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151B6-9F61-F5F0-8D10-B645B928E0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6EA7D1-96EF-1277-93F2-D67B130BF2BF}"/>
              </a:ext>
            </a:extLst>
          </p:cNvPr>
          <p:cNvSpPr>
            <a:spLocks noGrp="1"/>
          </p:cNvSpPr>
          <p:nvPr>
            <p:ph type="title"/>
          </p:nvPr>
        </p:nvSpPr>
        <p:spPr/>
        <p:txBody>
          <a:bodyPr/>
          <a:lstStyle/>
          <a:p>
            <a:r>
              <a:rPr lang="en-US" dirty="0"/>
              <a:t>Phase 3.1: Advanced Modeling Experimentation</a:t>
            </a:r>
          </a:p>
        </p:txBody>
      </p:sp>
      <p:sp>
        <p:nvSpPr>
          <p:cNvPr id="3" name="Content Placeholder 2">
            <a:extLst>
              <a:ext uri="{FF2B5EF4-FFF2-40B4-BE49-F238E27FC236}">
                <a16:creationId xmlns:a16="http://schemas.microsoft.com/office/drawing/2014/main" id="{A92737AA-CED8-99E2-9B3A-EBEC3F63047D}"/>
              </a:ext>
            </a:extLst>
          </p:cNvPr>
          <p:cNvSpPr>
            <a:spLocks noGrp="1"/>
          </p:cNvSpPr>
          <p:nvPr>
            <p:ph idx="1"/>
          </p:nvPr>
        </p:nvSpPr>
        <p:spPr/>
        <p:txBody>
          <a:bodyPr/>
          <a:lstStyle/>
          <a:p>
            <a:r>
              <a:rPr lang="en-US" dirty="0"/>
              <a:t>Question #1: How did you structure advanced modeling experiments to determine whether gains came from the model, feature engineering, target definition, or training strategy? </a:t>
            </a:r>
          </a:p>
        </p:txBody>
      </p:sp>
    </p:spTree>
    <p:extLst>
      <p:ext uri="{BB962C8B-B14F-4D97-AF65-F5344CB8AC3E}">
        <p14:creationId xmlns:p14="http://schemas.microsoft.com/office/powerpoint/2010/main" val="35254840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F1FF7-142B-BB47-215D-1AA53E1B69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35E982-C2EC-77B8-A6F8-797F5F8ED1E4}"/>
              </a:ext>
            </a:extLst>
          </p:cNvPr>
          <p:cNvSpPr>
            <a:spLocks noGrp="1"/>
          </p:cNvSpPr>
          <p:nvPr>
            <p:ph type="title"/>
          </p:nvPr>
        </p:nvSpPr>
        <p:spPr/>
        <p:txBody>
          <a:bodyPr/>
          <a:lstStyle/>
          <a:p>
            <a:r>
              <a:rPr lang="en-US" dirty="0"/>
              <a:t>Phase 3.1: Advanced Modeling Experimentation</a:t>
            </a:r>
          </a:p>
        </p:txBody>
      </p:sp>
      <p:sp>
        <p:nvSpPr>
          <p:cNvPr id="3" name="Content Placeholder 2">
            <a:extLst>
              <a:ext uri="{FF2B5EF4-FFF2-40B4-BE49-F238E27FC236}">
                <a16:creationId xmlns:a16="http://schemas.microsoft.com/office/drawing/2014/main" id="{C3FD0F8F-3573-3494-B9EA-812F061707F6}"/>
              </a:ext>
            </a:extLst>
          </p:cNvPr>
          <p:cNvSpPr>
            <a:spLocks noGrp="1"/>
          </p:cNvSpPr>
          <p:nvPr>
            <p:ph idx="1"/>
          </p:nvPr>
        </p:nvSpPr>
        <p:spPr/>
        <p:txBody>
          <a:bodyPr/>
          <a:lstStyle/>
          <a:p>
            <a:r>
              <a:rPr lang="en-US" dirty="0"/>
              <a:t>Answer #1:</a:t>
            </a:r>
          </a:p>
        </p:txBody>
      </p:sp>
      <p:pic>
        <p:nvPicPr>
          <p:cNvPr id="4" name="Picture 3">
            <a:extLst>
              <a:ext uri="{FF2B5EF4-FFF2-40B4-BE49-F238E27FC236}">
                <a16:creationId xmlns:a16="http://schemas.microsoft.com/office/drawing/2014/main" id="{871A7AED-1C21-33F3-974F-ED3AA18978DB}"/>
              </a:ext>
            </a:extLst>
          </p:cNvPr>
          <p:cNvPicPr>
            <a:picLocks noChangeAspect="1"/>
          </p:cNvPicPr>
          <p:nvPr/>
        </p:nvPicPr>
        <p:blipFill>
          <a:blip r:embed="rId2"/>
          <a:stretch>
            <a:fillRect/>
          </a:stretch>
        </p:blipFill>
        <p:spPr>
          <a:xfrm>
            <a:off x="7163389" y="0"/>
            <a:ext cx="5028611" cy="6858000"/>
          </a:xfrm>
          <a:prstGeom prst="rect">
            <a:avLst/>
          </a:prstGeom>
        </p:spPr>
      </p:pic>
      <p:pic>
        <p:nvPicPr>
          <p:cNvPr id="5" name="Picture 4">
            <a:extLst>
              <a:ext uri="{FF2B5EF4-FFF2-40B4-BE49-F238E27FC236}">
                <a16:creationId xmlns:a16="http://schemas.microsoft.com/office/drawing/2014/main" id="{AFC8F2A1-E4C3-686F-1AF2-7AF7F9647034}"/>
              </a:ext>
            </a:extLst>
          </p:cNvPr>
          <p:cNvPicPr>
            <a:picLocks noChangeAspect="1"/>
          </p:cNvPicPr>
          <p:nvPr/>
        </p:nvPicPr>
        <p:blipFill>
          <a:blip r:embed="rId3"/>
          <a:stretch>
            <a:fillRect/>
          </a:stretch>
        </p:blipFill>
        <p:spPr>
          <a:xfrm>
            <a:off x="0" y="2288072"/>
            <a:ext cx="5479869" cy="4569928"/>
          </a:xfrm>
          <a:prstGeom prst="rect">
            <a:avLst/>
          </a:prstGeom>
        </p:spPr>
      </p:pic>
    </p:spTree>
    <p:extLst>
      <p:ext uri="{BB962C8B-B14F-4D97-AF65-F5344CB8AC3E}">
        <p14:creationId xmlns:p14="http://schemas.microsoft.com/office/powerpoint/2010/main" val="173961189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3040A-AD7B-D44C-D291-8F942F4DBA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4E31D0-D31C-244B-A882-B70E13312A8E}"/>
              </a:ext>
            </a:extLst>
          </p:cNvPr>
          <p:cNvSpPr>
            <a:spLocks noGrp="1"/>
          </p:cNvSpPr>
          <p:nvPr>
            <p:ph type="title"/>
          </p:nvPr>
        </p:nvSpPr>
        <p:spPr/>
        <p:txBody>
          <a:bodyPr/>
          <a:lstStyle/>
          <a:p>
            <a:r>
              <a:rPr lang="en-US" dirty="0"/>
              <a:t>Phase 3.1: Advanced Modeling Experimentation</a:t>
            </a:r>
          </a:p>
        </p:txBody>
      </p:sp>
      <p:sp>
        <p:nvSpPr>
          <p:cNvPr id="3" name="Content Placeholder 2">
            <a:extLst>
              <a:ext uri="{FF2B5EF4-FFF2-40B4-BE49-F238E27FC236}">
                <a16:creationId xmlns:a16="http://schemas.microsoft.com/office/drawing/2014/main" id="{DBA0B157-640D-0D96-DC84-BBFB2863AB48}"/>
              </a:ext>
            </a:extLst>
          </p:cNvPr>
          <p:cNvSpPr>
            <a:spLocks noGrp="1"/>
          </p:cNvSpPr>
          <p:nvPr>
            <p:ph idx="1"/>
          </p:nvPr>
        </p:nvSpPr>
        <p:spPr/>
        <p:txBody>
          <a:bodyPr/>
          <a:lstStyle/>
          <a:p>
            <a:r>
              <a:rPr lang="en-US" dirty="0"/>
              <a:t>Question #2: What evidence would justify replacing the baseline model with a more advanced model? </a:t>
            </a:r>
          </a:p>
        </p:txBody>
      </p:sp>
    </p:spTree>
    <p:extLst>
      <p:ext uri="{BB962C8B-B14F-4D97-AF65-F5344CB8AC3E}">
        <p14:creationId xmlns:p14="http://schemas.microsoft.com/office/powerpoint/2010/main" val="98105324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48652-2D4D-BCE9-FDBA-AD9F329C38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BD0157-3F15-8813-5E8B-1DF76C8CFC27}"/>
              </a:ext>
            </a:extLst>
          </p:cNvPr>
          <p:cNvSpPr>
            <a:spLocks noGrp="1"/>
          </p:cNvSpPr>
          <p:nvPr>
            <p:ph type="title"/>
          </p:nvPr>
        </p:nvSpPr>
        <p:spPr/>
        <p:txBody>
          <a:bodyPr/>
          <a:lstStyle/>
          <a:p>
            <a:r>
              <a:rPr lang="en-US" dirty="0"/>
              <a:t>Phase 3.1: Advanced Modeling Experimentation</a:t>
            </a:r>
          </a:p>
        </p:txBody>
      </p:sp>
      <p:sp>
        <p:nvSpPr>
          <p:cNvPr id="3" name="Content Placeholder 2">
            <a:extLst>
              <a:ext uri="{FF2B5EF4-FFF2-40B4-BE49-F238E27FC236}">
                <a16:creationId xmlns:a16="http://schemas.microsoft.com/office/drawing/2014/main" id="{9BB6EEBF-6111-60F5-E51A-437CB5352157}"/>
              </a:ext>
            </a:extLst>
          </p:cNvPr>
          <p:cNvSpPr>
            <a:spLocks noGrp="1"/>
          </p:cNvSpPr>
          <p:nvPr>
            <p:ph idx="1"/>
          </p:nvPr>
        </p:nvSpPr>
        <p:spPr/>
        <p:txBody>
          <a:bodyPr/>
          <a:lstStyle/>
          <a:p>
            <a:r>
              <a:rPr lang="en-US" dirty="0"/>
              <a:t>Answer #2:</a:t>
            </a:r>
          </a:p>
        </p:txBody>
      </p:sp>
      <p:pic>
        <p:nvPicPr>
          <p:cNvPr id="4" name="Picture 3">
            <a:extLst>
              <a:ext uri="{FF2B5EF4-FFF2-40B4-BE49-F238E27FC236}">
                <a16:creationId xmlns:a16="http://schemas.microsoft.com/office/drawing/2014/main" id="{F28ED932-95BA-1A8F-B87A-BA89BA97C710}"/>
              </a:ext>
            </a:extLst>
          </p:cNvPr>
          <p:cNvPicPr>
            <a:picLocks noChangeAspect="1"/>
          </p:cNvPicPr>
          <p:nvPr/>
        </p:nvPicPr>
        <p:blipFill>
          <a:blip r:embed="rId2"/>
          <a:stretch>
            <a:fillRect/>
          </a:stretch>
        </p:blipFill>
        <p:spPr>
          <a:xfrm>
            <a:off x="6343315" y="0"/>
            <a:ext cx="5848685" cy="5839097"/>
          </a:xfrm>
          <a:prstGeom prst="rect">
            <a:avLst/>
          </a:prstGeom>
        </p:spPr>
      </p:pic>
      <p:pic>
        <p:nvPicPr>
          <p:cNvPr id="5" name="Picture 4">
            <a:extLst>
              <a:ext uri="{FF2B5EF4-FFF2-40B4-BE49-F238E27FC236}">
                <a16:creationId xmlns:a16="http://schemas.microsoft.com/office/drawing/2014/main" id="{52DEE57D-9AA6-CD14-CA22-171BE6A20C47}"/>
              </a:ext>
            </a:extLst>
          </p:cNvPr>
          <p:cNvPicPr>
            <a:picLocks noChangeAspect="1"/>
          </p:cNvPicPr>
          <p:nvPr/>
        </p:nvPicPr>
        <p:blipFill>
          <a:blip r:embed="rId3"/>
          <a:stretch>
            <a:fillRect/>
          </a:stretch>
        </p:blipFill>
        <p:spPr>
          <a:xfrm>
            <a:off x="0" y="0"/>
            <a:ext cx="5964128" cy="3683726"/>
          </a:xfrm>
          <a:prstGeom prst="rect">
            <a:avLst/>
          </a:prstGeom>
        </p:spPr>
      </p:pic>
      <p:pic>
        <p:nvPicPr>
          <p:cNvPr id="6" name="Picture 5">
            <a:extLst>
              <a:ext uri="{FF2B5EF4-FFF2-40B4-BE49-F238E27FC236}">
                <a16:creationId xmlns:a16="http://schemas.microsoft.com/office/drawing/2014/main" id="{A3667810-C355-7999-2C51-4C611C2BEAF7}"/>
              </a:ext>
            </a:extLst>
          </p:cNvPr>
          <p:cNvPicPr>
            <a:picLocks noChangeAspect="1"/>
          </p:cNvPicPr>
          <p:nvPr/>
        </p:nvPicPr>
        <p:blipFill>
          <a:blip r:embed="rId4"/>
          <a:stretch>
            <a:fillRect/>
          </a:stretch>
        </p:blipFill>
        <p:spPr>
          <a:xfrm>
            <a:off x="0" y="4345232"/>
            <a:ext cx="5848685" cy="2512768"/>
          </a:xfrm>
          <a:prstGeom prst="rect">
            <a:avLst/>
          </a:prstGeom>
        </p:spPr>
      </p:pic>
    </p:spTree>
    <p:extLst>
      <p:ext uri="{BB962C8B-B14F-4D97-AF65-F5344CB8AC3E}">
        <p14:creationId xmlns:p14="http://schemas.microsoft.com/office/powerpoint/2010/main" val="206349348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DE66DD65-0F1D-6D14-4D71-7AC527BDBA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D784A-045C-6273-E016-1128AC6EAE72}"/>
              </a:ext>
            </a:extLst>
          </p:cNvPr>
          <p:cNvSpPr>
            <a:spLocks noGrp="1"/>
          </p:cNvSpPr>
          <p:nvPr>
            <p:ph type="title"/>
          </p:nvPr>
        </p:nvSpPr>
        <p:spPr/>
        <p:txBody>
          <a:bodyPr/>
          <a:lstStyle/>
          <a:p>
            <a:r>
              <a:rPr lang="en-US" dirty="0"/>
              <a:t>Part 3: Model Improvement and Production Thinking</a:t>
            </a:r>
          </a:p>
        </p:txBody>
      </p:sp>
      <p:sp>
        <p:nvSpPr>
          <p:cNvPr id="3" name="Content Placeholder 2">
            <a:extLst>
              <a:ext uri="{FF2B5EF4-FFF2-40B4-BE49-F238E27FC236}">
                <a16:creationId xmlns:a16="http://schemas.microsoft.com/office/drawing/2014/main" id="{00188BA8-06B3-E1F5-B081-CD679A849916}"/>
              </a:ext>
            </a:extLst>
          </p:cNvPr>
          <p:cNvSpPr>
            <a:spLocks noGrp="1"/>
          </p:cNvSpPr>
          <p:nvPr>
            <p:ph idx="1"/>
          </p:nvPr>
        </p:nvSpPr>
        <p:spPr/>
        <p:txBody>
          <a:bodyPr/>
          <a:lstStyle/>
          <a:p>
            <a:r>
              <a:rPr lang="en-US" dirty="0"/>
              <a:t>Phase 3.2: Model Selection, Versioning, and Promotion</a:t>
            </a:r>
          </a:p>
          <a:p>
            <a:pPr lvl="1"/>
            <a:r>
              <a:rPr lang="en-US" dirty="0"/>
              <a:t>Compare candidate models consistently</a:t>
            </a:r>
          </a:p>
          <a:p>
            <a:pPr lvl="1"/>
            <a:r>
              <a:rPr lang="en-US" dirty="0"/>
              <a:t>Register model artifacts</a:t>
            </a:r>
          </a:p>
          <a:p>
            <a:pPr lvl="1"/>
            <a:r>
              <a:rPr lang="en-US" dirty="0"/>
              <a:t>Track model versions</a:t>
            </a:r>
          </a:p>
          <a:p>
            <a:pPr lvl="1"/>
            <a:r>
              <a:rPr lang="en-US" dirty="0"/>
              <a:t>Define promotion criteria</a:t>
            </a:r>
          </a:p>
          <a:p>
            <a:pPr lvl="1"/>
            <a:r>
              <a:rPr lang="en-US" dirty="0"/>
              <a:t>Preserve the ability to roll back</a:t>
            </a:r>
          </a:p>
        </p:txBody>
      </p:sp>
    </p:spTree>
    <p:extLst>
      <p:ext uri="{BB962C8B-B14F-4D97-AF65-F5344CB8AC3E}">
        <p14:creationId xmlns:p14="http://schemas.microsoft.com/office/powerpoint/2010/main" val="832193869"/>
      </p:ext>
    </p:extLst>
  </p:cSld>
  <p:clrMapOvr>
    <a:overrideClrMapping bg1="lt1" tx1="dk1" bg2="lt2" tx2="dk2" accent1="accent1" accent2="accent2" accent3="accent3" accent4="accent4" accent5="accent5" accent6="accent6" hlink="hlink" folHlink="folHlink"/>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B7206-6EC9-1CDD-01F7-7DB2FF79B7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09D35-D035-1F4B-332C-25D05F94DD94}"/>
              </a:ext>
            </a:extLst>
          </p:cNvPr>
          <p:cNvSpPr>
            <a:spLocks noGrp="1"/>
          </p:cNvSpPr>
          <p:nvPr>
            <p:ph type="title"/>
          </p:nvPr>
        </p:nvSpPr>
        <p:spPr/>
        <p:txBody>
          <a:bodyPr/>
          <a:lstStyle/>
          <a:p>
            <a:r>
              <a:rPr lang="en-US" dirty="0"/>
              <a:t>Phase 3.2: Model Selection, Versioning, and Promotion</a:t>
            </a:r>
          </a:p>
        </p:txBody>
      </p:sp>
      <p:sp>
        <p:nvSpPr>
          <p:cNvPr id="3" name="Content Placeholder 2">
            <a:extLst>
              <a:ext uri="{FF2B5EF4-FFF2-40B4-BE49-F238E27FC236}">
                <a16:creationId xmlns:a16="http://schemas.microsoft.com/office/drawing/2014/main" id="{E8776F33-E8BF-C8D5-CBA1-40819E00217E}"/>
              </a:ext>
            </a:extLst>
          </p:cNvPr>
          <p:cNvSpPr>
            <a:spLocks noGrp="1"/>
          </p:cNvSpPr>
          <p:nvPr>
            <p:ph idx="1"/>
          </p:nvPr>
        </p:nvSpPr>
        <p:spPr/>
        <p:txBody>
          <a:bodyPr/>
          <a:lstStyle/>
          <a:p>
            <a:r>
              <a:rPr lang="en-US" dirty="0"/>
              <a:t>Question #1: How did you decide which model should become the deployed version, and how would you version, promote, and roll it back safely? </a:t>
            </a:r>
          </a:p>
        </p:txBody>
      </p:sp>
    </p:spTree>
    <p:extLst>
      <p:ext uri="{BB962C8B-B14F-4D97-AF65-F5344CB8AC3E}">
        <p14:creationId xmlns:p14="http://schemas.microsoft.com/office/powerpoint/2010/main" val="204931235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2BC6F-FA97-652D-926C-5D36CDE690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35A393-127D-FEEE-A675-0D6EE0C100C4}"/>
              </a:ext>
            </a:extLst>
          </p:cNvPr>
          <p:cNvSpPr>
            <a:spLocks noGrp="1"/>
          </p:cNvSpPr>
          <p:nvPr>
            <p:ph type="title"/>
          </p:nvPr>
        </p:nvSpPr>
        <p:spPr/>
        <p:txBody>
          <a:bodyPr/>
          <a:lstStyle/>
          <a:p>
            <a:r>
              <a:rPr lang="en-US" dirty="0"/>
              <a:t>Phase 3.2: Model Selection, Versioning, and Promotion</a:t>
            </a:r>
          </a:p>
        </p:txBody>
      </p:sp>
      <p:sp>
        <p:nvSpPr>
          <p:cNvPr id="3" name="Content Placeholder 2">
            <a:extLst>
              <a:ext uri="{FF2B5EF4-FFF2-40B4-BE49-F238E27FC236}">
                <a16:creationId xmlns:a16="http://schemas.microsoft.com/office/drawing/2014/main" id="{666A87F5-2E32-5292-EB7A-0818FB9E5384}"/>
              </a:ext>
            </a:extLst>
          </p:cNvPr>
          <p:cNvSpPr>
            <a:spLocks noGrp="1"/>
          </p:cNvSpPr>
          <p:nvPr>
            <p:ph idx="1"/>
          </p:nvPr>
        </p:nvSpPr>
        <p:spPr/>
        <p:txBody>
          <a:bodyPr/>
          <a:lstStyle/>
          <a:p>
            <a:r>
              <a:rPr lang="en-US" dirty="0"/>
              <a:t>Answer #2:</a:t>
            </a:r>
          </a:p>
        </p:txBody>
      </p:sp>
      <p:pic>
        <p:nvPicPr>
          <p:cNvPr id="4" name="Picture 3">
            <a:extLst>
              <a:ext uri="{FF2B5EF4-FFF2-40B4-BE49-F238E27FC236}">
                <a16:creationId xmlns:a16="http://schemas.microsoft.com/office/drawing/2014/main" id="{9E037375-09C4-D6AA-8FB3-2CD899C9D673}"/>
              </a:ext>
            </a:extLst>
          </p:cNvPr>
          <p:cNvPicPr>
            <a:picLocks noChangeAspect="1"/>
          </p:cNvPicPr>
          <p:nvPr/>
        </p:nvPicPr>
        <p:blipFill>
          <a:blip r:embed="rId2"/>
          <a:stretch>
            <a:fillRect/>
          </a:stretch>
        </p:blipFill>
        <p:spPr>
          <a:xfrm>
            <a:off x="0" y="0"/>
            <a:ext cx="3670678" cy="3518263"/>
          </a:xfrm>
          <a:prstGeom prst="rect">
            <a:avLst/>
          </a:prstGeom>
        </p:spPr>
      </p:pic>
      <p:pic>
        <p:nvPicPr>
          <p:cNvPr id="5" name="Picture 4">
            <a:extLst>
              <a:ext uri="{FF2B5EF4-FFF2-40B4-BE49-F238E27FC236}">
                <a16:creationId xmlns:a16="http://schemas.microsoft.com/office/drawing/2014/main" id="{18AFB4D2-7BA1-80C7-A905-2FF158497E82}"/>
              </a:ext>
            </a:extLst>
          </p:cNvPr>
          <p:cNvPicPr>
            <a:picLocks noChangeAspect="1"/>
          </p:cNvPicPr>
          <p:nvPr/>
        </p:nvPicPr>
        <p:blipFill>
          <a:blip r:embed="rId3"/>
          <a:stretch>
            <a:fillRect/>
          </a:stretch>
        </p:blipFill>
        <p:spPr>
          <a:xfrm>
            <a:off x="6237742" y="0"/>
            <a:ext cx="5954258" cy="3300549"/>
          </a:xfrm>
          <a:prstGeom prst="rect">
            <a:avLst/>
          </a:prstGeom>
        </p:spPr>
      </p:pic>
      <p:pic>
        <p:nvPicPr>
          <p:cNvPr id="6" name="Picture 5">
            <a:extLst>
              <a:ext uri="{FF2B5EF4-FFF2-40B4-BE49-F238E27FC236}">
                <a16:creationId xmlns:a16="http://schemas.microsoft.com/office/drawing/2014/main" id="{7F1E8821-5794-24F7-389A-E007147D04B2}"/>
              </a:ext>
            </a:extLst>
          </p:cNvPr>
          <p:cNvPicPr>
            <a:picLocks noChangeAspect="1"/>
          </p:cNvPicPr>
          <p:nvPr/>
        </p:nvPicPr>
        <p:blipFill>
          <a:blip r:embed="rId4"/>
          <a:stretch>
            <a:fillRect/>
          </a:stretch>
        </p:blipFill>
        <p:spPr>
          <a:xfrm>
            <a:off x="0" y="3983789"/>
            <a:ext cx="4643846" cy="2874211"/>
          </a:xfrm>
          <a:prstGeom prst="rect">
            <a:avLst/>
          </a:prstGeom>
        </p:spPr>
      </p:pic>
      <p:pic>
        <p:nvPicPr>
          <p:cNvPr id="7" name="Picture 6">
            <a:extLst>
              <a:ext uri="{FF2B5EF4-FFF2-40B4-BE49-F238E27FC236}">
                <a16:creationId xmlns:a16="http://schemas.microsoft.com/office/drawing/2014/main" id="{97942F58-8A5B-06AB-7177-A8682920D9BA}"/>
              </a:ext>
            </a:extLst>
          </p:cNvPr>
          <p:cNvPicPr>
            <a:picLocks noChangeAspect="1"/>
          </p:cNvPicPr>
          <p:nvPr/>
        </p:nvPicPr>
        <p:blipFill>
          <a:blip r:embed="rId5"/>
          <a:stretch>
            <a:fillRect/>
          </a:stretch>
        </p:blipFill>
        <p:spPr>
          <a:xfrm>
            <a:off x="7925257" y="2506662"/>
            <a:ext cx="4266743" cy="4351338"/>
          </a:xfrm>
          <a:prstGeom prst="rect">
            <a:avLst/>
          </a:prstGeom>
        </p:spPr>
      </p:pic>
    </p:spTree>
    <p:extLst>
      <p:ext uri="{BB962C8B-B14F-4D97-AF65-F5344CB8AC3E}">
        <p14:creationId xmlns:p14="http://schemas.microsoft.com/office/powerpoint/2010/main" val="30632721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1A5CDF2B-D515-5ECD-7BC4-ABA55C42EF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1529D9-C5EF-0EE8-2834-F7C46D3A2A51}"/>
              </a:ext>
            </a:extLst>
          </p:cNvPr>
          <p:cNvSpPr>
            <a:spLocks noGrp="1"/>
          </p:cNvSpPr>
          <p:nvPr>
            <p:ph type="title"/>
          </p:nvPr>
        </p:nvSpPr>
        <p:spPr/>
        <p:txBody>
          <a:bodyPr/>
          <a:lstStyle/>
          <a:p>
            <a:r>
              <a:rPr lang="en-US" dirty="0"/>
              <a:t>Part 3: Model Improvement and Production Thinking</a:t>
            </a:r>
          </a:p>
        </p:txBody>
      </p:sp>
      <p:sp>
        <p:nvSpPr>
          <p:cNvPr id="3" name="Content Placeholder 2">
            <a:extLst>
              <a:ext uri="{FF2B5EF4-FFF2-40B4-BE49-F238E27FC236}">
                <a16:creationId xmlns:a16="http://schemas.microsoft.com/office/drawing/2014/main" id="{689CC7C4-0862-B455-F442-95B0CB18F8C1}"/>
              </a:ext>
            </a:extLst>
          </p:cNvPr>
          <p:cNvSpPr>
            <a:spLocks noGrp="1"/>
          </p:cNvSpPr>
          <p:nvPr>
            <p:ph idx="1"/>
          </p:nvPr>
        </p:nvSpPr>
        <p:spPr/>
        <p:txBody>
          <a:bodyPr/>
          <a:lstStyle/>
          <a:p>
            <a:r>
              <a:rPr lang="en-US" dirty="0"/>
              <a:t>Phase 3.3: Monitoring and Logging</a:t>
            </a:r>
          </a:p>
          <a:p>
            <a:pPr lvl="1"/>
            <a:r>
              <a:rPr lang="en-US" dirty="0"/>
              <a:t>Request and prediction logging</a:t>
            </a:r>
          </a:p>
          <a:p>
            <a:pPr lvl="1"/>
            <a:r>
              <a:rPr lang="en-US" dirty="0"/>
              <a:t>Input-schema monitoring</a:t>
            </a:r>
          </a:p>
          <a:p>
            <a:pPr lvl="1"/>
            <a:r>
              <a:rPr lang="en-US" dirty="0"/>
              <a:t>Data-quality monitoring</a:t>
            </a:r>
          </a:p>
          <a:p>
            <a:pPr lvl="1"/>
            <a:r>
              <a:rPr lang="en-US" dirty="0"/>
              <a:t>Feature drift</a:t>
            </a:r>
          </a:p>
          <a:p>
            <a:pPr lvl="1"/>
            <a:r>
              <a:rPr lang="en-US" dirty="0"/>
              <a:t>Prediction drift</a:t>
            </a:r>
          </a:p>
          <a:p>
            <a:pPr lvl="1"/>
            <a:r>
              <a:rPr lang="en-US" dirty="0"/>
              <a:t>Latency and error rates</a:t>
            </a:r>
          </a:p>
          <a:p>
            <a:pPr lvl="1"/>
            <a:r>
              <a:rPr lang="en-US" dirty="0"/>
              <a:t>Delayed performance monitoring when ground truth becomes available</a:t>
            </a:r>
          </a:p>
        </p:txBody>
      </p:sp>
    </p:spTree>
    <p:extLst>
      <p:ext uri="{BB962C8B-B14F-4D97-AF65-F5344CB8AC3E}">
        <p14:creationId xmlns:p14="http://schemas.microsoft.com/office/powerpoint/2010/main" val="1953088371"/>
      </p:ext>
    </p:extLst>
  </p:cSld>
  <p:clrMapOvr>
    <a:overrideClrMapping bg1="lt1" tx1="dk1" bg2="lt2" tx2="dk2" accent1="accent1" accent2="accent2" accent3="accent3" accent4="accent4" accent5="accent5" accent6="accent6" hlink="hlink" folHlink="folHlink"/>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7DB8E-721F-A19B-5678-886B09DF48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0046D4-5374-5D75-CF7A-6671ED2A9B66}"/>
              </a:ext>
            </a:extLst>
          </p:cNvPr>
          <p:cNvSpPr>
            <a:spLocks noGrp="1"/>
          </p:cNvSpPr>
          <p:nvPr>
            <p:ph type="title"/>
          </p:nvPr>
        </p:nvSpPr>
        <p:spPr/>
        <p:txBody>
          <a:bodyPr/>
          <a:lstStyle/>
          <a:p>
            <a:r>
              <a:rPr lang="en-US" dirty="0"/>
              <a:t>Phase 3.3: Monitoring and Logging</a:t>
            </a:r>
          </a:p>
        </p:txBody>
      </p:sp>
      <p:sp>
        <p:nvSpPr>
          <p:cNvPr id="3" name="Content Placeholder 2">
            <a:extLst>
              <a:ext uri="{FF2B5EF4-FFF2-40B4-BE49-F238E27FC236}">
                <a16:creationId xmlns:a16="http://schemas.microsoft.com/office/drawing/2014/main" id="{189452D9-101C-F104-DFFB-DEA1BA1D9D28}"/>
              </a:ext>
            </a:extLst>
          </p:cNvPr>
          <p:cNvSpPr>
            <a:spLocks noGrp="1"/>
          </p:cNvSpPr>
          <p:nvPr>
            <p:ph idx="1"/>
          </p:nvPr>
        </p:nvSpPr>
        <p:spPr/>
        <p:txBody>
          <a:bodyPr/>
          <a:lstStyle/>
          <a:p>
            <a:r>
              <a:rPr lang="en-US" dirty="0"/>
              <a:t>Question #1: What information should the prediction service log and monitor, and how do logging and monitoring serve different purposes? </a:t>
            </a:r>
          </a:p>
        </p:txBody>
      </p:sp>
    </p:spTree>
    <p:extLst>
      <p:ext uri="{BB962C8B-B14F-4D97-AF65-F5344CB8AC3E}">
        <p14:creationId xmlns:p14="http://schemas.microsoft.com/office/powerpoint/2010/main" val="394912669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72473-CE0A-4E2D-A01D-EAA4EA6A3B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4D3E06-C0B8-CD6A-6569-8F78E659FA2B}"/>
              </a:ext>
            </a:extLst>
          </p:cNvPr>
          <p:cNvSpPr>
            <a:spLocks noGrp="1"/>
          </p:cNvSpPr>
          <p:nvPr>
            <p:ph type="title"/>
          </p:nvPr>
        </p:nvSpPr>
        <p:spPr/>
        <p:txBody>
          <a:bodyPr/>
          <a:lstStyle/>
          <a:p>
            <a:r>
              <a:rPr lang="en-US" dirty="0"/>
              <a:t>Phase 3.3: Monitoring and Logging</a:t>
            </a:r>
          </a:p>
        </p:txBody>
      </p:sp>
      <p:sp>
        <p:nvSpPr>
          <p:cNvPr id="3" name="Content Placeholder 2">
            <a:extLst>
              <a:ext uri="{FF2B5EF4-FFF2-40B4-BE49-F238E27FC236}">
                <a16:creationId xmlns:a16="http://schemas.microsoft.com/office/drawing/2014/main" id="{2A222ABD-879E-975E-9577-5C2B4EF9745B}"/>
              </a:ext>
            </a:extLst>
          </p:cNvPr>
          <p:cNvSpPr>
            <a:spLocks noGrp="1"/>
          </p:cNvSpPr>
          <p:nvPr>
            <p:ph idx="1"/>
          </p:nvPr>
        </p:nvSpPr>
        <p:spPr/>
        <p:txBody>
          <a:bodyPr/>
          <a:lstStyle/>
          <a:p>
            <a:r>
              <a:rPr lang="en-US" dirty="0"/>
              <a:t>Answer #1:</a:t>
            </a:r>
          </a:p>
        </p:txBody>
      </p:sp>
      <p:pic>
        <p:nvPicPr>
          <p:cNvPr id="4" name="Picture 3">
            <a:extLst>
              <a:ext uri="{FF2B5EF4-FFF2-40B4-BE49-F238E27FC236}">
                <a16:creationId xmlns:a16="http://schemas.microsoft.com/office/drawing/2014/main" id="{0F1BA328-9D3C-57CB-1BB6-6071923077C5}"/>
              </a:ext>
            </a:extLst>
          </p:cNvPr>
          <p:cNvPicPr>
            <a:picLocks noChangeAspect="1"/>
          </p:cNvPicPr>
          <p:nvPr/>
        </p:nvPicPr>
        <p:blipFill>
          <a:blip r:embed="rId2"/>
          <a:stretch>
            <a:fillRect/>
          </a:stretch>
        </p:blipFill>
        <p:spPr>
          <a:xfrm>
            <a:off x="0" y="0"/>
            <a:ext cx="5834552" cy="3039291"/>
          </a:xfrm>
          <a:prstGeom prst="rect">
            <a:avLst/>
          </a:prstGeom>
        </p:spPr>
      </p:pic>
      <p:pic>
        <p:nvPicPr>
          <p:cNvPr id="5" name="Picture 4">
            <a:extLst>
              <a:ext uri="{FF2B5EF4-FFF2-40B4-BE49-F238E27FC236}">
                <a16:creationId xmlns:a16="http://schemas.microsoft.com/office/drawing/2014/main" id="{007DB5B3-CE84-A59C-98BD-60A788A5590B}"/>
              </a:ext>
            </a:extLst>
          </p:cNvPr>
          <p:cNvPicPr>
            <a:picLocks noChangeAspect="1"/>
          </p:cNvPicPr>
          <p:nvPr/>
        </p:nvPicPr>
        <p:blipFill>
          <a:blip r:embed="rId3"/>
          <a:stretch>
            <a:fillRect/>
          </a:stretch>
        </p:blipFill>
        <p:spPr>
          <a:xfrm>
            <a:off x="5944757" y="0"/>
            <a:ext cx="6247243" cy="3352800"/>
          </a:xfrm>
          <a:prstGeom prst="rect">
            <a:avLst/>
          </a:prstGeom>
        </p:spPr>
      </p:pic>
      <p:pic>
        <p:nvPicPr>
          <p:cNvPr id="6" name="Picture 5">
            <a:extLst>
              <a:ext uri="{FF2B5EF4-FFF2-40B4-BE49-F238E27FC236}">
                <a16:creationId xmlns:a16="http://schemas.microsoft.com/office/drawing/2014/main" id="{4355B154-AF75-C1B5-AD69-ED89B103DC86}"/>
              </a:ext>
            </a:extLst>
          </p:cNvPr>
          <p:cNvPicPr>
            <a:picLocks noChangeAspect="1"/>
          </p:cNvPicPr>
          <p:nvPr/>
        </p:nvPicPr>
        <p:blipFill>
          <a:blip r:embed="rId4"/>
          <a:stretch>
            <a:fillRect/>
          </a:stretch>
        </p:blipFill>
        <p:spPr>
          <a:xfrm>
            <a:off x="1617617" y="3767998"/>
            <a:ext cx="7772400" cy="3090002"/>
          </a:xfrm>
          <a:prstGeom prst="rect">
            <a:avLst/>
          </a:prstGeom>
        </p:spPr>
      </p:pic>
    </p:spTree>
    <p:extLst>
      <p:ext uri="{BB962C8B-B14F-4D97-AF65-F5344CB8AC3E}">
        <p14:creationId xmlns:p14="http://schemas.microsoft.com/office/powerpoint/2010/main" val="260972076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74173-F37A-1924-C47E-BACB6CCDF1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949035-6647-C3DC-9C85-29100561AFC5}"/>
              </a:ext>
            </a:extLst>
          </p:cNvPr>
          <p:cNvSpPr>
            <a:spLocks noGrp="1"/>
          </p:cNvSpPr>
          <p:nvPr>
            <p:ph type="title"/>
          </p:nvPr>
        </p:nvSpPr>
        <p:spPr/>
        <p:txBody>
          <a:bodyPr/>
          <a:lstStyle/>
          <a:p>
            <a:r>
              <a:rPr lang="en-US" dirty="0"/>
              <a:t>Phase 3.3: Monitoring and Logging</a:t>
            </a:r>
          </a:p>
        </p:txBody>
      </p:sp>
      <p:sp>
        <p:nvSpPr>
          <p:cNvPr id="3" name="Content Placeholder 2">
            <a:extLst>
              <a:ext uri="{FF2B5EF4-FFF2-40B4-BE49-F238E27FC236}">
                <a16:creationId xmlns:a16="http://schemas.microsoft.com/office/drawing/2014/main" id="{B1020B86-0E12-F53E-0DA7-C367982C208C}"/>
              </a:ext>
            </a:extLst>
          </p:cNvPr>
          <p:cNvSpPr>
            <a:spLocks noGrp="1"/>
          </p:cNvSpPr>
          <p:nvPr>
            <p:ph idx="1"/>
          </p:nvPr>
        </p:nvSpPr>
        <p:spPr/>
        <p:txBody>
          <a:bodyPr/>
          <a:lstStyle/>
          <a:p>
            <a:r>
              <a:rPr lang="en-US" dirty="0"/>
              <a:t>Question #2: How would you monitor model health when ground-truth RUL labels are delayed or unavailable, and what actions should different alerts trigger? </a:t>
            </a:r>
          </a:p>
        </p:txBody>
      </p:sp>
    </p:spTree>
    <p:extLst>
      <p:ext uri="{BB962C8B-B14F-4D97-AF65-F5344CB8AC3E}">
        <p14:creationId xmlns:p14="http://schemas.microsoft.com/office/powerpoint/2010/main" val="3355507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E0DE4-219D-89F3-4852-EC2E124A3B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16CD4-006E-82E4-A0E2-E602340CE904}"/>
              </a:ext>
            </a:extLst>
          </p:cNvPr>
          <p:cNvSpPr>
            <a:spLocks noGrp="1"/>
          </p:cNvSpPr>
          <p:nvPr>
            <p:ph type="title"/>
          </p:nvPr>
        </p:nvSpPr>
        <p:spPr/>
        <p:txBody>
          <a:bodyPr/>
          <a:lstStyle/>
          <a:p>
            <a:r>
              <a:rPr lang="en-US" dirty="0"/>
              <a:t>Phase 3.3: Monitoring and Logging</a:t>
            </a:r>
          </a:p>
        </p:txBody>
      </p:sp>
      <p:sp>
        <p:nvSpPr>
          <p:cNvPr id="3" name="Content Placeholder 2">
            <a:extLst>
              <a:ext uri="{FF2B5EF4-FFF2-40B4-BE49-F238E27FC236}">
                <a16:creationId xmlns:a16="http://schemas.microsoft.com/office/drawing/2014/main" id="{741DAC67-B7F1-E6FE-844D-31D810E3672F}"/>
              </a:ext>
            </a:extLst>
          </p:cNvPr>
          <p:cNvSpPr>
            <a:spLocks noGrp="1"/>
          </p:cNvSpPr>
          <p:nvPr>
            <p:ph idx="1"/>
          </p:nvPr>
        </p:nvSpPr>
        <p:spPr/>
        <p:txBody>
          <a:bodyPr/>
          <a:lstStyle/>
          <a:p>
            <a:r>
              <a:rPr lang="en-US" dirty="0"/>
              <a:t>Answer #2:</a:t>
            </a:r>
          </a:p>
        </p:txBody>
      </p:sp>
      <p:pic>
        <p:nvPicPr>
          <p:cNvPr id="4" name="Picture 3">
            <a:extLst>
              <a:ext uri="{FF2B5EF4-FFF2-40B4-BE49-F238E27FC236}">
                <a16:creationId xmlns:a16="http://schemas.microsoft.com/office/drawing/2014/main" id="{2E4EB0E2-4A5B-FA3F-B3C1-CFEC5148A7C3}"/>
              </a:ext>
            </a:extLst>
          </p:cNvPr>
          <p:cNvPicPr>
            <a:picLocks noChangeAspect="1"/>
          </p:cNvPicPr>
          <p:nvPr/>
        </p:nvPicPr>
        <p:blipFill>
          <a:blip r:embed="rId2"/>
          <a:stretch>
            <a:fillRect/>
          </a:stretch>
        </p:blipFill>
        <p:spPr>
          <a:xfrm>
            <a:off x="0" y="0"/>
            <a:ext cx="4925903" cy="5042263"/>
          </a:xfrm>
          <a:prstGeom prst="rect">
            <a:avLst/>
          </a:prstGeom>
        </p:spPr>
      </p:pic>
      <p:pic>
        <p:nvPicPr>
          <p:cNvPr id="5" name="Picture 4">
            <a:extLst>
              <a:ext uri="{FF2B5EF4-FFF2-40B4-BE49-F238E27FC236}">
                <a16:creationId xmlns:a16="http://schemas.microsoft.com/office/drawing/2014/main" id="{798190CF-4305-F6FE-2FF6-7235235436E6}"/>
              </a:ext>
            </a:extLst>
          </p:cNvPr>
          <p:cNvPicPr>
            <a:picLocks noChangeAspect="1"/>
          </p:cNvPicPr>
          <p:nvPr/>
        </p:nvPicPr>
        <p:blipFill>
          <a:blip r:embed="rId3"/>
          <a:stretch>
            <a:fillRect/>
          </a:stretch>
        </p:blipFill>
        <p:spPr>
          <a:xfrm>
            <a:off x="6297148" y="0"/>
            <a:ext cx="5894852" cy="4705474"/>
          </a:xfrm>
          <a:prstGeom prst="rect">
            <a:avLst/>
          </a:prstGeom>
        </p:spPr>
      </p:pic>
      <p:pic>
        <p:nvPicPr>
          <p:cNvPr id="6" name="Picture 5">
            <a:extLst>
              <a:ext uri="{FF2B5EF4-FFF2-40B4-BE49-F238E27FC236}">
                <a16:creationId xmlns:a16="http://schemas.microsoft.com/office/drawing/2014/main" id="{DD41FB3C-A310-0584-37D0-1CB2B8329B58}"/>
              </a:ext>
            </a:extLst>
          </p:cNvPr>
          <p:cNvPicPr>
            <a:picLocks noChangeAspect="1"/>
          </p:cNvPicPr>
          <p:nvPr/>
        </p:nvPicPr>
        <p:blipFill>
          <a:blip r:embed="rId4"/>
          <a:stretch>
            <a:fillRect/>
          </a:stretch>
        </p:blipFill>
        <p:spPr>
          <a:xfrm>
            <a:off x="4925902" y="4701221"/>
            <a:ext cx="3669457" cy="2162745"/>
          </a:xfrm>
          <a:prstGeom prst="rect">
            <a:avLst/>
          </a:prstGeom>
        </p:spPr>
      </p:pic>
    </p:spTree>
    <p:extLst>
      <p:ext uri="{BB962C8B-B14F-4D97-AF65-F5344CB8AC3E}">
        <p14:creationId xmlns:p14="http://schemas.microsoft.com/office/powerpoint/2010/main" val="429267778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9F78758C-461F-D672-B532-F655D8DD9E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B48300-E642-E948-7FDE-2ECDA2DBD164}"/>
              </a:ext>
            </a:extLst>
          </p:cNvPr>
          <p:cNvSpPr>
            <a:spLocks noGrp="1"/>
          </p:cNvSpPr>
          <p:nvPr>
            <p:ph type="title"/>
          </p:nvPr>
        </p:nvSpPr>
        <p:spPr/>
        <p:txBody>
          <a:bodyPr/>
          <a:lstStyle/>
          <a:p>
            <a:r>
              <a:rPr lang="en-US" dirty="0"/>
              <a:t>Part 3: Model Improvement and Production Thinking</a:t>
            </a:r>
          </a:p>
        </p:txBody>
      </p:sp>
      <p:sp>
        <p:nvSpPr>
          <p:cNvPr id="3" name="Content Placeholder 2">
            <a:extLst>
              <a:ext uri="{FF2B5EF4-FFF2-40B4-BE49-F238E27FC236}">
                <a16:creationId xmlns:a16="http://schemas.microsoft.com/office/drawing/2014/main" id="{65992BB6-850E-AE91-91C2-1F7D4860E46A}"/>
              </a:ext>
            </a:extLst>
          </p:cNvPr>
          <p:cNvSpPr>
            <a:spLocks noGrp="1"/>
          </p:cNvSpPr>
          <p:nvPr>
            <p:ph idx="1"/>
          </p:nvPr>
        </p:nvSpPr>
        <p:spPr/>
        <p:txBody>
          <a:bodyPr/>
          <a:lstStyle/>
          <a:p>
            <a:r>
              <a:rPr lang="en-US" dirty="0"/>
              <a:t>Phase 3.4: Retraining and Production Failure Modes</a:t>
            </a:r>
          </a:p>
          <a:p>
            <a:pPr lvl="1"/>
            <a:r>
              <a:rPr lang="en-US" dirty="0"/>
              <a:t>Define retraining triggers</a:t>
            </a:r>
          </a:p>
          <a:p>
            <a:pPr lvl="1"/>
            <a:r>
              <a:rPr lang="en-US" dirty="0"/>
              <a:t>Consider delayed labels</a:t>
            </a:r>
          </a:p>
          <a:p>
            <a:pPr lvl="1"/>
            <a:r>
              <a:rPr lang="en-US" dirty="0"/>
              <a:t>Handle distribution shifts</a:t>
            </a:r>
          </a:p>
          <a:p>
            <a:pPr lvl="1"/>
            <a:r>
              <a:rPr lang="en-US" dirty="0"/>
              <a:t>Document fallback behavior</a:t>
            </a:r>
          </a:p>
          <a:p>
            <a:pPr lvl="1"/>
            <a:r>
              <a:rPr lang="en-US" dirty="0"/>
              <a:t>Discuss model degradation and rollback</a:t>
            </a:r>
          </a:p>
        </p:txBody>
      </p:sp>
    </p:spTree>
    <p:extLst>
      <p:ext uri="{BB962C8B-B14F-4D97-AF65-F5344CB8AC3E}">
        <p14:creationId xmlns:p14="http://schemas.microsoft.com/office/powerpoint/2010/main" val="1695138918"/>
      </p:ext>
    </p:extLst>
  </p:cSld>
  <p:clrMapOvr>
    <a:overrideClrMapping bg1="lt1" tx1="dk1" bg2="lt2" tx2="dk2" accent1="accent1" accent2="accent2" accent3="accent3" accent4="accent4" accent5="accent5" accent6="accent6" hlink="hlink" folHlink="folHlink"/>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12AEA-6C46-4054-EA8F-9066EE710B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D17C3B-B516-D349-338C-506D39820EE1}"/>
              </a:ext>
            </a:extLst>
          </p:cNvPr>
          <p:cNvSpPr>
            <a:spLocks noGrp="1"/>
          </p:cNvSpPr>
          <p:nvPr>
            <p:ph type="title"/>
          </p:nvPr>
        </p:nvSpPr>
        <p:spPr/>
        <p:txBody>
          <a:bodyPr/>
          <a:lstStyle/>
          <a:p>
            <a:r>
              <a:rPr lang="en-US" dirty="0"/>
              <a:t>Phase 3.4: Retraining and Production Failure Modes</a:t>
            </a:r>
          </a:p>
        </p:txBody>
      </p:sp>
      <p:sp>
        <p:nvSpPr>
          <p:cNvPr id="3" name="Content Placeholder 2">
            <a:extLst>
              <a:ext uri="{FF2B5EF4-FFF2-40B4-BE49-F238E27FC236}">
                <a16:creationId xmlns:a16="http://schemas.microsoft.com/office/drawing/2014/main" id="{85C03925-E5A5-A83F-1D18-1A9994A5B05E}"/>
              </a:ext>
            </a:extLst>
          </p:cNvPr>
          <p:cNvSpPr>
            <a:spLocks noGrp="1"/>
          </p:cNvSpPr>
          <p:nvPr>
            <p:ph idx="1"/>
          </p:nvPr>
        </p:nvSpPr>
        <p:spPr/>
        <p:txBody>
          <a:bodyPr/>
          <a:lstStyle/>
          <a:p>
            <a:r>
              <a:rPr lang="en-US" dirty="0"/>
              <a:t>Question #1: What conditions would justify retraining the model, and how would you respond to production failures without automatically assuming retraining is the solution? </a:t>
            </a:r>
          </a:p>
        </p:txBody>
      </p:sp>
    </p:spTree>
    <p:extLst>
      <p:ext uri="{BB962C8B-B14F-4D97-AF65-F5344CB8AC3E}">
        <p14:creationId xmlns:p14="http://schemas.microsoft.com/office/powerpoint/2010/main" val="80106178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D3AC1-AF09-9F51-782C-07C989B38E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0D0CFD-CEA3-E933-001E-EDC9CCC449E2}"/>
              </a:ext>
            </a:extLst>
          </p:cNvPr>
          <p:cNvSpPr>
            <a:spLocks noGrp="1"/>
          </p:cNvSpPr>
          <p:nvPr>
            <p:ph type="title"/>
          </p:nvPr>
        </p:nvSpPr>
        <p:spPr/>
        <p:txBody>
          <a:bodyPr/>
          <a:lstStyle/>
          <a:p>
            <a:r>
              <a:rPr lang="en-US" dirty="0"/>
              <a:t>Phase 3.4: Retraining and Production Failure Modes</a:t>
            </a:r>
          </a:p>
        </p:txBody>
      </p:sp>
      <p:sp>
        <p:nvSpPr>
          <p:cNvPr id="3" name="Content Placeholder 2">
            <a:extLst>
              <a:ext uri="{FF2B5EF4-FFF2-40B4-BE49-F238E27FC236}">
                <a16:creationId xmlns:a16="http://schemas.microsoft.com/office/drawing/2014/main" id="{B96FB0D9-D506-D22C-9855-6D6A49CBB04A}"/>
              </a:ext>
            </a:extLst>
          </p:cNvPr>
          <p:cNvSpPr>
            <a:spLocks noGrp="1"/>
          </p:cNvSpPr>
          <p:nvPr>
            <p:ph idx="1"/>
          </p:nvPr>
        </p:nvSpPr>
        <p:spPr/>
        <p:txBody>
          <a:bodyPr/>
          <a:lstStyle/>
          <a:p>
            <a:r>
              <a:rPr lang="en-US" dirty="0"/>
              <a:t>Answer #1:</a:t>
            </a:r>
          </a:p>
        </p:txBody>
      </p:sp>
      <p:pic>
        <p:nvPicPr>
          <p:cNvPr id="4" name="Picture 3">
            <a:extLst>
              <a:ext uri="{FF2B5EF4-FFF2-40B4-BE49-F238E27FC236}">
                <a16:creationId xmlns:a16="http://schemas.microsoft.com/office/drawing/2014/main" id="{750D3C29-A42B-87A4-FF9E-E5BE3B8085DB}"/>
              </a:ext>
            </a:extLst>
          </p:cNvPr>
          <p:cNvPicPr>
            <a:picLocks noChangeAspect="1"/>
          </p:cNvPicPr>
          <p:nvPr/>
        </p:nvPicPr>
        <p:blipFill>
          <a:blip r:embed="rId2"/>
          <a:stretch>
            <a:fillRect/>
          </a:stretch>
        </p:blipFill>
        <p:spPr>
          <a:xfrm>
            <a:off x="911" y="0"/>
            <a:ext cx="6095089" cy="5124389"/>
          </a:xfrm>
          <a:prstGeom prst="rect">
            <a:avLst/>
          </a:prstGeom>
        </p:spPr>
      </p:pic>
      <p:pic>
        <p:nvPicPr>
          <p:cNvPr id="5" name="Picture 4">
            <a:extLst>
              <a:ext uri="{FF2B5EF4-FFF2-40B4-BE49-F238E27FC236}">
                <a16:creationId xmlns:a16="http://schemas.microsoft.com/office/drawing/2014/main" id="{F41713E3-FE68-66D0-9F3B-C27E4677D239}"/>
              </a:ext>
            </a:extLst>
          </p:cNvPr>
          <p:cNvPicPr>
            <a:picLocks noChangeAspect="1"/>
          </p:cNvPicPr>
          <p:nvPr/>
        </p:nvPicPr>
        <p:blipFill>
          <a:blip r:embed="rId3"/>
          <a:stretch>
            <a:fillRect/>
          </a:stretch>
        </p:blipFill>
        <p:spPr>
          <a:xfrm>
            <a:off x="6557555" y="0"/>
            <a:ext cx="5634446" cy="3206303"/>
          </a:xfrm>
          <a:prstGeom prst="rect">
            <a:avLst/>
          </a:prstGeom>
        </p:spPr>
      </p:pic>
      <p:pic>
        <p:nvPicPr>
          <p:cNvPr id="6" name="Picture 5">
            <a:extLst>
              <a:ext uri="{FF2B5EF4-FFF2-40B4-BE49-F238E27FC236}">
                <a16:creationId xmlns:a16="http://schemas.microsoft.com/office/drawing/2014/main" id="{F06FF767-2D82-7DFD-8E42-212D6563FB6D}"/>
              </a:ext>
            </a:extLst>
          </p:cNvPr>
          <p:cNvPicPr>
            <a:picLocks noChangeAspect="1"/>
          </p:cNvPicPr>
          <p:nvPr/>
        </p:nvPicPr>
        <p:blipFill>
          <a:blip r:embed="rId4"/>
          <a:stretch>
            <a:fillRect/>
          </a:stretch>
        </p:blipFill>
        <p:spPr>
          <a:xfrm>
            <a:off x="7438293" y="3429001"/>
            <a:ext cx="4753708" cy="3429000"/>
          </a:xfrm>
          <a:prstGeom prst="rect">
            <a:avLst/>
          </a:prstGeom>
        </p:spPr>
      </p:pic>
    </p:spTree>
    <p:extLst>
      <p:ext uri="{BB962C8B-B14F-4D97-AF65-F5344CB8AC3E}">
        <p14:creationId xmlns:p14="http://schemas.microsoft.com/office/powerpoint/2010/main" val="51784492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01188232-886C-D63D-9F1F-EABC30BDFB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E0FE94-7FEE-CD68-0C38-2B9C841CE8D7}"/>
              </a:ext>
            </a:extLst>
          </p:cNvPr>
          <p:cNvSpPr>
            <a:spLocks noGrp="1"/>
          </p:cNvSpPr>
          <p:nvPr>
            <p:ph type="title"/>
          </p:nvPr>
        </p:nvSpPr>
        <p:spPr/>
        <p:txBody>
          <a:bodyPr/>
          <a:lstStyle/>
          <a:p>
            <a:r>
              <a:rPr lang="en-US" dirty="0"/>
              <a:t>Part 4: Portfolio Presentation and Final Polish</a:t>
            </a:r>
          </a:p>
        </p:txBody>
      </p:sp>
      <p:sp>
        <p:nvSpPr>
          <p:cNvPr id="3" name="Content Placeholder 2">
            <a:extLst>
              <a:ext uri="{FF2B5EF4-FFF2-40B4-BE49-F238E27FC236}">
                <a16:creationId xmlns:a16="http://schemas.microsoft.com/office/drawing/2014/main" id="{881FD49C-D513-DF71-3670-333D964AA988}"/>
              </a:ext>
            </a:extLst>
          </p:cNvPr>
          <p:cNvSpPr>
            <a:spLocks noGrp="1"/>
          </p:cNvSpPr>
          <p:nvPr>
            <p:ph idx="1"/>
          </p:nvPr>
        </p:nvSpPr>
        <p:spPr/>
        <p:txBody>
          <a:bodyPr/>
          <a:lstStyle/>
          <a:p>
            <a:r>
              <a:rPr lang="en-US" dirty="0"/>
              <a:t>Phase 4.1: Documentation and Technical Storytelling</a:t>
            </a:r>
          </a:p>
          <a:p>
            <a:pPr lvl="1"/>
            <a:r>
              <a:rPr lang="en-US" dirty="0"/>
              <a:t>High-quality README</a:t>
            </a:r>
          </a:p>
          <a:p>
            <a:pPr lvl="1"/>
            <a:r>
              <a:rPr lang="en-US" dirty="0"/>
              <a:t>Architecture diagram</a:t>
            </a:r>
          </a:p>
          <a:p>
            <a:pPr lvl="1"/>
            <a:r>
              <a:rPr lang="en-US" dirty="0"/>
              <a:t>Data-flow diagram</a:t>
            </a:r>
          </a:p>
          <a:p>
            <a:pPr lvl="1"/>
            <a:r>
              <a:rPr lang="en-US" dirty="0"/>
              <a:t>Model-development narrative</a:t>
            </a:r>
          </a:p>
          <a:p>
            <a:pPr lvl="1"/>
            <a:r>
              <a:rPr lang="en-US" dirty="0"/>
              <a:t>Model card</a:t>
            </a:r>
          </a:p>
          <a:p>
            <a:pPr lvl="1"/>
            <a:r>
              <a:rPr lang="en-US" dirty="0"/>
              <a:t>Data assumptions and limitations</a:t>
            </a:r>
          </a:p>
          <a:p>
            <a:pPr lvl="1"/>
            <a:r>
              <a:rPr lang="en-US" dirty="0"/>
              <a:t>Reproduction instructions </a:t>
            </a:r>
          </a:p>
        </p:txBody>
      </p:sp>
    </p:spTree>
    <p:extLst>
      <p:ext uri="{BB962C8B-B14F-4D97-AF65-F5344CB8AC3E}">
        <p14:creationId xmlns:p14="http://schemas.microsoft.com/office/powerpoint/2010/main" val="3799832400"/>
      </p:ext>
    </p:extLst>
  </p:cSld>
  <p:clrMapOvr>
    <a:overrideClrMapping bg1="lt1" tx1="dk1" bg2="lt2" tx2="dk2" accent1="accent1" accent2="accent2" accent3="accent3" accent4="accent4" accent5="accent5" accent6="accent6" hlink="hlink" folHlink="folHlink"/>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9B965719-0F72-7657-389F-BF51E21605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C2FF28-983A-AC04-B11E-37EED7E87529}"/>
              </a:ext>
            </a:extLst>
          </p:cNvPr>
          <p:cNvSpPr>
            <a:spLocks noGrp="1"/>
          </p:cNvSpPr>
          <p:nvPr>
            <p:ph type="title"/>
          </p:nvPr>
        </p:nvSpPr>
        <p:spPr/>
        <p:txBody>
          <a:bodyPr/>
          <a:lstStyle/>
          <a:p>
            <a:r>
              <a:rPr lang="en-US" dirty="0"/>
              <a:t>Part 4: Portfolio Presentation and Final Polish</a:t>
            </a:r>
          </a:p>
        </p:txBody>
      </p:sp>
      <p:sp>
        <p:nvSpPr>
          <p:cNvPr id="3" name="Content Placeholder 2">
            <a:extLst>
              <a:ext uri="{FF2B5EF4-FFF2-40B4-BE49-F238E27FC236}">
                <a16:creationId xmlns:a16="http://schemas.microsoft.com/office/drawing/2014/main" id="{FBE5B7E0-D329-5CA7-DA0D-2E0F2575DD73}"/>
              </a:ext>
            </a:extLst>
          </p:cNvPr>
          <p:cNvSpPr>
            <a:spLocks noGrp="1"/>
          </p:cNvSpPr>
          <p:nvPr>
            <p:ph idx="1"/>
          </p:nvPr>
        </p:nvSpPr>
        <p:spPr/>
        <p:txBody>
          <a:bodyPr/>
          <a:lstStyle/>
          <a:p>
            <a:r>
              <a:rPr lang="en-US" dirty="0"/>
              <a:t>Phase 4.2: Demo and Visual Presentation</a:t>
            </a:r>
          </a:p>
          <a:p>
            <a:pPr lvl="1"/>
            <a:r>
              <a:rPr lang="en-US" dirty="0"/>
              <a:t>Screenshots or short demo video</a:t>
            </a:r>
          </a:p>
          <a:p>
            <a:pPr lvl="1"/>
            <a:r>
              <a:rPr lang="en-US" dirty="0"/>
              <a:t>Clear example prediction</a:t>
            </a:r>
          </a:p>
          <a:p>
            <a:pPr lvl="1"/>
            <a:r>
              <a:rPr lang="en-US" dirty="0"/>
              <a:t>EDA highlights</a:t>
            </a:r>
          </a:p>
          <a:p>
            <a:pPr lvl="1"/>
            <a:r>
              <a:rPr lang="en-US" dirty="0"/>
              <a:t>Model-comparison visuals</a:t>
            </a:r>
          </a:p>
          <a:p>
            <a:pPr lvl="1"/>
            <a:r>
              <a:rPr lang="en-US" dirty="0"/>
              <a:t>Monitoring dashboard examples</a:t>
            </a:r>
          </a:p>
          <a:p>
            <a:pPr lvl="1"/>
            <a:r>
              <a:rPr lang="en-US" dirty="0"/>
              <a:t>Business interpretation</a:t>
            </a:r>
          </a:p>
        </p:txBody>
      </p:sp>
    </p:spTree>
    <p:extLst>
      <p:ext uri="{BB962C8B-B14F-4D97-AF65-F5344CB8AC3E}">
        <p14:creationId xmlns:p14="http://schemas.microsoft.com/office/powerpoint/2010/main" val="2789416317"/>
      </p:ext>
    </p:extLst>
  </p:cSld>
  <p:clrMapOvr>
    <a:overrideClrMapping bg1="lt1" tx1="dk1" bg2="lt2" tx2="dk2" accent1="accent1" accent2="accent2" accent3="accent3" accent4="accent4" accent5="accent5" accent6="accent6" hlink="hlink" folHlink="folHlink"/>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366DFB82-5F60-EA44-B221-8B2753ED19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FBF50B-BCF4-0143-6B90-8C4C6B9AA485}"/>
              </a:ext>
            </a:extLst>
          </p:cNvPr>
          <p:cNvSpPr>
            <a:spLocks noGrp="1"/>
          </p:cNvSpPr>
          <p:nvPr>
            <p:ph type="title"/>
          </p:nvPr>
        </p:nvSpPr>
        <p:spPr/>
        <p:txBody>
          <a:bodyPr/>
          <a:lstStyle/>
          <a:p>
            <a:r>
              <a:rPr lang="en-US" dirty="0"/>
              <a:t>Part 4: Portfolio Presentation and Final Polish</a:t>
            </a:r>
          </a:p>
        </p:txBody>
      </p:sp>
      <p:sp>
        <p:nvSpPr>
          <p:cNvPr id="3" name="Content Placeholder 2">
            <a:extLst>
              <a:ext uri="{FF2B5EF4-FFF2-40B4-BE49-F238E27FC236}">
                <a16:creationId xmlns:a16="http://schemas.microsoft.com/office/drawing/2014/main" id="{E33EDEB2-47CC-36F4-C0CC-5EB1B542691B}"/>
              </a:ext>
            </a:extLst>
          </p:cNvPr>
          <p:cNvSpPr>
            <a:spLocks noGrp="1"/>
          </p:cNvSpPr>
          <p:nvPr>
            <p:ph idx="1"/>
          </p:nvPr>
        </p:nvSpPr>
        <p:spPr/>
        <p:txBody>
          <a:bodyPr/>
          <a:lstStyle/>
          <a:p>
            <a:r>
              <a:rPr lang="en-US" dirty="0"/>
              <a:t>Phase 4.3: Repository and Portfolio Polish</a:t>
            </a:r>
          </a:p>
          <a:p>
            <a:pPr lvl="1"/>
            <a:r>
              <a:rPr lang="en-US" dirty="0"/>
              <a:t>Clean project structure</a:t>
            </a:r>
          </a:p>
          <a:p>
            <a:pPr lvl="1"/>
            <a:r>
              <a:rPr lang="en-US" dirty="0"/>
              <a:t>Remove exploratory clutter</a:t>
            </a:r>
          </a:p>
          <a:p>
            <a:pPr lvl="1"/>
            <a:r>
              <a:rPr lang="en-US" dirty="0"/>
              <a:t>Improve naming and comments</a:t>
            </a:r>
          </a:p>
          <a:p>
            <a:pPr lvl="1"/>
            <a:r>
              <a:rPr lang="en-US" dirty="0"/>
              <a:t>Confirm tests and CI pass</a:t>
            </a:r>
          </a:p>
          <a:p>
            <a:pPr lvl="1"/>
            <a:r>
              <a:rPr lang="en-US" dirty="0"/>
              <a:t>Add resume bullets </a:t>
            </a:r>
          </a:p>
          <a:p>
            <a:pPr lvl="1"/>
            <a:r>
              <a:rPr lang="en-US" dirty="0"/>
              <a:t>Prepare interview explanations</a:t>
            </a:r>
          </a:p>
        </p:txBody>
      </p:sp>
    </p:spTree>
    <p:extLst>
      <p:ext uri="{BB962C8B-B14F-4D97-AF65-F5344CB8AC3E}">
        <p14:creationId xmlns:p14="http://schemas.microsoft.com/office/powerpoint/2010/main" val="720306970"/>
      </p:ext>
    </p:extLst>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docProps/app.xml><?xml version="1.0" encoding="utf-8"?>
<Properties xmlns="http://schemas.openxmlformats.org/officeDocument/2006/extended-properties" xmlns:vt="http://schemas.openxmlformats.org/officeDocument/2006/docPropsVTypes">
  <Template/>
  <TotalTime>1848</TotalTime>
  <Words>3997</Words>
  <Application>Microsoft Macintosh PowerPoint</Application>
  <PresentationFormat>Widescreen</PresentationFormat>
  <Paragraphs>335</Paragraphs>
  <Slides>105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105</vt:i4>
      </vt:variant>
    </vt:vector>
  </HeadingPairs>
  <TitlesOfParts>
    <vt:vector size="109" baseType="lpstr">
      <vt:lpstr>Aptos</vt:lpstr>
      <vt:lpstr>Aptos Display</vt:lpstr>
      <vt:lpstr>Arial</vt:lpstr>
      <vt:lpstr>Office Theme</vt:lpstr>
      <vt:lpstr>Predictive Maintenance + MLOps</vt:lpstr>
      <vt:lpstr>Part 1: ML Foundations and Baseline System</vt:lpstr>
      <vt:lpstr>Phase 1.1: Project Framing and Problem Definition</vt:lpstr>
      <vt:lpstr>PowerPoint Presentation</vt:lpstr>
      <vt:lpstr>Phase 1.1: Project Framing and Problem Definition</vt:lpstr>
      <vt:lpstr>What problem is this project solving, and why did you frame it as remaining-useful-life regression rather than failure classification?</vt:lpstr>
      <vt:lpstr>What problem is this project solving, and why did you frame it as remaining-useful-life regression rather than failure classification?</vt:lpstr>
      <vt:lpstr>Phase 1.1: Project Framing and Problem Definition</vt:lpstr>
      <vt:lpstr>PowerPoint Presentation</vt:lpstr>
      <vt:lpstr>Phase 1.1: Project Framing and Problem Definition</vt:lpstr>
      <vt:lpstr>What does one row in the training data represent, and what information should the model be allowed to use when making a prediction?</vt:lpstr>
      <vt:lpstr>What does one row in the training data represent, and what information should the model be allowed to use when making a prediction?</vt:lpstr>
      <vt:lpstr>Phase 1.1: Project Framing and Problem Definition</vt:lpstr>
      <vt:lpstr>PowerPoint Presentation</vt:lpstr>
      <vt:lpstr>Phase 1.1: Project Framing and Problem Definition</vt:lpstr>
      <vt:lpstr>How could an RUL prediction support a real maintenance decision, and what are the consequences of overestimating versus underestimating RUL?</vt:lpstr>
      <vt:lpstr>How could an RUL prediction support a real maintenance decision, and what are the consequences of overestimating versus underestimating RUL?</vt:lpstr>
      <vt:lpstr>Phase 1.1: Project Framing and Problem Definition</vt:lpstr>
      <vt:lpstr>PowerPoint Presentation</vt:lpstr>
      <vt:lpstr>Phase 1.1: Project Framing and Problem Definition</vt:lpstr>
      <vt:lpstr>How did you define success for this project, both as a machine-learning system and as a portfolio project?</vt:lpstr>
      <vt:lpstr>How did you define success for this project, both as a machine-learning system and as a portfolio project?</vt:lpstr>
      <vt:lpstr>Phase 1.1: Project Framing and Problem Definition</vt:lpstr>
      <vt:lpstr>Phase 1.1: Project Framing and Problem Definition</vt:lpstr>
      <vt:lpstr>Phase 1.1: Project Framing and Problem Definition</vt:lpstr>
      <vt:lpstr>What assumptions does the FD001 project make, and why should the resulting model be treated as a prototype rather than a production-ready maintenance system?</vt:lpstr>
      <vt:lpstr>What assumptions does the FD001 project make, and why should the resulting model be treated as a prototype rather than a production-ready maintenance system?</vt:lpstr>
      <vt:lpstr>Part 1: ML Foundations and Baseline System</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Part 1: ML Foundations and Baseline System</vt:lpstr>
      <vt:lpstr>Phase 1.3: Baseline Data Pipeline and Feature Engineering</vt:lpstr>
      <vt:lpstr>Phase 1.3: Baseline Data Pipeline and Feature Engineering</vt:lpstr>
      <vt:lpstr>Phase 1.3: Baseline Data Pipeline and Feature Engineering</vt:lpstr>
      <vt:lpstr>Phase 1.3: Baseline Data Pipeline and Feature Engineering</vt:lpstr>
      <vt:lpstr>Phase 1.3: Baseline Data Pipeline and Feature Engineering</vt:lpstr>
      <vt:lpstr>Phase 1.3: Baseline Data Pipeline and Feature Engineering</vt:lpstr>
      <vt:lpstr>Part 1: ML Foundations and Baseline System</vt:lpstr>
      <vt:lpstr>Phase 1.4: Baseline Modeling and Evaluation</vt:lpstr>
      <vt:lpstr>Phase 1.4: Baseline Modeling and Evaluation</vt:lpstr>
      <vt:lpstr>Phase 1.4: Baseline Modeling and Evaluation</vt:lpstr>
      <vt:lpstr>Phase 1.4: Baseline Modeling and Evaluation</vt:lpstr>
      <vt:lpstr>Phase 1.4: Baseline Modeling and Evaluation</vt:lpstr>
      <vt:lpstr>Phase 1.4: Baseline Modeling and Evaluation</vt:lpstr>
      <vt:lpstr>Phase 1.4: Baseline Modeling and Evaluation</vt:lpstr>
      <vt:lpstr>Phase 1.4: Baseline Modeling and Evaluation</vt:lpstr>
      <vt:lpstr>Part 1: ML Foundations and Baseline System</vt:lpstr>
      <vt:lpstr>Phase 1.5: Experiment Tracking and Reproducibility</vt:lpstr>
      <vt:lpstr>Phase 1.5: Experiment Tracking and Reproducibility</vt:lpstr>
      <vt:lpstr>Phase 1.5: Experiment Tracking and Reproducibility</vt:lpstr>
      <vt:lpstr>Phase 1.5: Experiment Tracking and Reproducibility</vt:lpstr>
      <vt:lpstr>Part 2: Shippable MVP</vt:lpstr>
      <vt:lpstr>Phase 2.1: Inference Pipeline</vt:lpstr>
      <vt:lpstr>Phase 2.1: Inference Pipeline</vt:lpstr>
      <vt:lpstr>Phase 2.1: Inference Pipeline</vt:lpstr>
      <vt:lpstr>Phase 2.1: Inference Pipeline</vt:lpstr>
      <vt:lpstr>Part 2: Shippable MVP</vt:lpstr>
      <vt:lpstr>Phase 2.2: Model Serving</vt:lpstr>
      <vt:lpstr>Phase 2.2: Model Serving</vt:lpstr>
      <vt:lpstr>Phase 2.2: Model Serving</vt:lpstr>
      <vt:lpstr>Phase 2.2: Model Serving</vt:lpstr>
      <vt:lpstr>Part 2: Shippable MVP</vt:lpstr>
      <vt:lpstr>Phase 2.3: Containerization and Environment Management</vt:lpstr>
      <vt:lpstr>Phase 2.3: Containerization and Environment Management</vt:lpstr>
      <vt:lpstr>Part 2: Shippable MVP</vt:lpstr>
      <vt:lpstr>Phase 2.4: Automated Testing and CI</vt:lpstr>
      <vt:lpstr>Phase 2.4: Automated Testing and CI</vt:lpstr>
      <vt:lpstr>Phase 2.4: Automated Testing and CI</vt:lpstr>
      <vt:lpstr>Phase 2.4: Automated Testing and CI</vt:lpstr>
      <vt:lpstr>Part 2: Shippable MVP</vt:lpstr>
      <vt:lpstr>Phase 2.5: Minimal Demo Layer</vt:lpstr>
      <vt:lpstr>Phase 2.5: Minimal Demo Layer</vt:lpstr>
      <vt:lpstr>Part 3: Model Improvement and Production Thinking</vt:lpstr>
      <vt:lpstr>Phase 3.1: Advanced Modeling Experimentation</vt:lpstr>
      <vt:lpstr>Phase 3.1: Advanced Modeling Experimentation</vt:lpstr>
      <vt:lpstr>Phase 3.1: Advanced Modeling Experimentation</vt:lpstr>
      <vt:lpstr>Phase 3.1: Advanced Modeling Experimentation</vt:lpstr>
      <vt:lpstr>Part 3: Model Improvement and Production Thinking</vt:lpstr>
      <vt:lpstr>Phase 3.2: Model Selection, Versioning, and Promotion</vt:lpstr>
      <vt:lpstr>Phase 3.2: Model Selection, Versioning, and Promotion</vt:lpstr>
      <vt:lpstr>Part 3: Model Improvement and Production Thinking</vt:lpstr>
      <vt:lpstr>Phase 3.3: Monitoring and Logging</vt:lpstr>
      <vt:lpstr>Phase 3.3: Monitoring and Logging</vt:lpstr>
      <vt:lpstr>Phase 3.3: Monitoring and Logging</vt:lpstr>
      <vt:lpstr>Phase 3.3: Monitoring and Logging</vt:lpstr>
      <vt:lpstr>Part 3: Model Improvement and Production Thinking</vt:lpstr>
      <vt:lpstr>Phase 3.4: Retraining and Production Failure Modes</vt:lpstr>
      <vt:lpstr>Phase 3.4: Retraining and Production Failure Modes</vt:lpstr>
      <vt:lpstr>Part 4: Portfolio Presentation and Final Polish</vt:lpstr>
      <vt:lpstr>Part 4: Portfolio Presentation and Final Polish</vt:lpstr>
      <vt:lpstr>Part 4: Portfolio Presentation and Final Polish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Stuart Spackman</dc:creator>
  <cp:lastModifiedBy>Stuart Spackman</cp:lastModifiedBy>
  <cp:revision>5</cp:revision>
  <dcterms:created xsi:type="dcterms:W3CDTF">2026-07-27T20:06:09Z</dcterms:created>
  <dcterms:modified xsi:type="dcterms:W3CDTF">2026-08-11T21:42:23Z</dcterms:modified>
</cp:coreProperties>
</file>